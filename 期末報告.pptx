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4"/>
  </p:notesMasterIdLst>
  <p:sldIdLst>
    <p:sldId id="256" r:id="rId2"/>
    <p:sldId id="257" r:id="rId3"/>
    <p:sldId id="258" r:id="rId4"/>
    <p:sldId id="300" r:id="rId5"/>
    <p:sldId id="294" r:id="rId6"/>
    <p:sldId id="295" r:id="rId7"/>
    <p:sldId id="296" r:id="rId8"/>
    <p:sldId id="297" r:id="rId9"/>
    <p:sldId id="264" r:id="rId10"/>
    <p:sldId id="265" r:id="rId11"/>
    <p:sldId id="267" r:id="rId12"/>
    <p:sldId id="268" r:id="rId13"/>
    <p:sldId id="280" r:id="rId14"/>
    <p:sldId id="279" r:id="rId15"/>
    <p:sldId id="269" r:id="rId16"/>
    <p:sldId id="270" r:id="rId17"/>
    <p:sldId id="298" r:id="rId18"/>
    <p:sldId id="299" r:id="rId19"/>
    <p:sldId id="271" r:id="rId20"/>
    <p:sldId id="273" r:id="rId21"/>
    <p:sldId id="281" r:id="rId22"/>
    <p:sldId id="282" r:id="rId23"/>
    <p:sldId id="283" r:id="rId24"/>
    <p:sldId id="284" r:id="rId25"/>
    <p:sldId id="286" r:id="rId26"/>
    <p:sldId id="287" r:id="rId27"/>
    <p:sldId id="288" r:id="rId28"/>
    <p:sldId id="289" r:id="rId29"/>
    <p:sldId id="290" r:id="rId30"/>
    <p:sldId id="291" r:id="rId31"/>
    <p:sldId id="292" r:id="rId32"/>
    <p:sldId id="301" r:id="rId3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5" roundtripDataSignature="AMtx7mjdBPRbelE0b/UFkkB6rhtyzjGuhA=="/>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宸帆 李" initials="宸帆" lastIdx="0" clrIdx="0">
    <p:extLst>
      <p:ext uri="{19B8F6BF-5375-455C-9EA6-DF929625EA0E}">
        <p15:presenceInfo xmlns:p15="http://schemas.microsoft.com/office/powerpoint/2012/main" userId="57b79e92de0b7b98"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2FCF9FF-86DD-4F90-83C7-D16C962093AE}">
  <a:tblStyle styleId="{72FCF9FF-86DD-4F90-83C7-D16C962093AE}" styleName="Table_0">
    <a:wholeTbl>
      <a:tcTxStyle b="off" i="off">
        <a:font>
          <a:latin typeface="맑은 고딕"/>
          <a:ea typeface="맑은 고딕"/>
          <a:cs typeface="맑은 고딕"/>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b="off" i="off"/>
      <a:tcStyle>
        <a:tcBdr/>
        <a:fill>
          <a:solidFill>
            <a:srgbClr val="CDD4EA"/>
          </a:solidFill>
        </a:fill>
      </a:tcStyle>
    </a:band1H>
    <a:band2H>
      <a:tcTxStyle b="off" i="off"/>
      <a:tcStyle>
        <a:tcBdr/>
      </a:tcStyle>
    </a:band2H>
    <a:band1V>
      <a:tcTxStyle b="off" i="off"/>
      <a:tcStyle>
        <a:tcBdr/>
        <a:fill>
          <a:solidFill>
            <a:srgbClr val="CDD4EA"/>
          </a:solidFill>
        </a:fill>
      </a:tcStyle>
    </a:band1V>
    <a:band2V>
      <a:tcTxStyle b="off" i="off"/>
      <a:tcStyle>
        <a:tcBdr/>
      </a:tcStyle>
    </a:band2V>
    <a:lastCol>
      <a:tcTxStyle b="on" i="off">
        <a:font>
          <a:latin typeface="맑은 고딕"/>
          <a:ea typeface="맑은 고딕"/>
          <a:cs typeface="맑은 고딕"/>
        </a:font>
        <a:schemeClr val="lt1"/>
      </a:tcTxStyle>
      <a:tcStyle>
        <a:tcBdr/>
        <a:fill>
          <a:solidFill>
            <a:schemeClr val="accent1"/>
          </a:solidFill>
        </a:fill>
      </a:tcStyle>
    </a:lastCol>
    <a:firstCol>
      <a:tcTxStyle b="on" i="off">
        <a:font>
          <a:latin typeface="맑은 고딕"/>
          <a:ea typeface="맑은 고딕"/>
          <a:cs typeface="맑은 고딕"/>
        </a:font>
        <a:schemeClr val="lt1"/>
      </a:tcTxStyle>
      <a:tcStyle>
        <a:tcBdr/>
        <a:fill>
          <a:solidFill>
            <a:schemeClr val="accent1"/>
          </a:solidFill>
        </a:fill>
      </a:tcStyle>
    </a:firstCol>
    <a:lastRow>
      <a:tcTxStyle b="on" i="off">
        <a:font>
          <a:latin typeface="맑은 고딕"/>
          <a:ea typeface="맑은 고딕"/>
          <a:cs typeface="맑은 고딕"/>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맑은 고딕"/>
          <a:ea typeface="맑은 고딕"/>
          <a:cs typeface="맑은 고딕"/>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 styleId="{23EA8F4A-E16B-4139-BFD6-0EAB617C4CEA}"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B7AA1892-D2CA-41DE-9C15-957437B668F1}" styleName="Table_2">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698" autoAdjust="0"/>
    <p:restoredTop sz="94660"/>
  </p:normalViewPr>
  <p:slideViewPr>
    <p:cSldViewPr snapToGrid="0">
      <p:cViewPr varScale="1">
        <p:scale>
          <a:sx n="63" d="100"/>
          <a:sy n="63" d="100"/>
        </p:scale>
        <p:origin x="356"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66326742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939670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009536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 name="Google Shape;104;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578533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 name="Google Shape;104;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59271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8" name="Google Shape;188;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372465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8" name="Google Shape;188;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625051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8" name="Google Shape;188;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013291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8" name="Google Shape;188;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628041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6" name="Google Shape;17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848587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8" name="Google Shape;188;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972363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dbcf297a5f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2" name="Google Shape;212;gdbcf297a5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730541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d9279c01cd_0_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5" name="Google Shape;225;gd9279c01cd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118576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d9279c01cd_0_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5" name="Google Shape;225;gd9279c01cd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073104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gdbb904855f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74" name="Google Shape;374;gdbb904855f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781798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8" name="Google Shape;238;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643546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2" name="Google Shape;252;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855302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2" name="Google Shape;252;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085896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2" name="Google Shape;252;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247397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ded498c5cf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68" name="Google Shape;268;gded498c5c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259978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gd9279c01cd_0_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94" name="Google Shape;294;gd9279c01cd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911963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gd9279c01cd_0_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94" name="Google Shape;294;gd9279c01cd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201347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gd9279c01cd_0_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94" name="Google Shape;294;gd9279c01cd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544100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gd9279c01cd_0_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94" name="Google Shape;294;gd9279c01cd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314175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gd9279c01cd_0_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94" name="Google Shape;294;gd9279c01cd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3353271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8" name="Google Shape;188;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5669712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8" name="Google Shape;188;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7971627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8" name="Google Shape;188;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1186988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8" name="Google Shape;188;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2531343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8" name="Google Shape;188;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2392854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8" name="Google Shape;188;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8484625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8" name="Google Shape;188;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1144491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592406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제목 및 내용" type="obj">
  <p:cSld name="OBJECT">
    <p:spTree>
      <p:nvGrpSpPr>
        <p:cNvPr id="1" name="Shape 11"/>
        <p:cNvGrpSpPr/>
        <p:nvPr/>
      </p:nvGrpSpPr>
      <p:grpSpPr>
        <a:xfrm>
          <a:off x="0" y="0"/>
          <a:ext cx="0" cy="0"/>
          <a:chOff x="0" y="0"/>
          <a:chExt cx="0" cy="0"/>
        </a:xfrm>
      </p:grpSpPr>
      <p:sp>
        <p:nvSpPr>
          <p:cNvPr id="12" name="Google Shape;12;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1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 name="Google Shape;14;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제목 슬라이드" type="title">
  <p:cSld name="TITLE">
    <p:spTree>
      <p:nvGrpSpPr>
        <p:cNvPr id="1" name="Shape 17"/>
        <p:cNvGrpSpPr/>
        <p:nvPr/>
      </p:nvGrpSpPr>
      <p:grpSpPr>
        <a:xfrm>
          <a:off x="0" y="0"/>
          <a:ext cx="0" cy="0"/>
          <a:chOff x="0" y="0"/>
          <a:chExt cx="0" cy="0"/>
        </a:xfrm>
      </p:grpSpPr>
      <p:sp>
        <p:nvSpPr>
          <p:cNvPr id="18" name="Google Shape;18;p1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Malgun Gothic"/>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0" name="Google Shape;20;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구역 머리글" type="secHead">
  <p:cSld name="SECTION_HEADER">
    <p:spTree>
      <p:nvGrpSpPr>
        <p:cNvPr id="1" name="Shape 23"/>
        <p:cNvGrpSpPr/>
        <p:nvPr/>
      </p:nvGrpSpPr>
      <p:grpSpPr>
        <a:xfrm>
          <a:off x="0" y="0"/>
          <a:ext cx="0" cy="0"/>
          <a:chOff x="0" y="0"/>
          <a:chExt cx="0" cy="0"/>
        </a:xfrm>
      </p:grpSpPr>
      <p:sp>
        <p:nvSpPr>
          <p:cNvPr id="24" name="Google Shape;24;p1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Malgun Gothic"/>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1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콘텐츠 2개" type="twoObj">
  <p:cSld name="TWO_OBJECTS">
    <p:spTree>
      <p:nvGrpSpPr>
        <p:cNvPr id="1" name="Shape 29"/>
        <p:cNvGrpSpPr/>
        <p:nvPr/>
      </p:nvGrpSpPr>
      <p:grpSpPr>
        <a:xfrm>
          <a:off x="0" y="0"/>
          <a:ext cx="0" cy="0"/>
          <a:chOff x="0" y="0"/>
          <a:chExt cx="0" cy="0"/>
        </a:xfrm>
      </p:grpSpPr>
      <p:sp>
        <p:nvSpPr>
          <p:cNvPr id="30" name="Google Shape;30;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1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비교" type="twoTxTwoObj">
  <p:cSld name="TWO_OBJECTS_WITH_TEXT">
    <p:spTree>
      <p:nvGrpSpPr>
        <p:cNvPr id="1" name="Shape 36"/>
        <p:cNvGrpSpPr/>
        <p:nvPr/>
      </p:nvGrpSpPr>
      <p:grpSpPr>
        <a:xfrm>
          <a:off x="0" y="0"/>
          <a:ext cx="0" cy="0"/>
          <a:chOff x="0" y="0"/>
          <a:chExt cx="0" cy="0"/>
        </a:xfrm>
      </p:grpSpPr>
      <p:sp>
        <p:nvSpPr>
          <p:cNvPr id="37" name="Google Shape;37;p1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1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1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1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제목만" type="titleOnly">
  <p:cSld name="TITLE_ONLY">
    <p:spTree>
      <p:nvGrpSpPr>
        <p:cNvPr id="1" name="Shape 45"/>
        <p:cNvGrpSpPr/>
        <p:nvPr/>
      </p:nvGrpSpPr>
      <p:grpSpPr>
        <a:xfrm>
          <a:off x="0" y="0"/>
          <a:ext cx="0" cy="0"/>
          <a:chOff x="0" y="0"/>
          <a:chExt cx="0" cy="0"/>
        </a:xfrm>
      </p:grpSpPr>
      <p:sp>
        <p:nvSpPr>
          <p:cNvPr id="46" name="Google Shape;46;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캡션 있는 콘텐츠" type="objTx">
  <p:cSld name="OBJECT_WITH_CAPTION_TEXT">
    <p:spTree>
      <p:nvGrpSpPr>
        <p:cNvPr id="1" name="Shape 54"/>
        <p:cNvGrpSpPr/>
        <p:nvPr/>
      </p:nvGrpSpPr>
      <p:grpSpPr>
        <a:xfrm>
          <a:off x="0" y="0"/>
          <a:ext cx="0" cy="0"/>
          <a:chOff x="0" y="0"/>
          <a:chExt cx="0" cy="0"/>
        </a:xfrm>
      </p:grpSpPr>
      <p:sp>
        <p:nvSpPr>
          <p:cNvPr id="55" name="Google Shape;55;p1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Malgun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1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캡션 있는 그림" type="picTx">
  <p:cSld name="PICTURE_WITH_CAPTION_TEXT">
    <p:spTree>
      <p:nvGrpSpPr>
        <p:cNvPr id="1" name="Shape 61"/>
        <p:cNvGrpSpPr/>
        <p:nvPr/>
      </p:nvGrpSpPr>
      <p:grpSpPr>
        <a:xfrm>
          <a:off x="0" y="0"/>
          <a:ext cx="0" cy="0"/>
          <a:chOff x="0" y="0"/>
          <a:chExt cx="0" cy="0"/>
        </a:xfrm>
      </p:grpSpPr>
      <p:sp>
        <p:nvSpPr>
          <p:cNvPr id="62" name="Google Shape;62;p2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Malgun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0"/>
          <p:cNvSpPr>
            <a:spLocks noGrp="1"/>
          </p:cNvSpPr>
          <p:nvPr>
            <p:ph type="pic" idx="2"/>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Malgun Gothic"/>
                <a:ea typeface="Malgun Gothic"/>
                <a:cs typeface="Malgun Gothic"/>
                <a:sym typeface="Malgun Gothic"/>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Malgun Gothic"/>
                <a:ea typeface="Malgun Gothic"/>
                <a:cs typeface="Malgun Gothic"/>
                <a:sym typeface="Malgun Gothic"/>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Malgun Gothic"/>
                <a:ea typeface="Malgun Gothic"/>
                <a:cs typeface="Malgun Gothic"/>
                <a:sym typeface="Malgun Gothic"/>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Malgun Gothic"/>
                <a:ea typeface="Malgun Gothic"/>
                <a:cs typeface="Malgun Gothic"/>
                <a:sym typeface="Malgun Gothic"/>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Malgun Gothic"/>
                <a:ea typeface="Malgun Gothic"/>
                <a:cs typeface="Malgun Gothic"/>
                <a:sym typeface="Malgun Gothic"/>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Malgun Gothic"/>
                <a:ea typeface="Malgun Gothic"/>
                <a:cs typeface="Malgun Gothic"/>
                <a:sym typeface="Malgun Gothic"/>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Malgun Gothic"/>
                <a:ea typeface="Malgun Gothic"/>
                <a:cs typeface="Malgun Gothic"/>
                <a:sym typeface="Malgun Gothic"/>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Malgun Gothic"/>
                <a:ea typeface="Malgun Gothic"/>
                <a:cs typeface="Malgun Gothic"/>
                <a:sym typeface="Malgun Gothic"/>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Malgun Gothic"/>
                <a:ea typeface="Malgun Gothic"/>
                <a:cs typeface="Malgun Gothic"/>
                <a:sym typeface="Malgun Gothic"/>
              </a:defRPr>
            </a:lvl9pPr>
          </a:lstStyle>
          <a:p>
            <a:endParaRPr/>
          </a:p>
        </p:txBody>
      </p:sp>
      <p:sp>
        <p:nvSpPr>
          <p:cNvPr id="64" name="Google Shape;64;p2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제목 및 세로 텍스트" type="vertTx">
  <p:cSld name="VERTICAL_TEXT">
    <p:spTree>
      <p:nvGrpSpPr>
        <p:cNvPr id="1" name="Shape 68"/>
        <p:cNvGrpSpPr/>
        <p:nvPr/>
      </p:nvGrpSpPr>
      <p:grpSpPr>
        <a:xfrm>
          <a:off x="0" y="0"/>
          <a:ext cx="0" cy="0"/>
          <a:chOff x="0" y="0"/>
          <a:chExt cx="0" cy="0"/>
        </a:xfrm>
      </p:grpSpPr>
      <p:sp>
        <p:nvSpPr>
          <p:cNvPr id="69" name="Google Shape;69;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세로 제목 및 텍스트" type="vertTitleAndTx">
  <p:cSld name="VERTICAL_TITLE_AND_VERTICAL_TEXT">
    <p:spTree>
      <p:nvGrpSpPr>
        <p:cNvPr id="1" name="Shape 74"/>
        <p:cNvGrpSpPr/>
        <p:nvPr/>
      </p:nvGrpSpPr>
      <p:grpSpPr>
        <a:xfrm>
          <a:off x="0" y="0"/>
          <a:ext cx="0" cy="0"/>
          <a:chOff x="0" y="0"/>
          <a:chExt cx="0" cy="0"/>
        </a:xfrm>
      </p:grpSpPr>
      <p:sp>
        <p:nvSpPr>
          <p:cNvPr id="75" name="Google Shape;75;p2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Malgun Gothic"/>
              <a:buNone/>
              <a:defRPr sz="4400" b="0" i="0" u="none" strike="noStrike" cap="none">
                <a:solidFill>
                  <a:schemeClr val="dk1"/>
                </a:solidFill>
                <a:latin typeface="Malgun Gothic"/>
                <a:ea typeface="Malgun Gothic"/>
                <a:cs typeface="Malgun Gothic"/>
                <a:sym typeface="Malgun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Malgun Gothic"/>
                <a:ea typeface="Malgun Gothic"/>
                <a:cs typeface="Malgun Gothic"/>
                <a:sym typeface="Malgun Gothic"/>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Malgun Gothic"/>
                <a:ea typeface="Malgun Gothic"/>
                <a:cs typeface="Malgun Gothic"/>
                <a:sym typeface="Malgun Gothic"/>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Malgun Gothic"/>
                <a:ea typeface="Malgun Gothic"/>
                <a:cs typeface="Malgun Gothic"/>
                <a:sym typeface="Malgun Gothic"/>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algun Gothic"/>
                <a:ea typeface="Malgun Gothic"/>
                <a:cs typeface="Malgun Gothic"/>
                <a:sym typeface="Malgun Gothic"/>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algun Gothic"/>
                <a:ea typeface="Malgun Gothic"/>
                <a:cs typeface="Malgun Gothic"/>
                <a:sym typeface="Malgun Gothic"/>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algun Gothic"/>
                <a:ea typeface="Malgun Gothic"/>
                <a:cs typeface="Malgun Gothic"/>
                <a:sym typeface="Malgun Gothic"/>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algun Gothic"/>
                <a:ea typeface="Malgun Gothic"/>
                <a:cs typeface="Malgun Gothic"/>
                <a:sym typeface="Malgun Gothic"/>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algun Gothic"/>
                <a:ea typeface="Malgun Gothic"/>
                <a:cs typeface="Malgun Gothic"/>
                <a:sym typeface="Malgun Gothic"/>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algun Gothic"/>
                <a:ea typeface="Malgun Gothic"/>
                <a:cs typeface="Malgun Gothic"/>
                <a:sym typeface="Malgun Gothic"/>
              </a:defRPr>
            </a:lvl9pPr>
          </a:lstStyle>
          <a:p>
            <a:endParaRPr/>
          </a:p>
        </p:txBody>
      </p:sp>
      <p:sp>
        <p:nvSpPr>
          <p:cNvPr id="8" name="Google Shape;8;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Malgun Gothic"/>
                <a:ea typeface="Malgun Gothic"/>
                <a:cs typeface="Malgun Gothic"/>
                <a:sym typeface="Malgun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algun Gothic"/>
                <a:ea typeface="Malgun Gothic"/>
                <a:cs typeface="Malgun Gothic"/>
                <a:sym typeface="Malgun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algun Gothic"/>
                <a:ea typeface="Malgun Gothic"/>
                <a:cs typeface="Malgun Gothic"/>
                <a:sym typeface="Malgun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algun Gothic"/>
                <a:ea typeface="Malgun Gothic"/>
                <a:cs typeface="Malgun Gothic"/>
                <a:sym typeface="Malgun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algun Gothic"/>
                <a:ea typeface="Malgun Gothic"/>
                <a:cs typeface="Malgun Gothic"/>
                <a:sym typeface="Malgun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algun Gothic"/>
                <a:ea typeface="Malgun Gothic"/>
                <a:cs typeface="Malgun Gothic"/>
                <a:sym typeface="Malgun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algun Gothic"/>
                <a:ea typeface="Malgun Gothic"/>
                <a:cs typeface="Malgun Gothic"/>
                <a:sym typeface="Malgun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algun Gothic"/>
                <a:ea typeface="Malgun Gothic"/>
                <a:cs typeface="Malgun Gothic"/>
                <a:sym typeface="Malgun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algun Gothic"/>
                <a:ea typeface="Malgun Gothic"/>
                <a:cs typeface="Malgun Gothic"/>
                <a:sym typeface="Malgun Gothic"/>
              </a:defRPr>
            </a:lvl9pPr>
          </a:lstStyle>
          <a:p>
            <a:endParaRPr/>
          </a:p>
        </p:txBody>
      </p:sp>
      <p:sp>
        <p:nvSpPr>
          <p:cNvPr id="9" name="Google Shape;9;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Malgun Gothic"/>
                <a:ea typeface="Malgun Gothic"/>
                <a:cs typeface="Malgun Gothic"/>
                <a:sym typeface="Malgun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algun Gothic"/>
                <a:ea typeface="Malgun Gothic"/>
                <a:cs typeface="Malgun Gothic"/>
                <a:sym typeface="Malgun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algun Gothic"/>
                <a:ea typeface="Malgun Gothic"/>
                <a:cs typeface="Malgun Gothic"/>
                <a:sym typeface="Malgun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algun Gothic"/>
                <a:ea typeface="Malgun Gothic"/>
                <a:cs typeface="Malgun Gothic"/>
                <a:sym typeface="Malgun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algun Gothic"/>
                <a:ea typeface="Malgun Gothic"/>
                <a:cs typeface="Malgun Gothic"/>
                <a:sym typeface="Malgun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algun Gothic"/>
                <a:ea typeface="Malgun Gothic"/>
                <a:cs typeface="Malgun Gothic"/>
                <a:sym typeface="Malgun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algun Gothic"/>
                <a:ea typeface="Malgun Gothic"/>
                <a:cs typeface="Malgun Gothic"/>
                <a:sym typeface="Malgun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algun Gothic"/>
                <a:ea typeface="Malgun Gothic"/>
                <a:cs typeface="Malgun Gothic"/>
                <a:sym typeface="Malgun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algun Gothic"/>
                <a:ea typeface="Malgun Gothic"/>
                <a:cs typeface="Malgun Gothic"/>
                <a:sym typeface="Malgun Gothic"/>
              </a:defRPr>
            </a:lvl9pPr>
          </a:lstStyle>
          <a:p>
            <a:endParaRPr/>
          </a:p>
        </p:txBody>
      </p:sp>
      <p:sp>
        <p:nvSpPr>
          <p:cNvPr id="10" name="Google Shape;10;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9pPr>
          </a:lstStyle>
          <a:p>
            <a:pPr marL="0" lvl="0" indent="0" algn="r" rtl="0">
              <a:spcBef>
                <a:spcPts val="0"/>
              </a:spcBef>
              <a:spcAft>
                <a:spcPts val="0"/>
              </a:spcAft>
              <a:buNone/>
            </a:pPr>
            <a:fld id="{00000000-1234-1234-1234-123412341234}" type="slidenum">
              <a:rPr lang="zh-TW"/>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p:nvPr/>
        </p:nvSpPr>
        <p:spPr>
          <a:xfrm>
            <a:off x="2235200" y="2535382"/>
            <a:ext cx="3194050" cy="1096818"/>
          </a:xfrm>
          <a:prstGeom prst="parallelogram">
            <a:avLst>
              <a:gd name="adj" fmla="val 69898"/>
            </a:avLst>
          </a:prstGeom>
          <a:solidFill>
            <a:srgbClr val="21BFCA"/>
          </a:solidFill>
          <a:ln w="161925" cap="sq" cmpd="sng">
            <a:solidFill>
              <a:srgbClr val="249FA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85" name="Google Shape;85;p1"/>
          <p:cNvSpPr/>
          <p:nvPr/>
        </p:nvSpPr>
        <p:spPr>
          <a:xfrm>
            <a:off x="2089150" y="2535382"/>
            <a:ext cx="3194050" cy="1096818"/>
          </a:xfrm>
          <a:prstGeom prst="parallelogram">
            <a:avLst>
              <a:gd name="adj" fmla="val 69898"/>
            </a:avLst>
          </a:prstGeom>
          <a:solidFill>
            <a:srgbClr val="21BFCA"/>
          </a:solidFill>
          <a:ln w="161925" cap="sq" cmpd="sng">
            <a:solidFill>
              <a:srgbClr val="21BFC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86" name="Google Shape;86;p1"/>
          <p:cNvSpPr/>
          <p:nvPr/>
        </p:nvSpPr>
        <p:spPr>
          <a:xfrm>
            <a:off x="76200" y="2535382"/>
            <a:ext cx="3784600" cy="1096818"/>
          </a:xfrm>
          <a:prstGeom prst="parallelogram">
            <a:avLst>
              <a:gd name="adj" fmla="val 0"/>
            </a:avLst>
          </a:prstGeom>
          <a:solidFill>
            <a:srgbClr val="21BFCA"/>
          </a:solidFill>
          <a:ln w="161925" cap="sq" cmpd="sng">
            <a:solidFill>
              <a:srgbClr val="21BFC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87" name="Google Shape;87;p1"/>
          <p:cNvSpPr/>
          <p:nvPr/>
        </p:nvSpPr>
        <p:spPr>
          <a:xfrm>
            <a:off x="6605155" y="2572039"/>
            <a:ext cx="3194050" cy="1096818"/>
          </a:xfrm>
          <a:prstGeom prst="parallelogram">
            <a:avLst>
              <a:gd name="adj" fmla="val 69898"/>
            </a:avLst>
          </a:prstGeom>
          <a:solidFill>
            <a:srgbClr val="21BFCA"/>
          </a:solidFill>
          <a:ln w="161925" cap="sq" cmpd="sng">
            <a:solidFill>
              <a:srgbClr val="26262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88" name="Google Shape;88;p1"/>
          <p:cNvSpPr/>
          <p:nvPr/>
        </p:nvSpPr>
        <p:spPr>
          <a:xfrm>
            <a:off x="6736772" y="2572039"/>
            <a:ext cx="3194050" cy="1096818"/>
          </a:xfrm>
          <a:prstGeom prst="parallelogram">
            <a:avLst>
              <a:gd name="adj" fmla="val 69898"/>
            </a:avLst>
          </a:prstGeom>
          <a:solidFill>
            <a:srgbClr val="3F3F3F"/>
          </a:solidFill>
          <a:ln w="161925" cap="sq" cmpd="sng">
            <a:solidFill>
              <a:srgbClr val="3F3F3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89" name="Google Shape;89;p1"/>
          <p:cNvSpPr/>
          <p:nvPr/>
        </p:nvSpPr>
        <p:spPr>
          <a:xfrm>
            <a:off x="8839200" y="2572039"/>
            <a:ext cx="3260724" cy="1096818"/>
          </a:xfrm>
          <a:prstGeom prst="parallelogram">
            <a:avLst>
              <a:gd name="adj" fmla="val 0"/>
            </a:avLst>
          </a:prstGeom>
          <a:solidFill>
            <a:srgbClr val="3F3F3F"/>
          </a:solidFill>
          <a:ln w="161925" cap="sq" cmpd="sng">
            <a:solidFill>
              <a:srgbClr val="3F3F3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90" name="Google Shape;90;p1"/>
          <p:cNvSpPr/>
          <p:nvPr/>
        </p:nvSpPr>
        <p:spPr>
          <a:xfrm>
            <a:off x="221961" y="2754021"/>
            <a:ext cx="4350039" cy="659540"/>
          </a:xfrm>
          <a:prstGeom prst="rect">
            <a:avLst/>
          </a:prstGeom>
          <a:noFill/>
          <a:ln>
            <a:noFill/>
          </a:ln>
        </p:spPr>
        <p:txBody>
          <a:bodyPr spcFirstLastPara="1" wrap="square" lIns="91425" tIns="45700" rIns="91425" bIns="45700" anchor="t" anchorCtr="0">
            <a:spAutoFit/>
          </a:bodyPr>
          <a:lstStyle/>
          <a:p>
            <a:pPr marL="0" marR="0" lvl="0" indent="0" algn="ctr" rtl="0">
              <a:lnSpc>
                <a:spcPct val="150000"/>
              </a:lnSpc>
              <a:spcBef>
                <a:spcPts val="0"/>
              </a:spcBef>
              <a:spcAft>
                <a:spcPts val="0"/>
              </a:spcAft>
              <a:buClr>
                <a:srgbClr val="000000"/>
              </a:buClr>
              <a:buSzPts val="2800"/>
              <a:buFont typeface="Arial"/>
              <a:buNone/>
            </a:pPr>
            <a:r>
              <a:rPr lang="zh-TW" sz="2800" b="0" i="0" u="none" strike="noStrike" cap="none" dirty="0">
                <a:solidFill>
                  <a:srgbClr val="FFFFFF"/>
                </a:solidFill>
                <a:latin typeface="Microsoft JhengHei"/>
                <a:ea typeface="Microsoft JhengHei"/>
                <a:cs typeface="Microsoft JhengHei"/>
                <a:sym typeface="Microsoft JhengHei"/>
              </a:rPr>
              <a:t>保險業務員舞弊風險分析</a:t>
            </a:r>
            <a:endParaRPr sz="2800" b="0" i="0" u="none" strike="noStrike" cap="none" dirty="0">
              <a:solidFill>
                <a:srgbClr val="FFFFFF"/>
              </a:solidFill>
              <a:latin typeface="Microsoft JhengHei"/>
              <a:ea typeface="Microsoft JhengHei"/>
              <a:cs typeface="Microsoft JhengHei"/>
              <a:sym typeface="Microsoft JhengHei"/>
            </a:endParaRPr>
          </a:p>
        </p:txBody>
      </p:sp>
      <p:sp>
        <p:nvSpPr>
          <p:cNvPr id="2" name="文字方塊 1"/>
          <p:cNvSpPr txBox="1"/>
          <p:nvPr/>
        </p:nvSpPr>
        <p:spPr>
          <a:xfrm>
            <a:off x="301625" y="3965139"/>
            <a:ext cx="4981575" cy="1938992"/>
          </a:xfrm>
          <a:prstGeom prst="rect">
            <a:avLst/>
          </a:prstGeom>
          <a:noFill/>
        </p:spPr>
        <p:txBody>
          <a:bodyPr wrap="square" rtlCol="0">
            <a:spAutoFit/>
          </a:bodyPr>
          <a:lstStyle/>
          <a:p>
            <a:r>
              <a:rPr lang="zh-TW" altLang="en-US" sz="2400" dirty="0">
                <a:latin typeface="微軟正黑體" panose="020B0604030504040204" pitchFamily="34" charset="-120"/>
                <a:ea typeface="微軟正黑體" panose="020B0604030504040204" pitchFamily="34" charset="-120"/>
              </a:rPr>
              <a:t>臺灣大學 許哲榮</a:t>
            </a:r>
            <a:endParaRPr lang="en-US" altLang="zh-TW" sz="2400" dirty="0">
              <a:latin typeface="微軟正黑體" panose="020B0604030504040204" pitchFamily="34" charset="-120"/>
              <a:ea typeface="微軟正黑體" panose="020B0604030504040204" pitchFamily="34" charset="-120"/>
            </a:endParaRPr>
          </a:p>
          <a:p>
            <a:r>
              <a:rPr lang="zh-TW" altLang="en-US" sz="2400" dirty="0">
                <a:latin typeface="微軟正黑體" panose="020B0604030504040204" pitchFamily="34" charset="-120"/>
                <a:ea typeface="微軟正黑體" panose="020B0604030504040204" pitchFamily="34" charset="-120"/>
              </a:rPr>
              <a:t>臺灣大學 李宸帆</a:t>
            </a:r>
            <a:endParaRPr lang="en-US" altLang="zh-TW" sz="2400" dirty="0">
              <a:latin typeface="微軟正黑體" panose="020B0604030504040204" pitchFamily="34" charset="-120"/>
              <a:ea typeface="微軟正黑體" panose="020B0604030504040204" pitchFamily="34" charset="-120"/>
            </a:endParaRPr>
          </a:p>
          <a:p>
            <a:r>
              <a:rPr lang="zh-TW" altLang="en-US" sz="2400" dirty="0">
                <a:latin typeface="微軟正黑體" panose="020B0604030504040204" pitchFamily="34" charset="-120"/>
                <a:ea typeface="微軟正黑體" panose="020B0604030504040204" pitchFamily="34" charset="-120"/>
              </a:rPr>
              <a:t>東吳大學 陸珮甄</a:t>
            </a:r>
            <a:endParaRPr lang="en-US" altLang="zh-TW" sz="2400" dirty="0">
              <a:latin typeface="微軟正黑體" panose="020B0604030504040204" pitchFamily="34" charset="-120"/>
              <a:ea typeface="微軟正黑體" panose="020B0604030504040204" pitchFamily="34" charset="-120"/>
            </a:endParaRPr>
          </a:p>
          <a:p>
            <a:r>
              <a:rPr lang="zh-TW" altLang="en-US" sz="2400" dirty="0">
                <a:latin typeface="微軟正黑體" panose="020B0604030504040204" pitchFamily="34" charset="-120"/>
                <a:ea typeface="微軟正黑體" panose="020B0604030504040204" pitchFamily="34" charset="-120"/>
              </a:rPr>
              <a:t>東吳大學 楊永浚</a:t>
            </a:r>
            <a:endParaRPr lang="en-US" altLang="zh-TW" sz="2400" dirty="0">
              <a:latin typeface="微軟正黑體" panose="020B0604030504040204" pitchFamily="34" charset="-120"/>
              <a:ea typeface="微軟正黑體" panose="020B0604030504040204" pitchFamily="34" charset="-120"/>
            </a:endParaRPr>
          </a:p>
          <a:p>
            <a:r>
              <a:rPr lang="zh-TW" altLang="en-US" sz="2400" dirty="0">
                <a:latin typeface="微軟正黑體" panose="020B0604030504040204" pitchFamily="34" charset="-120"/>
                <a:ea typeface="微軟正黑體" panose="020B0604030504040204" pitchFamily="34" charset="-120"/>
              </a:rPr>
              <a:t>東吳大學 溫偉成</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2"/>
          <p:cNvSpPr/>
          <p:nvPr/>
        </p:nvSpPr>
        <p:spPr>
          <a:xfrm>
            <a:off x="1848142" y="329912"/>
            <a:ext cx="3194050" cy="387350"/>
          </a:xfrm>
          <a:prstGeom prst="parallelogram">
            <a:avLst>
              <a:gd name="adj" fmla="val 69898"/>
            </a:avLst>
          </a:prstGeom>
          <a:solidFill>
            <a:srgbClr val="21BFCA"/>
          </a:solidFill>
          <a:ln w="161925" cap="sq" cmpd="sng">
            <a:solidFill>
              <a:srgbClr val="1E868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96" name="Google Shape;96;p2"/>
          <p:cNvSpPr/>
          <p:nvPr/>
        </p:nvSpPr>
        <p:spPr>
          <a:xfrm>
            <a:off x="1833992" y="329256"/>
            <a:ext cx="3194050" cy="387350"/>
          </a:xfrm>
          <a:prstGeom prst="parallelogram">
            <a:avLst>
              <a:gd name="adj" fmla="val 69898"/>
            </a:avLst>
          </a:prstGeom>
          <a:solidFill>
            <a:srgbClr val="21BFCA"/>
          </a:solidFill>
          <a:ln w="161925" cap="sq" cmpd="sng">
            <a:solidFill>
              <a:srgbClr val="21BFC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97" name="Google Shape;97;p2"/>
          <p:cNvSpPr/>
          <p:nvPr/>
        </p:nvSpPr>
        <p:spPr>
          <a:xfrm>
            <a:off x="4581237" y="329912"/>
            <a:ext cx="7525038" cy="387350"/>
          </a:xfrm>
          <a:prstGeom prst="parallelogram">
            <a:avLst>
              <a:gd name="adj" fmla="val 0"/>
            </a:avLst>
          </a:prstGeom>
          <a:solidFill>
            <a:srgbClr val="21BFCA"/>
          </a:solidFill>
          <a:ln w="161925" cap="sq" cmpd="sng">
            <a:solidFill>
              <a:srgbClr val="21BFC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cxnSp>
        <p:nvCxnSpPr>
          <p:cNvPr id="99" name="Google Shape;99;p2"/>
          <p:cNvCxnSpPr/>
          <p:nvPr/>
        </p:nvCxnSpPr>
        <p:spPr>
          <a:xfrm>
            <a:off x="157389" y="1269734"/>
            <a:ext cx="1224000" cy="0"/>
          </a:xfrm>
          <a:prstGeom prst="straightConnector1">
            <a:avLst/>
          </a:prstGeom>
          <a:noFill/>
          <a:ln w="15875" cap="rnd" cmpd="sng">
            <a:solidFill>
              <a:srgbClr val="21BFCA"/>
            </a:solidFill>
            <a:prstDash val="solid"/>
            <a:round/>
            <a:headEnd type="none" w="sm" len="sm"/>
            <a:tailEnd type="none" w="sm" len="sm"/>
          </a:ln>
        </p:spPr>
      </p:cxnSp>
      <p:graphicFrame>
        <p:nvGraphicFramePr>
          <p:cNvPr id="100" name="Google Shape;100;p2"/>
          <p:cNvGraphicFramePr/>
          <p:nvPr>
            <p:extLst>
              <p:ext uri="{D42A27DB-BD31-4B8C-83A1-F6EECF244321}">
                <p14:modId xmlns:p14="http://schemas.microsoft.com/office/powerpoint/2010/main" val="4193892815"/>
              </p:ext>
            </p:extLst>
          </p:nvPr>
        </p:nvGraphicFramePr>
        <p:xfrm>
          <a:off x="298393" y="6487160"/>
          <a:ext cx="11096375" cy="371930"/>
        </p:xfrm>
        <a:graphic>
          <a:graphicData uri="http://schemas.openxmlformats.org/drawingml/2006/table">
            <a:tbl>
              <a:tblPr firstRow="1" bandRow="1">
                <a:noFill/>
                <a:tableStyleId>{72FCF9FF-86DD-4F90-83C7-D16C962093AE}</a:tableStyleId>
              </a:tblPr>
              <a:tblGrid>
                <a:gridCol w="11096375">
                  <a:extLst>
                    <a:ext uri="{9D8B030D-6E8A-4147-A177-3AD203B41FA5}">
                      <a16:colId xmlns:a16="http://schemas.microsoft.com/office/drawing/2014/main" val="20000"/>
                    </a:ext>
                  </a:extLst>
                </a:gridCol>
              </a:tblGrid>
              <a:tr h="370850">
                <a:tc>
                  <a:txBody>
                    <a:bodyPr/>
                    <a:lstStyle/>
                    <a:p>
                      <a:pPr marL="0" marR="0" lvl="0" indent="0" algn="ctr" rtl="0">
                        <a:lnSpc>
                          <a:spcPct val="150000"/>
                        </a:lnSpc>
                        <a:spcBef>
                          <a:spcPts val="0"/>
                        </a:spcBef>
                        <a:spcAft>
                          <a:spcPts val="0"/>
                        </a:spcAft>
                        <a:buClr>
                          <a:srgbClr val="BFBFBF"/>
                        </a:buClr>
                        <a:buSzPts val="700"/>
                        <a:buFont typeface="Malgun Gothic"/>
                        <a:buNone/>
                      </a:pPr>
                      <a:r>
                        <a:rPr lang="en-US" altLang="zh-TW" sz="1400" b="0" i="0" u="none" strike="noStrike" cap="none" dirty="0">
                          <a:solidFill>
                            <a:schemeClr val="bg1"/>
                          </a:solidFill>
                          <a:latin typeface="Cambria Math" panose="02040503050406030204" pitchFamily="18" charset="0"/>
                          <a:ea typeface="Cambria Math" panose="02040503050406030204" pitchFamily="18" charset="0"/>
                          <a:cs typeface="Times New Roman" panose="02020603050405020304" pitchFamily="18" charset="0"/>
                          <a:sym typeface="Malgun Gothic"/>
                        </a:rPr>
                        <a:t> 1</a:t>
                      </a:r>
                      <a:endParaRPr sz="1400" b="0" i="0" u="none" strike="noStrike" cap="none" dirty="0">
                        <a:solidFill>
                          <a:schemeClr val="bg1"/>
                        </a:solidFill>
                        <a:latin typeface="Cambria Math" panose="02040503050406030204" pitchFamily="18" charset="0"/>
                        <a:ea typeface="Cambria Math" panose="02040503050406030204" pitchFamily="18" charset="0"/>
                        <a:cs typeface="Times New Roman" panose="02020603050405020304" pitchFamily="18" charset="0"/>
                        <a:sym typeface="Malgun Gothic"/>
                      </a:endParaRPr>
                    </a:p>
                  </a:txBody>
                  <a:tcPr marL="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101" name="Google Shape;101;p2"/>
          <p:cNvSpPr/>
          <p:nvPr/>
        </p:nvSpPr>
        <p:spPr>
          <a:xfrm>
            <a:off x="320518" y="817594"/>
            <a:ext cx="1222796" cy="523180"/>
          </a:xfrm>
          <a:prstGeom prst="rect">
            <a:avLst/>
          </a:prstGeom>
          <a:noFill/>
          <a:ln>
            <a:noFill/>
          </a:ln>
        </p:spPr>
        <p:txBody>
          <a:bodyPr spcFirstLastPara="1" wrap="square" lIns="91425" tIns="45700" rIns="91425" bIns="45700" anchor="t" anchorCtr="0">
            <a:spAutoFit/>
          </a:bodyPr>
          <a:lstStyle/>
          <a:p>
            <a:pPr lvl="0">
              <a:buSzPts val="2800"/>
            </a:pPr>
            <a:r>
              <a:rPr lang="zh-TW" altLang="en-US" sz="2800" b="1" dirty="0">
                <a:solidFill>
                  <a:srgbClr val="00B0F0"/>
                </a:solidFill>
                <a:latin typeface="Microsoft JhengHei"/>
                <a:ea typeface="Microsoft JhengHei"/>
                <a:cs typeface="Microsoft JhengHei"/>
                <a:sym typeface="Microsoft JhengHei"/>
              </a:rPr>
              <a:t>目錄</a:t>
            </a:r>
          </a:p>
        </p:txBody>
      </p:sp>
      <p:sp>
        <p:nvSpPr>
          <p:cNvPr id="9" name="Google Shape;220;gdbcf297a5f_0_0"/>
          <p:cNvSpPr txBox="1"/>
          <p:nvPr/>
        </p:nvSpPr>
        <p:spPr>
          <a:xfrm>
            <a:off x="1381389" y="1269734"/>
            <a:ext cx="10153500" cy="4062620"/>
          </a:xfrm>
          <a:prstGeom prst="rect">
            <a:avLst/>
          </a:prstGeom>
          <a:noFill/>
          <a:ln>
            <a:noFill/>
          </a:ln>
        </p:spPr>
        <p:txBody>
          <a:bodyPr spcFirstLastPara="1" wrap="square" lIns="91425" tIns="91425" rIns="91425" bIns="91425" anchor="t" anchorCtr="0">
            <a:spAutoFit/>
          </a:bodyPr>
          <a:lstStyle/>
          <a:p>
            <a:pPr marL="101600" marR="0" lvl="0" algn="l" rtl="0">
              <a:lnSpc>
                <a:spcPct val="175000"/>
              </a:lnSpc>
              <a:spcBef>
                <a:spcPts val="0"/>
              </a:spcBef>
              <a:spcAft>
                <a:spcPts val="0"/>
              </a:spcAft>
              <a:buClr>
                <a:srgbClr val="1E4E79"/>
              </a:buClr>
              <a:buSzPts val="2000"/>
            </a:pPr>
            <a:r>
              <a:rPr lang="en-US" altLang="zh-TW" sz="2400" b="1" i="0" u="none" strike="noStrike" cap="none" dirty="0">
                <a:solidFill>
                  <a:schemeClr val="tx1"/>
                </a:solidFill>
                <a:latin typeface="Microsoft JhengHei"/>
                <a:ea typeface="Microsoft JhengHei"/>
                <a:cs typeface="Microsoft JhengHei"/>
                <a:sym typeface="Microsoft JhengHei"/>
              </a:rPr>
              <a:t>01 </a:t>
            </a:r>
            <a:r>
              <a:rPr lang="zh-TW" altLang="en-US" sz="2400" b="1" i="0" u="none" strike="noStrike" cap="none" dirty="0">
                <a:solidFill>
                  <a:schemeClr val="tx1"/>
                </a:solidFill>
                <a:latin typeface="Microsoft JhengHei"/>
                <a:ea typeface="Microsoft JhengHei"/>
                <a:cs typeface="Microsoft JhengHei"/>
                <a:sym typeface="Microsoft JhengHei"/>
              </a:rPr>
              <a:t>資料描述與違約相關性分析</a:t>
            </a:r>
            <a:endParaRPr lang="en-US" altLang="zh-TW" sz="2400" b="1" i="0" u="none" strike="noStrike" cap="none" dirty="0">
              <a:solidFill>
                <a:schemeClr val="tx1"/>
              </a:solidFill>
              <a:latin typeface="Microsoft JhengHei"/>
              <a:ea typeface="Microsoft JhengHei"/>
              <a:cs typeface="Microsoft JhengHei"/>
              <a:sym typeface="Microsoft JhengHei"/>
            </a:endParaRPr>
          </a:p>
          <a:p>
            <a:pPr marL="101600" marR="0" lvl="0" algn="l" rtl="0">
              <a:lnSpc>
                <a:spcPct val="175000"/>
              </a:lnSpc>
              <a:spcBef>
                <a:spcPts val="0"/>
              </a:spcBef>
              <a:spcAft>
                <a:spcPts val="0"/>
              </a:spcAft>
              <a:buClr>
                <a:srgbClr val="1E4E79"/>
              </a:buClr>
              <a:buSzPts val="2000"/>
            </a:pPr>
            <a:r>
              <a:rPr lang="en-US" altLang="zh-TW" sz="2400" b="1" i="0" u="none" strike="noStrike" cap="none" dirty="0">
                <a:solidFill>
                  <a:schemeClr val="tx1"/>
                </a:solidFill>
                <a:latin typeface="Microsoft JhengHei"/>
                <a:ea typeface="Microsoft JhengHei"/>
                <a:cs typeface="Microsoft JhengHei"/>
                <a:sym typeface="Microsoft JhengHei"/>
              </a:rPr>
              <a:t>02</a:t>
            </a:r>
            <a:r>
              <a:rPr lang="zh-TW" altLang="en-US" sz="2400" b="1" i="0" u="none" strike="noStrike" cap="none" dirty="0">
                <a:solidFill>
                  <a:schemeClr val="tx1"/>
                </a:solidFill>
                <a:latin typeface="Microsoft JhengHei"/>
                <a:ea typeface="Microsoft JhengHei"/>
                <a:cs typeface="Microsoft JhengHei"/>
                <a:sym typeface="Microsoft JhengHei"/>
              </a:rPr>
              <a:t> 資料處理與生成第一次</a:t>
            </a:r>
            <a:r>
              <a:rPr lang="en-US" altLang="zh-TW" sz="2400" b="1" i="0" u="none" strike="noStrike" cap="none" dirty="0">
                <a:solidFill>
                  <a:schemeClr val="tx1"/>
                </a:solidFill>
                <a:latin typeface="Microsoft JhengHei"/>
                <a:ea typeface="Microsoft JhengHei"/>
                <a:cs typeface="Microsoft JhengHei"/>
                <a:sym typeface="Microsoft JhengHei"/>
              </a:rPr>
              <a:t>Decision</a:t>
            </a:r>
            <a:r>
              <a:rPr lang="zh-TW" altLang="en-US" sz="2400" b="1" i="0" u="none" strike="noStrike" cap="none" dirty="0">
                <a:solidFill>
                  <a:schemeClr val="tx1"/>
                </a:solidFill>
                <a:latin typeface="Microsoft JhengHei"/>
                <a:ea typeface="Microsoft JhengHei"/>
                <a:cs typeface="Microsoft JhengHei"/>
                <a:sym typeface="Microsoft JhengHei"/>
              </a:rPr>
              <a:t> </a:t>
            </a:r>
            <a:r>
              <a:rPr lang="en-US" altLang="zh-TW" sz="2400" b="1" i="0" u="none" strike="noStrike" cap="none" dirty="0">
                <a:solidFill>
                  <a:schemeClr val="tx1"/>
                </a:solidFill>
                <a:latin typeface="Microsoft JhengHei"/>
                <a:ea typeface="Microsoft JhengHei"/>
                <a:cs typeface="Microsoft JhengHei"/>
                <a:sym typeface="Microsoft JhengHei"/>
              </a:rPr>
              <a:t>Tree</a:t>
            </a:r>
            <a:r>
              <a:rPr lang="zh-TW" altLang="en-US" sz="2400" b="1" i="0" u="none" strike="noStrike" cap="none" dirty="0">
                <a:solidFill>
                  <a:schemeClr val="tx1"/>
                </a:solidFill>
                <a:latin typeface="Microsoft JhengHei"/>
                <a:ea typeface="Microsoft JhengHei"/>
                <a:cs typeface="Microsoft JhengHei"/>
                <a:sym typeface="Microsoft JhengHei"/>
              </a:rPr>
              <a:t> </a:t>
            </a:r>
            <a:endParaRPr lang="en-US" altLang="zh-TW" sz="2400" b="1" dirty="0">
              <a:solidFill>
                <a:schemeClr val="tx1"/>
              </a:solidFill>
              <a:latin typeface="Microsoft JhengHei"/>
              <a:ea typeface="Microsoft JhengHei"/>
              <a:cs typeface="Microsoft JhengHei"/>
              <a:sym typeface="Microsoft JhengHei"/>
            </a:endParaRPr>
          </a:p>
          <a:p>
            <a:pPr marL="101600" lvl="0">
              <a:lnSpc>
                <a:spcPct val="175000"/>
              </a:lnSpc>
              <a:buClr>
                <a:srgbClr val="1E4E79"/>
              </a:buClr>
              <a:buSzPts val="2000"/>
            </a:pPr>
            <a:r>
              <a:rPr lang="en-US" altLang="zh-TW" sz="2400" b="1" i="0" u="none" strike="noStrike" cap="none" dirty="0">
                <a:solidFill>
                  <a:schemeClr val="tx1"/>
                </a:solidFill>
                <a:latin typeface="Microsoft JhengHei"/>
                <a:ea typeface="Microsoft JhengHei"/>
                <a:cs typeface="Microsoft JhengHei"/>
                <a:sym typeface="Microsoft JhengHei"/>
              </a:rPr>
              <a:t>03</a:t>
            </a:r>
            <a:r>
              <a:rPr lang="zh-TW" altLang="en-US" sz="2400" b="1" i="0" u="none" strike="noStrike" cap="none" dirty="0">
                <a:solidFill>
                  <a:schemeClr val="tx1"/>
                </a:solidFill>
                <a:latin typeface="Microsoft JhengHei"/>
                <a:ea typeface="Microsoft JhengHei"/>
                <a:cs typeface="Microsoft JhengHei"/>
                <a:sym typeface="Microsoft JhengHei"/>
              </a:rPr>
              <a:t> 第二次</a:t>
            </a:r>
            <a:r>
              <a:rPr lang="en-US" altLang="zh-TW" sz="2400" b="1" dirty="0">
                <a:solidFill>
                  <a:schemeClr val="tx1"/>
                </a:solidFill>
                <a:latin typeface="Microsoft JhengHei"/>
                <a:ea typeface="Microsoft JhengHei"/>
                <a:cs typeface="Microsoft JhengHei"/>
                <a:sym typeface="Microsoft JhengHei"/>
              </a:rPr>
              <a:t>Decision</a:t>
            </a:r>
            <a:r>
              <a:rPr lang="zh-TW" altLang="en-US" sz="2400" b="1" dirty="0">
                <a:solidFill>
                  <a:schemeClr val="tx1"/>
                </a:solidFill>
                <a:latin typeface="Microsoft JhengHei"/>
                <a:ea typeface="Microsoft JhengHei"/>
                <a:cs typeface="Microsoft JhengHei"/>
                <a:sym typeface="Microsoft JhengHei"/>
              </a:rPr>
              <a:t> </a:t>
            </a:r>
            <a:r>
              <a:rPr lang="en-US" altLang="zh-TW" sz="2400" b="1" dirty="0">
                <a:solidFill>
                  <a:schemeClr val="tx1"/>
                </a:solidFill>
                <a:latin typeface="Microsoft JhengHei"/>
                <a:ea typeface="Microsoft JhengHei"/>
                <a:cs typeface="Microsoft JhengHei"/>
                <a:sym typeface="Microsoft JhengHei"/>
              </a:rPr>
              <a:t>Tree</a:t>
            </a:r>
            <a:r>
              <a:rPr lang="zh-TW" altLang="en-US" sz="2400" b="1" dirty="0">
                <a:solidFill>
                  <a:schemeClr val="tx1"/>
                </a:solidFill>
                <a:latin typeface="Microsoft JhengHei"/>
                <a:ea typeface="Microsoft JhengHei"/>
                <a:cs typeface="Microsoft JhengHei"/>
                <a:sym typeface="Microsoft JhengHei"/>
              </a:rPr>
              <a:t>及訓練結果 </a:t>
            </a:r>
            <a:endParaRPr lang="en-US" altLang="zh-TW" sz="2400" b="1" dirty="0">
              <a:solidFill>
                <a:schemeClr val="tx1"/>
              </a:solidFill>
              <a:latin typeface="Microsoft JhengHei"/>
              <a:ea typeface="Microsoft JhengHei"/>
              <a:cs typeface="Microsoft JhengHei"/>
              <a:sym typeface="Microsoft JhengHei"/>
            </a:endParaRPr>
          </a:p>
          <a:p>
            <a:pPr marL="101600" lvl="0">
              <a:lnSpc>
                <a:spcPct val="175000"/>
              </a:lnSpc>
              <a:buClr>
                <a:srgbClr val="1E4E79"/>
              </a:buClr>
              <a:buSzPts val="2000"/>
            </a:pPr>
            <a:r>
              <a:rPr lang="en-US" altLang="zh-TW" sz="2400" b="1" i="0" u="none" strike="noStrike" cap="none" dirty="0">
                <a:solidFill>
                  <a:schemeClr val="tx1"/>
                </a:solidFill>
                <a:latin typeface="Microsoft JhengHei"/>
                <a:ea typeface="Microsoft JhengHei"/>
                <a:cs typeface="Microsoft JhengHei"/>
                <a:sym typeface="Microsoft JhengHei"/>
              </a:rPr>
              <a:t>04</a:t>
            </a:r>
            <a:r>
              <a:rPr lang="zh-TW" altLang="en-US" sz="2400" b="1" i="0" u="none" strike="noStrike" cap="none" dirty="0">
                <a:solidFill>
                  <a:schemeClr val="tx1"/>
                </a:solidFill>
                <a:latin typeface="Microsoft JhengHei"/>
                <a:ea typeface="Microsoft JhengHei"/>
                <a:cs typeface="Microsoft JhengHei"/>
                <a:sym typeface="Microsoft JhengHei"/>
              </a:rPr>
              <a:t> </a:t>
            </a:r>
            <a:r>
              <a:rPr lang="en-US" altLang="zh-TW" sz="2400" b="1" dirty="0">
                <a:solidFill>
                  <a:schemeClr val="tx1"/>
                </a:solidFill>
                <a:latin typeface="Microsoft JhengHei"/>
                <a:ea typeface="Microsoft JhengHei"/>
                <a:cs typeface="Microsoft JhengHei"/>
                <a:sym typeface="Microsoft JhengHei"/>
              </a:rPr>
              <a:t>Decision Tree</a:t>
            </a:r>
            <a:r>
              <a:rPr lang="zh-TW" altLang="en-US" sz="2400" b="1" i="0" u="none" strike="noStrike" cap="none" dirty="0">
                <a:solidFill>
                  <a:schemeClr val="tx1"/>
                </a:solidFill>
                <a:latin typeface="Microsoft JhengHei"/>
                <a:ea typeface="Microsoft JhengHei"/>
                <a:cs typeface="Microsoft JhengHei"/>
                <a:sym typeface="Microsoft JhengHei"/>
              </a:rPr>
              <a:t>模型結果實務觀點</a:t>
            </a:r>
            <a:endParaRPr lang="en-US" altLang="zh-TW" sz="2400" b="1" i="0" u="none" strike="noStrike" cap="none" dirty="0">
              <a:solidFill>
                <a:schemeClr val="tx1"/>
              </a:solidFill>
              <a:latin typeface="Microsoft JhengHei"/>
              <a:ea typeface="Microsoft JhengHei"/>
              <a:cs typeface="Microsoft JhengHei"/>
              <a:sym typeface="Microsoft JhengHei"/>
            </a:endParaRPr>
          </a:p>
          <a:p>
            <a:pPr marL="101600" lvl="0">
              <a:lnSpc>
                <a:spcPct val="175000"/>
              </a:lnSpc>
              <a:buClr>
                <a:srgbClr val="1E4E79"/>
              </a:buClr>
              <a:buSzPts val="2000"/>
            </a:pPr>
            <a:r>
              <a:rPr lang="en-US" altLang="zh-TW" sz="2400" b="1" i="0" u="none" strike="noStrike" cap="none" dirty="0">
                <a:solidFill>
                  <a:schemeClr val="tx1"/>
                </a:solidFill>
                <a:latin typeface="Microsoft JhengHei"/>
                <a:ea typeface="Microsoft JhengHei"/>
                <a:cs typeface="Microsoft JhengHei"/>
                <a:sym typeface="Microsoft JhengHei"/>
              </a:rPr>
              <a:t>05</a:t>
            </a:r>
            <a:r>
              <a:rPr lang="zh-TW" altLang="en-US" sz="2400" b="1" i="0" u="none" strike="noStrike" cap="none" dirty="0">
                <a:solidFill>
                  <a:schemeClr val="tx1"/>
                </a:solidFill>
                <a:latin typeface="Microsoft JhengHei"/>
                <a:ea typeface="Microsoft JhengHei"/>
                <a:cs typeface="Microsoft JhengHei"/>
                <a:sym typeface="Microsoft JhengHei"/>
              </a:rPr>
              <a:t> 舞弊人員特性分析</a:t>
            </a:r>
            <a:endParaRPr lang="en-US" altLang="zh-TW" sz="2400" b="1" i="0" u="none" strike="noStrike" cap="none" dirty="0">
              <a:solidFill>
                <a:schemeClr val="tx1"/>
              </a:solidFill>
              <a:latin typeface="Microsoft JhengHei"/>
              <a:ea typeface="Microsoft JhengHei"/>
              <a:cs typeface="Microsoft JhengHei"/>
              <a:sym typeface="Microsoft JhengHei"/>
            </a:endParaRPr>
          </a:p>
          <a:p>
            <a:pPr marL="101600" lvl="0">
              <a:lnSpc>
                <a:spcPct val="175000"/>
              </a:lnSpc>
              <a:buClr>
                <a:srgbClr val="1E4E79"/>
              </a:buClr>
              <a:buSzPts val="2000"/>
            </a:pPr>
            <a:r>
              <a:rPr lang="en-US" altLang="zh-TW" sz="2400" b="1" dirty="0">
                <a:solidFill>
                  <a:schemeClr val="tx1"/>
                </a:solidFill>
                <a:latin typeface="Microsoft JhengHei"/>
                <a:ea typeface="Microsoft JhengHei"/>
                <a:cs typeface="Microsoft JhengHei"/>
                <a:sym typeface="Microsoft JhengHei"/>
              </a:rPr>
              <a:t>06</a:t>
            </a:r>
            <a:r>
              <a:rPr lang="zh-TW" altLang="en-US" sz="2400" b="1" dirty="0">
                <a:solidFill>
                  <a:schemeClr val="tx1"/>
                </a:solidFill>
                <a:latin typeface="Microsoft JhengHei"/>
                <a:ea typeface="Microsoft JhengHei"/>
                <a:cs typeface="Microsoft JhengHei"/>
                <a:sym typeface="Microsoft JhengHei"/>
              </a:rPr>
              <a:t> 總結</a:t>
            </a:r>
            <a:endParaRPr sz="2400" b="1" i="0" u="none" strike="noStrike" cap="none" dirty="0">
              <a:solidFill>
                <a:schemeClr val="tx1"/>
              </a:solidFill>
              <a:latin typeface="Microsoft JhengHei"/>
              <a:ea typeface="Microsoft JhengHei"/>
              <a:cs typeface="Microsoft JhengHei"/>
              <a:sym typeface="Microsoft JhengHe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23"/>
          <p:cNvSpPr/>
          <p:nvPr/>
        </p:nvSpPr>
        <p:spPr>
          <a:xfrm>
            <a:off x="1848142" y="329912"/>
            <a:ext cx="3194050" cy="387350"/>
          </a:xfrm>
          <a:prstGeom prst="parallelogram">
            <a:avLst>
              <a:gd name="adj" fmla="val 69898"/>
            </a:avLst>
          </a:prstGeom>
          <a:solidFill>
            <a:srgbClr val="21BFCA"/>
          </a:solidFill>
          <a:ln w="161925" cap="sq" cmpd="sng">
            <a:solidFill>
              <a:srgbClr val="1E868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107" name="Google Shape;107;p23"/>
          <p:cNvSpPr/>
          <p:nvPr/>
        </p:nvSpPr>
        <p:spPr>
          <a:xfrm>
            <a:off x="1833992" y="329256"/>
            <a:ext cx="3194050" cy="387350"/>
          </a:xfrm>
          <a:prstGeom prst="parallelogram">
            <a:avLst>
              <a:gd name="adj" fmla="val 69898"/>
            </a:avLst>
          </a:prstGeom>
          <a:solidFill>
            <a:srgbClr val="21BFCA"/>
          </a:solidFill>
          <a:ln w="161925" cap="sq" cmpd="sng">
            <a:solidFill>
              <a:srgbClr val="21BFC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108" name="Google Shape;108;p23"/>
          <p:cNvSpPr/>
          <p:nvPr/>
        </p:nvSpPr>
        <p:spPr>
          <a:xfrm>
            <a:off x="4581237" y="329912"/>
            <a:ext cx="7525038" cy="387350"/>
          </a:xfrm>
          <a:prstGeom prst="parallelogram">
            <a:avLst>
              <a:gd name="adj" fmla="val 0"/>
            </a:avLst>
          </a:prstGeom>
          <a:solidFill>
            <a:srgbClr val="21BFCA"/>
          </a:solidFill>
          <a:ln w="161925" cap="sq" cmpd="sng">
            <a:solidFill>
              <a:srgbClr val="21BFC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109" name="Google Shape;109;p23"/>
          <p:cNvSpPr/>
          <p:nvPr/>
        </p:nvSpPr>
        <p:spPr>
          <a:xfrm>
            <a:off x="2066647" y="271786"/>
            <a:ext cx="6678682"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zh-TW" altLang="en-US" sz="2800" b="0" i="0" u="none" strike="noStrike" cap="none" dirty="0">
                <a:solidFill>
                  <a:srgbClr val="FFFFFF"/>
                </a:solidFill>
                <a:latin typeface="Microsoft JhengHei"/>
                <a:ea typeface="Microsoft JhengHei"/>
                <a:cs typeface="Microsoft JhengHei"/>
                <a:sym typeface="Microsoft JhengHei"/>
              </a:rPr>
              <a:t>原始資料性質</a:t>
            </a:r>
            <a:endParaRPr sz="2800" b="0" i="0" u="none" strike="noStrike" cap="none" dirty="0">
              <a:solidFill>
                <a:srgbClr val="FFFFFF"/>
              </a:solidFill>
              <a:latin typeface="Microsoft JhengHei"/>
              <a:ea typeface="Microsoft JhengHei"/>
              <a:cs typeface="Microsoft JhengHei"/>
              <a:sym typeface="Microsoft JhengHei"/>
            </a:endParaRPr>
          </a:p>
        </p:txBody>
      </p:sp>
      <p:cxnSp>
        <p:nvCxnSpPr>
          <p:cNvPr id="110" name="Google Shape;110;p23"/>
          <p:cNvCxnSpPr/>
          <p:nvPr/>
        </p:nvCxnSpPr>
        <p:spPr>
          <a:xfrm>
            <a:off x="157389" y="1269734"/>
            <a:ext cx="1224000" cy="0"/>
          </a:xfrm>
          <a:prstGeom prst="straightConnector1">
            <a:avLst/>
          </a:prstGeom>
          <a:noFill/>
          <a:ln w="15875" cap="rnd" cmpd="sng">
            <a:solidFill>
              <a:srgbClr val="21BFCA"/>
            </a:solidFill>
            <a:prstDash val="solid"/>
            <a:round/>
            <a:headEnd type="none" w="sm" len="sm"/>
            <a:tailEnd type="none" w="sm" len="sm"/>
          </a:ln>
        </p:spPr>
      </p:cxnSp>
      <p:graphicFrame>
        <p:nvGraphicFramePr>
          <p:cNvPr id="111" name="Google Shape;111;p23"/>
          <p:cNvGraphicFramePr/>
          <p:nvPr/>
        </p:nvGraphicFramePr>
        <p:xfrm>
          <a:off x="298393" y="6487160"/>
          <a:ext cx="11096375" cy="370850"/>
        </p:xfrm>
        <a:graphic>
          <a:graphicData uri="http://schemas.openxmlformats.org/drawingml/2006/table">
            <a:tbl>
              <a:tblPr firstRow="1" bandRow="1">
                <a:noFill/>
                <a:tableStyleId>{72FCF9FF-86DD-4F90-83C7-D16C962093AE}</a:tableStyleId>
              </a:tblPr>
              <a:tblGrid>
                <a:gridCol w="11096375">
                  <a:extLst>
                    <a:ext uri="{9D8B030D-6E8A-4147-A177-3AD203B41FA5}">
                      <a16:colId xmlns:a16="http://schemas.microsoft.com/office/drawing/2014/main" val="20000"/>
                    </a:ext>
                  </a:extLst>
                </a:gridCol>
              </a:tblGrid>
              <a:tr h="370850">
                <a:tc>
                  <a:txBody>
                    <a:bodyPr/>
                    <a:lstStyle/>
                    <a:p>
                      <a:pPr marL="0" marR="0" lvl="0" indent="0" algn="ctr" rtl="0">
                        <a:lnSpc>
                          <a:spcPct val="150000"/>
                        </a:lnSpc>
                        <a:spcBef>
                          <a:spcPts val="0"/>
                        </a:spcBef>
                        <a:spcAft>
                          <a:spcPts val="0"/>
                        </a:spcAft>
                        <a:buClr>
                          <a:srgbClr val="BFBFBF"/>
                        </a:buClr>
                        <a:buSzPts val="700"/>
                        <a:buFont typeface="Malgun Gothic"/>
                        <a:buNone/>
                      </a:pPr>
                      <a:r>
                        <a:rPr lang="zh-TW" sz="700" b="0" i="0" u="none" strike="noStrike" cap="none" dirty="0">
                          <a:solidFill>
                            <a:srgbClr val="BFBFBF"/>
                          </a:solidFill>
                          <a:latin typeface="Malgun Gothic"/>
                          <a:ea typeface="Malgun Gothic"/>
                          <a:cs typeface="Malgun Gothic"/>
                          <a:sym typeface="Malgun Gothic"/>
                        </a:rPr>
                        <a:t>Enjoy your stylish business and campus life with BIZCAM</a:t>
                      </a:r>
                      <a:endParaRPr sz="4800" b="0" i="0" u="none" strike="noStrike" cap="none" dirty="0">
                        <a:solidFill>
                          <a:srgbClr val="BFBFBF"/>
                        </a:solidFill>
                        <a:latin typeface="Malgun Gothic"/>
                        <a:ea typeface="Malgun Gothic"/>
                        <a:cs typeface="Malgun Gothic"/>
                        <a:sym typeface="Malgun Gothic"/>
                      </a:endParaRPr>
                    </a:p>
                  </a:txBody>
                  <a:tcPr marL="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112" name="Google Shape;112;p23"/>
          <p:cNvSpPr/>
          <p:nvPr/>
        </p:nvSpPr>
        <p:spPr>
          <a:xfrm>
            <a:off x="158593" y="808069"/>
            <a:ext cx="540533"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zh-TW" sz="2400" b="1" i="1" u="none" strike="noStrike" cap="none" dirty="0">
                <a:solidFill>
                  <a:srgbClr val="21BFCA"/>
                </a:solidFill>
                <a:latin typeface="Malgun Gothic"/>
                <a:ea typeface="Malgun Gothic"/>
                <a:cs typeface="Malgun Gothic"/>
                <a:sym typeface="Malgun Gothic"/>
              </a:rPr>
              <a:t>0</a:t>
            </a:r>
            <a:r>
              <a:rPr lang="en-US" altLang="zh-TW" sz="2400" b="1" i="1" dirty="0">
                <a:solidFill>
                  <a:srgbClr val="21BFCA"/>
                </a:solidFill>
                <a:latin typeface="Malgun Gothic"/>
                <a:ea typeface="Malgun Gothic"/>
                <a:cs typeface="Malgun Gothic"/>
                <a:sym typeface="Malgun Gothic"/>
              </a:rPr>
              <a:t>1</a:t>
            </a:r>
            <a:endParaRPr sz="2400" b="0" i="0" u="none" strike="noStrike" cap="none" dirty="0">
              <a:solidFill>
                <a:srgbClr val="21BFCA"/>
              </a:solidFill>
              <a:latin typeface="Malgun Gothic"/>
              <a:ea typeface="Malgun Gothic"/>
              <a:cs typeface="Malgun Gothic"/>
              <a:sym typeface="Malgun Gothic"/>
            </a:endParaRPr>
          </a:p>
        </p:txBody>
      </p:sp>
      <p:sp>
        <p:nvSpPr>
          <p:cNvPr id="113" name="Google Shape;113;p23"/>
          <p:cNvSpPr txBox="1"/>
          <p:nvPr/>
        </p:nvSpPr>
        <p:spPr>
          <a:xfrm>
            <a:off x="1381389" y="1701817"/>
            <a:ext cx="9232200" cy="3247002"/>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1200"/>
              </a:spcAft>
              <a:buClr>
                <a:srgbClr val="000000"/>
              </a:buClr>
              <a:buSzPts val="2400"/>
              <a:buFont typeface="Arial"/>
              <a:buNone/>
            </a:pPr>
            <a:r>
              <a:rPr lang="zh-TW" altLang="en-US" sz="2000" b="1" i="0" u="none" strike="noStrike" cap="none" dirty="0">
                <a:solidFill>
                  <a:srgbClr val="002060"/>
                </a:solidFill>
                <a:latin typeface="Microsoft JhengHei"/>
                <a:ea typeface="Microsoft JhengHei"/>
                <a:cs typeface="Microsoft JhengHei"/>
                <a:sym typeface="Microsoft JhengHei"/>
              </a:rPr>
              <a:t>數值資料欄位：</a:t>
            </a:r>
            <a:r>
              <a:rPr lang="en-US" altLang="zh-TW" sz="2000" b="1" i="0" u="none" strike="noStrike" cap="none" dirty="0">
                <a:solidFill>
                  <a:srgbClr val="002060"/>
                </a:solidFill>
                <a:latin typeface="Microsoft JhengHei"/>
                <a:ea typeface="Microsoft JhengHei"/>
                <a:cs typeface="Microsoft JhengHei"/>
                <a:sym typeface="Microsoft JhengHei"/>
              </a:rPr>
              <a:t>384</a:t>
            </a:r>
          </a:p>
          <a:p>
            <a:pPr>
              <a:lnSpc>
                <a:spcPct val="150000"/>
              </a:lnSpc>
              <a:spcBef>
                <a:spcPts val="600"/>
              </a:spcBef>
              <a:spcAft>
                <a:spcPts val="1200"/>
              </a:spcAft>
              <a:buSzPts val="2400"/>
            </a:pPr>
            <a:r>
              <a:rPr lang="zh-TW" altLang="en-US" sz="2000" b="1" dirty="0">
                <a:solidFill>
                  <a:srgbClr val="002060"/>
                </a:solidFill>
                <a:latin typeface="微軟正黑體" panose="020B0604030504040204" pitchFamily="34" charset="-120"/>
                <a:ea typeface="微軟正黑體" panose="020B0604030504040204" pitchFamily="34" charset="-120"/>
                <a:cs typeface="Microsoft JhengHei"/>
                <a:sym typeface="Microsoft JhengHei"/>
              </a:rPr>
              <a:t>類別資料欄位：</a:t>
            </a:r>
            <a:r>
              <a:rPr lang="en-US" altLang="zh-TW" sz="2000" b="1" dirty="0">
                <a:solidFill>
                  <a:srgbClr val="002060"/>
                </a:solidFill>
                <a:latin typeface="微軟正黑體" panose="020B0604030504040204" pitchFamily="34" charset="-120"/>
                <a:ea typeface="微軟正黑體" panose="020B0604030504040204" pitchFamily="34" charset="-120"/>
                <a:cs typeface="Microsoft JhengHei"/>
                <a:sym typeface="Microsoft JhengHei"/>
              </a:rPr>
              <a:t>7</a:t>
            </a:r>
            <a:r>
              <a:rPr lang="zh-TW" altLang="en-US" sz="2000" b="1" dirty="0">
                <a:solidFill>
                  <a:srgbClr val="002060"/>
                </a:solidFill>
                <a:latin typeface="微軟正黑體" panose="020B0604030504040204" pitchFamily="34" charset="-120"/>
                <a:ea typeface="微軟正黑體" panose="020B0604030504040204" pitchFamily="34" charset="-120"/>
                <a:cs typeface="Microsoft JhengHei"/>
                <a:sym typeface="Microsoft JhengHei"/>
              </a:rPr>
              <a:t>（包含應變數）</a:t>
            </a:r>
            <a:endParaRPr lang="en-US" altLang="zh-TW" sz="2000" b="1" dirty="0">
              <a:solidFill>
                <a:srgbClr val="002060"/>
              </a:solidFill>
              <a:latin typeface="微軟正黑體" panose="020B0604030504040204" pitchFamily="34" charset="-120"/>
              <a:ea typeface="微軟正黑體" panose="020B0604030504040204" pitchFamily="34" charset="-120"/>
              <a:cs typeface="Microsoft JhengHei"/>
              <a:sym typeface="Microsoft JhengHei"/>
            </a:endParaRPr>
          </a:p>
          <a:p>
            <a:pPr marL="0" marR="0" lvl="0" indent="0" algn="l" rtl="0">
              <a:lnSpc>
                <a:spcPct val="150000"/>
              </a:lnSpc>
              <a:spcBef>
                <a:spcPts val="0"/>
              </a:spcBef>
              <a:spcAft>
                <a:spcPts val="1200"/>
              </a:spcAft>
              <a:buClr>
                <a:srgbClr val="000000"/>
              </a:buClr>
              <a:buSzPts val="2400"/>
              <a:buFont typeface="Arial"/>
              <a:buNone/>
            </a:pPr>
            <a:r>
              <a:rPr lang="zh-TW" altLang="en-US" sz="2000" b="1" i="0" u="none" strike="noStrike" cap="none" dirty="0">
                <a:solidFill>
                  <a:srgbClr val="002060"/>
                </a:solidFill>
                <a:latin typeface="Microsoft JhengHei"/>
                <a:ea typeface="Microsoft JhengHei"/>
                <a:cs typeface="Microsoft JhengHei"/>
                <a:sym typeface="Microsoft JhengHei"/>
              </a:rPr>
              <a:t>舞弊業務員數：</a:t>
            </a:r>
            <a:r>
              <a:rPr lang="en-US" altLang="zh-TW" sz="2000" b="1" i="0" u="none" strike="noStrike" cap="none" dirty="0">
                <a:solidFill>
                  <a:srgbClr val="002060"/>
                </a:solidFill>
                <a:latin typeface="Microsoft JhengHei"/>
                <a:ea typeface="Microsoft JhengHei"/>
                <a:cs typeface="Microsoft JhengHei"/>
                <a:sym typeface="Microsoft JhengHei"/>
              </a:rPr>
              <a:t>195</a:t>
            </a:r>
            <a:r>
              <a:rPr lang="zh-TW" altLang="en-US" sz="2000" b="1" i="0" u="none" strike="noStrike" cap="none" dirty="0">
                <a:solidFill>
                  <a:srgbClr val="002060"/>
                </a:solidFill>
                <a:latin typeface="Microsoft JhengHei"/>
                <a:ea typeface="Microsoft JhengHei"/>
                <a:cs typeface="Microsoft JhengHei"/>
                <a:sym typeface="Microsoft JhengHei"/>
              </a:rPr>
              <a:t>（</a:t>
            </a:r>
            <a:r>
              <a:rPr lang="en-US" altLang="zh-TW" sz="2000" b="1" i="0" u="none" strike="noStrike" cap="none" dirty="0">
                <a:solidFill>
                  <a:srgbClr val="002060"/>
                </a:solidFill>
                <a:latin typeface="Microsoft JhengHei"/>
                <a:ea typeface="Microsoft JhengHei"/>
                <a:cs typeface="Microsoft JhengHei"/>
                <a:sym typeface="Microsoft JhengHei"/>
              </a:rPr>
              <a:t>0.65%</a:t>
            </a:r>
            <a:r>
              <a:rPr lang="zh-TW" altLang="en-US" sz="2000" b="1" i="0" u="none" strike="noStrike" cap="none" dirty="0">
                <a:solidFill>
                  <a:srgbClr val="002060"/>
                </a:solidFill>
                <a:latin typeface="Microsoft JhengHei"/>
                <a:ea typeface="Microsoft JhengHei"/>
                <a:cs typeface="Microsoft JhengHei"/>
                <a:sym typeface="Microsoft JhengHei"/>
              </a:rPr>
              <a:t>）</a:t>
            </a:r>
            <a:endParaRPr lang="en-US" altLang="zh-TW" sz="2000" b="1" i="0" u="none" strike="noStrike" cap="none" dirty="0">
              <a:solidFill>
                <a:srgbClr val="002060"/>
              </a:solidFill>
              <a:latin typeface="Microsoft JhengHei"/>
              <a:ea typeface="Microsoft JhengHei"/>
              <a:cs typeface="Microsoft JhengHei"/>
              <a:sym typeface="Microsoft JhengHei"/>
            </a:endParaRPr>
          </a:p>
          <a:p>
            <a:pPr marL="0" marR="0" lvl="0" indent="0" algn="l" rtl="0">
              <a:lnSpc>
                <a:spcPct val="150000"/>
              </a:lnSpc>
              <a:spcBef>
                <a:spcPts val="0"/>
              </a:spcBef>
              <a:spcAft>
                <a:spcPts val="1200"/>
              </a:spcAft>
              <a:buClr>
                <a:srgbClr val="000000"/>
              </a:buClr>
              <a:buSzPts val="2400"/>
              <a:buFont typeface="Arial"/>
              <a:buNone/>
            </a:pPr>
            <a:r>
              <a:rPr lang="zh-TW" altLang="en-US" sz="2000" b="1" dirty="0">
                <a:solidFill>
                  <a:srgbClr val="002060"/>
                </a:solidFill>
                <a:latin typeface="Microsoft JhengHei"/>
                <a:ea typeface="Microsoft JhengHei"/>
                <a:cs typeface="Microsoft JhengHei"/>
                <a:sym typeface="Microsoft JhengHei"/>
              </a:rPr>
              <a:t>非舞弊業務員數：</a:t>
            </a:r>
            <a:r>
              <a:rPr lang="en-US" altLang="zh-TW" sz="2000" b="1" dirty="0">
                <a:solidFill>
                  <a:srgbClr val="002060"/>
                </a:solidFill>
                <a:latin typeface="Microsoft JhengHei"/>
                <a:ea typeface="Microsoft JhengHei"/>
                <a:cs typeface="Microsoft JhengHei"/>
                <a:sym typeface="Microsoft JhengHei"/>
              </a:rPr>
              <a:t>29805</a:t>
            </a:r>
            <a:r>
              <a:rPr lang="zh-TW" altLang="en-US" sz="2000" b="1" dirty="0">
                <a:solidFill>
                  <a:srgbClr val="002060"/>
                </a:solidFill>
                <a:latin typeface="Microsoft JhengHei"/>
                <a:ea typeface="Microsoft JhengHei"/>
                <a:cs typeface="Microsoft JhengHei"/>
                <a:sym typeface="Microsoft JhengHei"/>
              </a:rPr>
              <a:t>（</a:t>
            </a:r>
            <a:r>
              <a:rPr lang="en-US" altLang="zh-TW" sz="2000" b="1" dirty="0">
                <a:solidFill>
                  <a:srgbClr val="002060"/>
                </a:solidFill>
                <a:latin typeface="Microsoft JhengHei"/>
                <a:ea typeface="Microsoft JhengHei"/>
                <a:cs typeface="Microsoft JhengHei"/>
                <a:sym typeface="Microsoft JhengHei"/>
              </a:rPr>
              <a:t>99.35%</a:t>
            </a:r>
            <a:r>
              <a:rPr lang="zh-TW" altLang="en-US" sz="2000" b="1" dirty="0">
                <a:solidFill>
                  <a:srgbClr val="002060"/>
                </a:solidFill>
                <a:latin typeface="Microsoft JhengHei"/>
                <a:ea typeface="Microsoft JhengHei"/>
                <a:cs typeface="Microsoft JhengHei"/>
                <a:sym typeface="Microsoft JhengHei"/>
              </a:rPr>
              <a:t>）</a:t>
            </a:r>
            <a:endParaRPr lang="en-US" altLang="zh-TW" sz="2000" b="1" dirty="0">
              <a:solidFill>
                <a:srgbClr val="002060"/>
              </a:solidFill>
              <a:latin typeface="Microsoft JhengHei"/>
              <a:ea typeface="Microsoft JhengHei"/>
              <a:cs typeface="Microsoft JhengHei"/>
              <a:sym typeface="Microsoft JhengHei"/>
            </a:endParaRPr>
          </a:p>
          <a:p>
            <a:pPr marL="0" marR="0" lvl="0" indent="0" algn="l" rtl="0">
              <a:lnSpc>
                <a:spcPct val="150000"/>
              </a:lnSpc>
              <a:spcBef>
                <a:spcPts val="0"/>
              </a:spcBef>
              <a:spcAft>
                <a:spcPts val="1200"/>
              </a:spcAft>
              <a:buClr>
                <a:srgbClr val="000000"/>
              </a:buClr>
              <a:buSzPts val="2400"/>
              <a:buFont typeface="Arial"/>
              <a:buNone/>
            </a:pPr>
            <a:r>
              <a:rPr lang="zh-TW" altLang="en-US" sz="2000" b="1" i="0" u="none" strike="noStrike" cap="none" dirty="0">
                <a:solidFill>
                  <a:srgbClr val="002060"/>
                </a:solidFill>
                <a:latin typeface="Microsoft JhengHei"/>
                <a:ea typeface="Microsoft JhengHei"/>
                <a:cs typeface="Microsoft JhengHei"/>
                <a:sym typeface="Microsoft JhengHei"/>
              </a:rPr>
              <a:t>總業務員數：</a:t>
            </a:r>
            <a:r>
              <a:rPr lang="en-US" altLang="zh-TW" sz="2000" b="1" i="0" u="none" strike="noStrike" cap="none" dirty="0">
                <a:solidFill>
                  <a:srgbClr val="002060"/>
                </a:solidFill>
                <a:latin typeface="Microsoft JhengHei"/>
                <a:ea typeface="Microsoft JhengHei"/>
                <a:cs typeface="Microsoft JhengHei"/>
                <a:sym typeface="Microsoft JhengHei"/>
              </a:rPr>
              <a:t>30000</a:t>
            </a:r>
            <a:r>
              <a:rPr lang="zh-TW" altLang="en-US" sz="2000" b="1" i="0" u="none" strike="noStrike" cap="none" dirty="0">
                <a:solidFill>
                  <a:srgbClr val="002060"/>
                </a:solidFill>
                <a:latin typeface="Microsoft JhengHei"/>
                <a:ea typeface="Microsoft JhengHei"/>
                <a:cs typeface="Microsoft JhengHei"/>
                <a:sym typeface="Microsoft JhengHei"/>
              </a:rPr>
              <a:t>（</a:t>
            </a:r>
            <a:r>
              <a:rPr lang="en-US" altLang="zh-TW" sz="2000" b="1" i="0" u="none" strike="noStrike" cap="none" dirty="0">
                <a:solidFill>
                  <a:srgbClr val="002060"/>
                </a:solidFill>
                <a:latin typeface="Microsoft JhengHei"/>
                <a:ea typeface="Microsoft JhengHei"/>
                <a:cs typeface="Microsoft JhengHei"/>
                <a:sym typeface="Microsoft JhengHei"/>
              </a:rPr>
              <a:t>100%</a:t>
            </a:r>
            <a:r>
              <a:rPr lang="zh-TW" altLang="en-US" sz="2000" b="1" i="0" u="none" strike="noStrike" cap="none" dirty="0">
                <a:solidFill>
                  <a:srgbClr val="002060"/>
                </a:solidFill>
                <a:latin typeface="Microsoft JhengHei"/>
                <a:ea typeface="Microsoft JhengHei"/>
                <a:cs typeface="Microsoft JhengHei"/>
                <a:sym typeface="Microsoft JhengHei"/>
              </a:rPr>
              <a:t>）</a:t>
            </a:r>
            <a:endParaRPr sz="2000" b="1" i="0" u="none" strike="noStrike" cap="none" dirty="0">
              <a:solidFill>
                <a:srgbClr val="002060"/>
              </a:solidFill>
              <a:latin typeface="Microsoft JhengHei"/>
              <a:ea typeface="Microsoft JhengHei"/>
              <a:cs typeface="Microsoft JhengHei"/>
              <a:sym typeface="Microsoft JhengHei"/>
            </a:endParaRPr>
          </a:p>
        </p:txBody>
      </p:sp>
      <p:graphicFrame>
        <p:nvGraphicFramePr>
          <p:cNvPr id="10" name="Google Shape;275;gded498c5cf_0_0"/>
          <p:cNvGraphicFramePr/>
          <p:nvPr>
            <p:extLst>
              <p:ext uri="{D42A27DB-BD31-4B8C-83A1-F6EECF244321}">
                <p14:modId xmlns:p14="http://schemas.microsoft.com/office/powerpoint/2010/main" val="1671772921"/>
              </p:ext>
            </p:extLst>
          </p:nvPr>
        </p:nvGraphicFramePr>
        <p:xfrm>
          <a:off x="298393" y="6487160"/>
          <a:ext cx="11096375" cy="371930"/>
        </p:xfrm>
        <a:graphic>
          <a:graphicData uri="http://schemas.openxmlformats.org/drawingml/2006/table">
            <a:tbl>
              <a:tblPr firstRow="1" bandRow="1">
                <a:noFill/>
                <a:tableStyleId>{72FCF9FF-86DD-4F90-83C7-D16C962093AE}</a:tableStyleId>
              </a:tblPr>
              <a:tblGrid>
                <a:gridCol w="11096375">
                  <a:extLst>
                    <a:ext uri="{9D8B030D-6E8A-4147-A177-3AD203B41FA5}">
                      <a16:colId xmlns:a16="http://schemas.microsoft.com/office/drawing/2014/main" val="20000"/>
                    </a:ext>
                  </a:extLst>
                </a:gridCol>
              </a:tblGrid>
              <a:tr h="370850">
                <a:tc>
                  <a:txBody>
                    <a:bodyPr/>
                    <a:lstStyle/>
                    <a:p>
                      <a:pPr marL="0" marR="0" lvl="0" indent="0" algn="ctr" rtl="0">
                        <a:lnSpc>
                          <a:spcPct val="150000"/>
                        </a:lnSpc>
                        <a:spcBef>
                          <a:spcPts val="0"/>
                        </a:spcBef>
                        <a:spcAft>
                          <a:spcPts val="0"/>
                        </a:spcAft>
                        <a:buClr>
                          <a:srgbClr val="BFBFBF"/>
                        </a:buClr>
                        <a:buSzPts val="700"/>
                        <a:buFont typeface="Malgun Gothic"/>
                        <a:buNone/>
                      </a:pPr>
                      <a:r>
                        <a:rPr lang="en-US" sz="1400" b="0" i="0" u="none" strike="noStrike" cap="none" dirty="0">
                          <a:solidFill>
                            <a:schemeClr val="bg1"/>
                          </a:solidFill>
                          <a:latin typeface="Cambria Math" panose="02040503050406030204" pitchFamily="18" charset="0"/>
                          <a:ea typeface="Cambria Math" panose="02040503050406030204" pitchFamily="18" charset="0"/>
                          <a:cs typeface="Malgun Gothic"/>
                          <a:sym typeface="Malgun Gothic"/>
                        </a:rPr>
                        <a:t>2</a:t>
                      </a:r>
                      <a:endParaRPr sz="1400" b="0" i="0" u="none" strike="noStrike" cap="none" dirty="0">
                        <a:solidFill>
                          <a:schemeClr val="bg1"/>
                        </a:solidFill>
                        <a:latin typeface="Cambria Math" panose="02040503050406030204" pitchFamily="18" charset="0"/>
                        <a:ea typeface="Cambria Math" panose="02040503050406030204" pitchFamily="18" charset="0"/>
                        <a:cs typeface="Malgun Gothic"/>
                        <a:sym typeface="Malgun Gothic"/>
                      </a:endParaRPr>
                    </a:p>
                  </a:txBody>
                  <a:tcPr marL="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23"/>
          <p:cNvSpPr/>
          <p:nvPr/>
        </p:nvSpPr>
        <p:spPr>
          <a:xfrm>
            <a:off x="1848142" y="329912"/>
            <a:ext cx="3194050" cy="387350"/>
          </a:xfrm>
          <a:prstGeom prst="parallelogram">
            <a:avLst>
              <a:gd name="adj" fmla="val 69898"/>
            </a:avLst>
          </a:prstGeom>
          <a:solidFill>
            <a:srgbClr val="21BFCA"/>
          </a:solidFill>
          <a:ln w="161925" cap="sq" cmpd="sng">
            <a:solidFill>
              <a:srgbClr val="1E868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107" name="Google Shape;107;p23"/>
          <p:cNvSpPr/>
          <p:nvPr/>
        </p:nvSpPr>
        <p:spPr>
          <a:xfrm>
            <a:off x="1833992" y="329256"/>
            <a:ext cx="3194050" cy="387350"/>
          </a:xfrm>
          <a:prstGeom prst="parallelogram">
            <a:avLst>
              <a:gd name="adj" fmla="val 69898"/>
            </a:avLst>
          </a:prstGeom>
          <a:solidFill>
            <a:srgbClr val="21BFCA"/>
          </a:solidFill>
          <a:ln w="161925" cap="sq" cmpd="sng">
            <a:solidFill>
              <a:srgbClr val="21BFC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108" name="Google Shape;108;p23"/>
          <p:cNvSpPr/>
          <p:nvPr/>
        </p:nvSpPr>
        <p:spPr>
          <a:xfrm>
            <a:off x="4581237" y="329912"/>
            <a:ext cx="7525038" cy="387350"/>
          </a:xfrm>
          <a:prstGeom prst="parallelogram">
            <a:avLst>
              <a:gd name="adj" fmla="val 0"/>
            </a:avLst>
          </a:prstGeom>
          <a:solidFill>
            <a:srgbClr val="21BFCA"/>
          </a:solidFill>
          <a:ln w="161925" cap="sq" cmpd="sng">
            <a:solidFill>
              <a:srgbClr val="21BFC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109" name="Google Shape;109;p23"/>
          <p:cNvSpPr/>
          <p:nvPr/>
        </p:nvSpPr>
        <p:spPr>
          <a:xfrm>
            <a:off x="2066647" y="271786"/>
            <a:ext cx="6678682"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zh-TW" sz="2800" b="0" i="0" u="none" strike="noStrike" cap="none">
                <a:solidFill>
                  <a:srgbClr val="FFFFFF"/>
                </a:solidFill>
                <a:latin typeface="Microsoft JhengHei"/>
                <a:ea typeface="Microsoft JhengHei"/>
                <a:cs typeface="Microsoft JhengHei"/>
                <a:sym typeface="Microsoft JhengHei"/>
              </a:rPr>
              <a:t>各變數與業務員違約之相關性分析</a:t>
            </a:r>
            <a:endParaRPr sz="2800" b="0" i="0" u="none" strike="noStrike" cap="none">
              <a:solidFill>
                <a:srgbClr val="FFFFFF"/>
              </a:solidFill>
              <a:latin typeface="Microsoft JhengHei"/>
              <a:ea typeface="Microsoft JhengHei"/>
              <a:cs typeface="Microsoft JhengHei"/>
              <a:sym typeface="Microsoft JhengHei"/>
            </a:endParaRPr>
          </a:p>
        </p:txBody>
      </p:sp>
      <p:cxnSp>
        <p:nvCxnSpPr>
          <p:cNvPr id="110" name="Google Shape;110;p23"/>
          <p:cNvCxnSpPr/>
          <p:nvPr/>
        </p:nvCxnSpPr>
        <p:spPr>
          <a:xfrm>
            <a:off x="157389" y="1269734"/>
            <a:ext cx="1224000" cy="0"/>
          </a:xfrm>
          <a:prstGeom prst="straightConnector1">
            <a:avLst/>
          </a:prstGeom>
          <a:noFill/>
          <a:ln w="15875" cap="rnd" cmpd="sng">
            <a:solidFill>
              <a:srgbClr val="21BFCA"/>
            </a:solidFill>
            <a:prstDash val="solid"/>
            <a:round/>
            <a:headEnd type="none" w="sm" len="sm"/>
            <a:tailEnd type="none" w="sm" len="sm"/>
          </a:ln>
        </p:spPr>
      </p:cxnSp>
      <p:graphicFrame>
        <p:nvGraphicFramePr>
          <p:cNvPr id="111" name="Google Shape;111;p23"/>
          <p:cNvGraphicFramePr/>
          <p:nvPr/>
        </p:nvGraphicFramePr>
        <p:xfrm>
          <a:off x="298393" y="6487160"/>
          <a:ext cx="11096375" cy="370850"/>
        </p:xfrm>
        <a:graphic>
          <a:graphicData uri="http://schemas.openxmlformats.org/drawingml/2006/table">
            <a:tbl>
              <a:tblPr firstRow="1" bandRow="1">
                <a:noFill/>
                <a:tableStyleId>{72FCF9FF-86DD-4F90-83C7-D16C962093AE}</a:tableStyleId>
              </a:tblPr>
              <a:tblGrid>
                <a:gridCol w="11096375">
                  <a:extLst>
                    <a:ext uri="{9D8B030D-6E8A-4147-A177-3AD203B41FA5}">
                      <a16:colId xmlns:a16="http://schemas.microsoft.com/office/drawing/2014/main" val="20000"/>
                    </a:ext>
                  </a:extLst>
                </a:gridCol>
              </a:tblGrid>
              <a:tr h="370850">
                <a:tc>
                  <a:txBody>
                    <a:bodyPr/>
                    <a:lstStyle/>
                    <a:p>
                      <a:pPr marL="0" marR="0" lvl="0" indent="0" algn="ctr" rtl="0">
                        <a:lnSpc>
                          <a:spcPct val="150000"/>
                        </a:lnSpc>
                        <a:spcBef>
                          <a:spcPts val="0"/>
                        </a:spcBef>
                        <a:spcAft>
                          <a:spcPts val="0"/>
                        </a:spcAft>
                        <a:buClr>
                          <a:srgbClr val="BFBFBF"/>
                        </a:buClr>
                        <a:buSzPts val="700"/>
                        <a:buFont typeface="Malgun Gothic"/>
                        <a:buNone/>
                      </a:pPr>
                      <a:r>
                        <a:rPr lang="zh-TW" sz="700" b="0" i="0" u="none" strike="noStrike" cap="none" dirty="0">
                          <a:solidFill>
                            <a:srgbClr val="BFBFBF"/>
                          </a:solidFill>
                          <a:latin typeface="Malgun Gothic"/>
                          <a:ea typeface="Malgun Gothic"/>
                          <a:cs typeface="Malgun Gothic"/>
                          <a:sym typeface="Malgun Gothic"/>
                        </a:rPr>
                        <a:t>Enjoy your stylish business and campus life with BIZCAM</a:t>
                      </a:r>
                      <a:endParaRPr sz="4800" b="0" i="0" u="none" strike="noStrike" cap="none" dirty="0">
                        <a:solidFill>
                          <a:srgbClr val="BFBFBF"/>
                        </a:solidFill>
                        <a:latin typeface="Malgun Gothic"/>
                        <a:ea typeface="Malgun Gothic"/>
                        <a:cs typeface="Malgun Gothic"/>
                        <a:sym typeface="Malgun Gothic"/>
                      </a:endParaRPr>
                    </a:p>
                  </a:txBody>
                  <a:tcPr marL="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112" name="Google Shape;112;p23"/>
          <p:cNvSpPr/>
          <p:nvPr/>
        </p:nvSpPr>
        <p:spPr>
          <a:xfrm>
            <a:off x="158593" y="808069"/>
            <a:ext cx="540533"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zh-TW" sz="2400" b="1" i="1" u="none" strike="noStrike" cap="none" dirty="0">
                <a:solidFill>
                  <a:srgbClr val="21BFCA"/>
                </a:solidFill>
                <a:latin typeface="Malgun Gothic"/>
                <a:ea typeface="Malgun Gothic"/>
                <a:cs typeface="Malgun Gothic"/>
                <a:sym typeface="Malgun Gothic"/>
              </a:rPr>
              <a:t>0</a:t>
            </a:r>
            <a:r>
              <a:rPr lang="en-US" altLang="zh-TW" sz="2400" b="1" i="1" dirty="0">
                <a:solidFill>
                  <a:srgbClr val="21BFCA"/>
                </a:solidFill>
                <a:latin typeface="Malgun Gothic"/>
                <a:ea typeface="Malgun Gothic"/>
                <a:cs typeface="Malgun Gothic"/>
                <a:sym typeface="Malgun Gothic"/>
              </a:rPr>
              <a:t>1</a:t>
            </a:r>
            <a:endParaRPr sz="2400" b="0" i="0" u="none" strike="noStrike" cap="none" dirty="0">
              <a:solidFill>
                <a:srgbClr val="21BFCA"/>
              </a:solidFill>
              <a:latin typeface="Malgun Gothic"/>
              <a:ea typeface="Malgun Gothic"/>
              <a:cs typeface="Malgun Gothic"/>
              <a:sym typeface="Malgun Gothic"/>
            </a:endParaRPr>
          </a:p>
        </p:txBody>
      </p:sp>
      <p:sp>
        <p:nvSpPr>
          <p:cNvPr id="113" name="Google Shape;113;p23"/>
          <p:cNvSpPr txBox="1"/>
          <p:nvPr/>
        </p:nvSpPr>
        <p:spPr>
          <a:xfrm>
            <a:off x="1381389" y="1269734"/>
            <a:ext cx="9232200" cy="493977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600"/>
              </a:spcAft>
              <a:buClr>
                <a:srgbClr val="000000"/>
              </a:buClr>
              <a:buSzPts val="2400"/>
              <a:buFont typeface="Arial"/>
              <a:buNone/>
            </a:pPr>
            <a:r>
              <a:rPr lang="zh-TW" altLang="en-US" sz="2000" b="1" i="0" u="none" strike="noStrike" cap="none" dirty="0">
                <a:solidFill>
                  <a:srgbClr val="002060"/>
                </a:solidFill>
                <a:latin typeface="Microsoft JhengHei"/>
                <a:ea typeface="Microsoft JhengHei"/>
                <a:cs typeface="Microsoft JhengHei"/>
                <a:sym typeface="Microsoft JhengHei"/>
              </a:rPr>
              <a:t>數值資料</a:t>
            </a:r>
            <a:endParaRPr lang="en-US" altLang="zh-TW" sz="2000" b="1" i="0" u="none" strike="noStrike" cap="none" dirty="0">
              <a:solidFill>
                <a:srgbClr val="002060"/>
              </a:solidFill>
              <a:latin typeface="Microsoft JhengHei"/>
              <a:ea typeface="Microsoft JhengHei"/>
              <a:cs typeface="Microsoft JhengHei"/>
              <a:sym typeface="Microsoft JhengHei"/>
            </a:endParaRPr>
          </a:p>
          <a:p>
            <a:pPr>
              <a:spcAft>
                <a:spcPts val="600"/>
              </a:spcAft>
              <a:buSzPts val="2400"/>
            </a:pPr>
            <a:r>
              <a:rPr lang="en-US" altLang="zh-TW" sz="1800" dirty="0">
                <a:solidFill>
                  <a:schemeClr val="tx1"/>
                </a:solidFill>
                <a:latin typeface="Microsoft JhengHei"/>
                <a:ea typeface="Microsoft JhengHei"/>
                <a:cs typeface="Microsoft JhengHei"/>
                <a:sym typeface="Microsoft JhengHei"/>
              </a:rPr>
              <a:t>Step 1 </a:t>
            </a:r>
            <a:r>
              <a:rPr lang="zh-TW" altLang="en-US" sz="1800" dirty="0">
                <a:solidFill>
                  <a:schemeClr val="tx1"/>
                </a:solidFill>
                <a:latin typeface="Microsoft JhengHei"/>
                <a:ea typeface="Microsoft JhengHei"/>
                <a:cs typeface="Microsoft JhengHei"/>
                <a:sym typeface="Microsoft JhengHei"/>
              </a:rPr>
              <a:t>檢測</a:t>
            </a:r>
            <a:r>
              <a:rPr lang="en-US" altLang="zh-TW" sz="1800" dirty="0">
                <a:solidFill>
                  <a:schemeClr val="tx1"/>
                </a:solidFill>
                <a:latin typeface="Microsoft JhengHei"/>
                <a:ea typeface="Microsoft JhengHei"/>
                <a:cs typeface="Microsoft JhengHei"/>
                <a:sym typeface="Microsoft JhengHei"/>
              </a:rPr>
              <a:t>X</a:t>
            </a:r>
            <a:r>
              <a:rPr lang="zh-TW" altLang="en-US" sz="1800" dirty="0">
                <a:solidFill>
                  <a:schemeClr val="tx1"/>
                </a:solidFill>
                <a:latin typeface="Microsoft JhengHei"/>
                <a:ea typeface="Microsoft JhengHei"/>
                <a:cs typeface="Microsoft JhengHei"/>
                <a:sym typeface="Microsoft JhengHei"/>
              </a:rPr>
              <a:t>之間的相關性，去除相關性過高的因子</a:t>
            </a:r>
          </a:p>
          <a:p>
            <a:pPr lvl="0">
              <a:spcAft>
                <a:spcPts val="600"/>
              </a:spcAft>
              <a:buSzPts val="2400"/>
            </a:pPr>
            <a:r>
              <a:rPr lang="en-US" altLang="zh-TW" sz="1800" dirty="0">
                <a:solidFill>
                  <a:schemeClr val="tx1"/>
                </a:solidFill>
                <a:latin typeface="Microsoft JhengHei"/>
                <a:ea typeface="Microsoft JhengHei"/>
                <a:cs typeface="Microsoft JhengHei"/>
                <a:sym typeface="Microsoft JhengHei"/>
              </a:rPr>
              <a:t>Step 2 </a:t>
            </a:r>
            <a:r>
              <a:rPr lang="zh-TW" altLang="zh-TW" sz="1800" dirty="0">
                <a:solidFill>
                  <a:schemeClr val="tx1"/>
                </a:solidFill>
                <a:latin typeface="Microsoft JhengHei"/>
                <a:ea typeface="Microsoft JhengHei"/>
                <a:cs typeface="Microsoft JhengHei"/>
                <a:sym typeface="Microsoft JhengHei"/>
              </a:rPr>
              <a:t>以Point-biserial Correlation Coefficient找出</a:t>
            </a:r>
            <a:r>
              <a:rPr lang="zh-TW" altLang="en-US" sz="1800" dirty="0">
                <a:solidFill>
                  <a:schemeClr val="tx1"/>
                </a:solidFill>
                <a:latin typeface="Microsoft JhengHei"/>
                <a:ea typeface="Microsoft JhengHei"/>
                <a:cs typeface="Microsoft JhengHei"/>
                <a:sym typeface="Microsoft JhengHei"/>
              </a:rPr>
              <a:t>處理後資料之</a:t>
            </a:r>
            <a:r>
              <a:rPr lang="zh-TW" altLang="zh-TW" sz="1800" dirty="0">
                <a:solidFill>
                  <a:schemeClr val="tx1"/>
                </a:solidFill>
                <a:latin typeface="Microsoft JhengHei"/>
                <a:ea typeface="Microsoft JhengHei"/>
                <a:cs typeface="Microsoft JhengHei"/>
                <a:sym typeface="Microsoft JhengHei"/>
              </a:rPr>
              <a:t>相關性</a:t>
            </a:r>
            <a:endParaRPr lang="en-US" altLang="zh-TW" sz="1800" i="0" u="none" strike="noStrike" cap="none" dirty="0">
              <a:solidFill>
                <a:schemeClr val="tx1"/>
              </a:solidFill>
              <a:latin typeface="Microsoft JhengHei"/>
              <a:ea typeface="Microsoft JhengHei"/>
              <a:cs typeface="Microsoft JhengHei"/>
              <a:sym typeface="Microsoft JhengHei"/>
            </a:endParaRPr>
          </a:p>
          <a:p>
            <a:pPr>
              <a:buSzPts val="2400"/>
            </a:pPr>
            <a:r>
              <a:rPr lang="en-US" altLang="zh-TW" sz="1800" dirty="0">
                <a:solidFill>
                  <a:schemeClr val="tx1"/>
                </a:solidFill>
                <a:latin typeface="微軟正黑體" panose="020B0604030504040204" pitchFamily="34" charset="-120"/>
                <a:ea typeface="微軟正黑體" panose="020B0604030504040204" pitchFamily="34" charset="-120"/>
                <a:cs typeface="Microsoft JhengHei"/>
                <a:sym typeface="Microsoft JhengHei"/>
              </a:rPr>
              <a:t>Step 3 </a:t>
            </a:r>
            <a:r>
              <a:rPr lang="zh-TW" altLang="en-US" sz="1800" dirty="0">
                <a:solidFill>
                  <a:schemeClr val="tx1"/>
                </a:solidFill>
                <a:latin typeface="微軟正黑體" panose="020B0604030504040204" pitchFamily="34" charset="-120"/>
                <a:ea typeface="微軟正黑體" panose="020B0604030504040204" pitchFamily="34" charset="-120"/>
                <a:cs typeface="Microsoft JhengHei"/>
                <a:sym typeface="Microsoft JhengHei"/>
              </a:rPr>
              <a:t>以</a:t>
            </a:r>
            <a:r>
              <a:rPr lang="en-US" altLang="zh-TW" sz="1800" dirty="0">
                <a:solidFill>
                  <a:schemeClr val="tx1"/>
                </a:solidFill>
                <a:latin typeface="微軟正黑體" panose="020B0604030504040204" pitchFamily="34" charset="-120"/>
                <a:ea typeface="微軟正黑體" panose="020B0604030504040204" pitchFamily="34" charset="-120"/>
                <a:cs typeface="Malgun Gothic"/>
                <a:sym typeface="Malgun Gothic"/>
              </a:rPr>
              <a:t>Wilcoxon Rank Sum Test</a:t>
            </a:r>
            <a:r>
              <a:rPr lang="zh-TW" altLang="en-US" sz="1800" dirty="0">
                <a:solidFill>
                  <a:schemeClr val="tx1"/>
                </a:solidFill>
                <a:latin typeface="微軟正黑體" panose="020B0604030504040204" pitchFamily="34" charset="-120"/>
                <a:ea typeface="微軟正黑體" panose="020B0604030504040204" pitchFamily="34" charset="-120"/>
                <a:cs typeface="Microsoft JhengHei"/>
                <a:sym typeface="Microsoft JhengHei"/>
              </a:rPr>
              <a:t>找出數值資料分布在</a:t>
            </a:r>
            <a:r>
              <a:rPr lang="en-US" altLang="zh-TW" sz="1800" dirty="0">
                <a:solidFill>
                  <a:schemeClr val="tx1"/>
                </a:solidFill>
                <a:latin typeface="微軟正黑體" panose="020B0604030504040204" pitchFamily="34" charset="-120"/>
                <a:ea typeface="微軟正黑體" panose="020B0604030504040204" pitchFamily="34" charset="-120"/>
                <a:cs typeface="Microsoft JhengHei"/>
                <a:sym typeface="Microsoft JhengHei"/>
              </a:rPr>
              <a:t>Y=0</a:t>
            </a:r>
            <a:r>
              <a:rPr lang="zh-TW" altLang="en-US" sz="1800" dirty="0">
                <a:solidFill>
                  <a:schemeClr val="tx1"/>
                </a:solidFill>
                <a:latin typeface="微軟正黑體" panose="020B0604030504040204" pitchFamily="34" charset="-120"/>
                <a:ea typeface="微軟正黑體" panose="020B0604030504040204" pitchFamily="34" charset="-120"/>
                <a:cs typeface="Microsoft JhengHei"/>
                <a:sym typeface="Microsoft JhengHei"/>
              </a:rPr>
              <a:t>及</a:t>
            </a:r>
            <a:r>
              <a:rPr lang="en-US" altLang="zh-TW" sz="1800" dirty="0">
                <a:solidFill>
                  <a:schemeClr val="tx1"/>
                </a:solidFill>
                <a:latin typeface="微軟正黑體" panose="020B0604030504040204" pitchFamily="34" charset="-120"/>
                <a:ea typeface="微軟正黑體" panose="020B0604030504040204" pitchFamily="34" charset="-120"/>
                <a:cs typeface="Microsoft JhengHei"/>
                <a:sym typeface="Microsoft JhengHei"/>
              </a:rPr>
              <a:t>Y=1</a:t>
            </a:r>
            <a:r>
              <a:rPr lang="zh-TW" altLang="en-US" sz="1800" dirty="0">
                <a:solidFill>
                  <a:schemeClr val="tx1"/>
                </a:solidFill>
                <a:latin typeface="微軟正黑體" panose="020B0604030504040204" pitchFamily="34" charset="-120"/>
                <a:ea typeface="微軟正黑體" panose="020B0604030504040204" pitchFamily="34" charset="-120"/>
                <a:cs typeface="Microsoft JhengHei"/>
                <a:sym typeface="Microsoft JhengHei"/>
              </a:rPr>
              <a:t>是否不同</a:t>
            </a:r>
            <a:endParaRPr lang="en-US" altLang="zh-TW" sz="1800" dirty="0">
              <a:solidFill>
                <a:schemeClr val="tx1"/>
              </a:solidFill>
              <a:latin typeface="微軟正黑體" panose="020B0604030504040204" pitchFamily="34" charset="-120"/>
              <a:ea typeface="微軟正黑體" panose="020B0604030504040204" pitchFamily="34" charset="-120"/>
              <a:cs typeface="Microsoft JhengHei"/>
              <a:sym typeface="Microsoft JhengHei"/>
            </a:endParaRPr>
          </a:p>
          <a:p>
            <a:pPr>
              <a:spcBef>
                <a:spcPts val="600"/>
              </a:spcBef>
              <a:spcAft>
                <a:spcPts val="600"/>
              </a:spcAft>
              <a:buSzPts val="2400"/>
            </a:pPr>
            <a:r>
              <a:rPr lang="zh-TW" altLang="en-US" sz="2000" b="1" dirty="0">
                <a:solidFill>
                  <a:srgbClr val="002060"/>
                </a:solidFill>
                <a:latin typeface="微軟正黑體" panose="020B0604030504040204" pitchFamily="34" charset="-120"/>
                <a:ea typeface="微軟正黑體" panose="020B0604030504040204" pitchFamily="34" charset="-120"/>
                <a:cs typeface="Microsoft JhengHei"/>
                <a:sym typeface="Microsoft JhengHei"/>
              </a:rPr>
              <a:t>類別資料</a:t>
            </a:r>
            <a:endParaRPr lang="en-US" altLang="zh-TW" sz="2000" b="1" dirty="0">
              <a:solidFill>
                <a:srgbClr val="002060"/>
              </a:solidFill>
              <a:latin typeface="微軟正黑體" panose="020B0604030504040204" pitchFamily="34" charset="-120"/>
              <a:ea typeface="微軟正黑體" panose="020B0604030504040204" pitchFamily="34" charset="-120"/>
              <a:cs typeface="Microsoft JhengHei"/>
              <a:sym typeface="Microsoft JhengHei"/>
            </a:endParaRPr>
          </a:p>
          <a:p>
            <a:pPr>
              <a:spcAft>
                <a:spcPts val="600"/>
              </a:spcAft>
              <a:buSzPts val="2400"/>
            </a:pPr>
            <a:r>
              <a:rPr lang="zh-TW" altLang="en-US" sz="1800" dirty="0">
                <a:solidFill>
                  <a:schemeClr val="tx1"/>
                </a:solidFill>
                <a:latin typeface="微軟正黑體" panose="020B0604030504040204" pitchFamily="34" charset="-120"/>
                <a:ea typeface="微軟正黑體" panose="020B0604030504040204" pitchFamily="34" charset="-120"/>
                <a:cs typeface="Microsoft JhengHei"/>
                <a:sym typeface="Microsoft JhengHei"/>
              </a:rPr>
              <a:t>使用克雷默</a:t>
            </a:r>
            <a:r>
              <a:rPr lang="en-US" altLang="zh-TW" sz="1800" dirty="0">
                <a:solidFill>
                  <a:schemeClr val="tx1"/>
                </a:solidFill>
                <a:latin typeface="微軟正黑體" panose="020B0604030504040204" pitchFamily="34" charset="-120"/>
                <a:ea typeface="微軟正黑體" panose="020B0604030504040204" pitchFamily="34" charset="-120"/>
                <a:cs typeface="Microsoft JhengHei"/>
                <a:sym typeface="Microsoft JhengHei"/>
              </a:rPr>
              <a:t>V</a:t>
            </a:r>
            <a:r>
              <a:rPr lang="zh-TW" altLang="en-US" sz="1800" dirty="0">
                <a:solidFill>
                  <a:schemeClr val="tx1"/>
                </a:solidFill>
                <a:latin typeface="微軟正黑體" panose="020B0604030504040204" pitchFamily="34" charset="-120"/>
                <a:ea typeface="微軟正黑體" panose="020B0604030504040204" pitchFamily="34" charset="-120"/>
                <a:cs typeface="Microsoft JhengHei"/>
                <a:sym typeface="Microsoft JhengHei"/>
              </a:rPr>
              <a:t>係數</a:t>
            </a:r>
            <a:endParaRPr lang="en-US" altLang="zh-TW" sz="1800" dirty="0">
              <a:solidFill>
                <a:schemeClr val="tx1"/>
              </a:solidFill>
              <a:latin typeface="微軟正黑體" panose="020B0604030504040204" pitchFamily="34" charset="-120"/>
              <a:ea typeface="微軟正黑體" panose="020B0604030504040204" pitchFamily="34" charset="-120"/>
              <a:cs typeface="Microsoft JhengHei"/>
              <a:sym typeface="Microsoft JhengHei"/>
            </a:endParaRPr>
          </a:p>
          <a:p>
            <a:pPr>
              <a:buSzPts val="2400"/>
            </a:pPr>
            <a:r>
              <a:rPr lang="zh-TW" altLang="en-US" sz="1800" b="1" dirty="0">
                <a:solidFill>
                  <a:schemeClr val="tx1"/>
                </a:solidFill>
                <a:latin typeface="微軟正黑體" panose="020B0604030504040204" pitchFamily="34" charset="-120"/>
                <a:ea typeface="微軟正黑體" panose="020B0604030504040204" pitchFamily="34" charset="-120"/>
                <a:cs typeface="Microsoft JhengHei"/>
                <a:sym typeface="Microsoft JhengHei"/>
              </a:rPr>
              <a:t>與舞弊前五大相關變數</a:t>
            </a:r>
          </a:p>
          <a:p>
            <a:pPr lvl="0">
              <a:spcBef>
                <a:spcPts val="600"/>
              </a:spcBef>
              <a:buSzPts val="2000"/>
            </a:pPr>
            <a:r>
              <a:rPr lang="en-US" altLang="zh-TW" sz="1800" dirty="0">
                <a:solidFill>
                  <a:schemeClr val="dk1"/>
                </a:solidFill>
                <a:latin typeface="Microsoft JhengHei"/>
                <a:ea typeface="Microsoft JhengHei"/>
                <a:cs typeface="Microsoft JhengHei"/>
                <a:sym typeface="Microsoft JhengHei"/>
              </a:rPr>
              <a:t>1.</a:t>
            </a:r>
            <a:r>
              <a:rPr lang="zh-TW" altLang="en-US" sz="1800" dirty="0">
                <a:solidFill>
                  <a:schemeClr val="dk1"/>
                </a:solidFill>
                <a:latin typeface="Microsoft JhengHei"/>
                <a:ea typeface="Microsoft JhengHei"/>
                <a:cs typeface="Microsoft JhengHei"/>
                <a:sym typeface="Microsoft JhengHei"/>
              </a:rPr>
              <a:t>過往舞弊</a:t>
            </a:r>
            <a:r>
              <a:rPr lang="en-US" altLang="zh-TW" sz="1800" dirty="0">
                <a:solidFill>
                  <a:schemeClr val="dk1"/>
                </a:solidFill>
                <a:latin typeface="Microsoft JhengHei"/>
                <a:ea typeface="Microsoft JhengHei"/>
                <a:cs typeface="Microsoft JhengHei"/>
                <a:sym typeface="Microsoft JhengHei"/>
              </a:rPr>
              <a:t>(</a:t>
            </a:r>
            <a:r>
              <a:rPr lang="zh-TW" altLang="en-US" sz="1800" dirty="0">
                <a:solidFill>
                  <a:schemeClr val="dk1"/>
                </a:solidFill>
                <a:latin typeface="Microsoft JhengHei"/>
                <a:ea typeface="Microsoft JhengHei"/>
                <a:cs typeface="Microsoft JhengHei"/>
                <a:sym typeface="Microsoft JhengHei"/>
              </a:rPr>
              <a:t>含偽簽</a:t>
            </a:r>
            <a:r>
              <a:rPr lang="en-US" altLang="zh-TW" sz="1800" dirty="0">
                <a:solidFill>
                  <a:schemeClr val="dk1"/>
                </a:solidFill>
                <a:latin typeface="Microsoft JhengHei"/>
                <a:ea typeface="Microsoft JhengHei"/>
                <a:cs typeface="Microsoft JhengHei"/>
                <a:sym typeface="Microsoft JhengHei"/>
              </a:rPr>
              <a:t>/</a:t>
            </a:r>
            <a:r>
              <a:rPr lang="zh-TW" altLang="en-US" sz="1800" dirty="0">
                <a:solidFill>
                  <a:schemeClr val="dk1"/>
                </a:solidFill>
                <a:latin typeface="Microsoft JhengHei"/>
                <a:ea typeface="Microsoft JhengHei"/>
                <a:cs typeface="Microsoft JhengHei"/>
                <a:sym typeface="Microsoft JhengHei"/>
              </a:rPr>
              <a:t>代簽</a:t>
            </a:r>
            <a:r>
              <a:rPr lang="en-US" altLang="zh-TW" sz="1800" dirty="0">
                <a:solidFill>
                  <a:schemeClr val="dk1"/>
                </a:solidFill>
                <a:latin typeface="Microsoft JhengHei"/>
                <a:ea typeface="Microsoft JhengHei"/>
                <a:cs typeface="Microsoft JhengHei"/>
                <a:sym typeface="Microsoft JhengHei"/>
              </a:rPr>
              <a:t>)</a:t>
            </a:r>
            <a:r>
              <a:rPr lang="zh-TW" altLang="en-US" sz="1800" dirty="0">
                <a:solidFill>
                  <a:schemeClr val="dk1"/>
                </a:solidFill>
                <a:latin typeface="Microsoft JhengHei"/>
                <a:ea typeface="Microsoft JhengHei"/>
                <a:cs typeface="Microsoft JhengHei"/>
                <a:sym typeface="Microsoft JhengHei"/>
              </a:rPr>
              <a:t>次數</a:t>
            </a:r>
          </a:p>
          <a:p>
            <a:pPr lvl="0">
              <a:spcBef>
                <a:spcPts val="1200"/>
              </a:spcBef>
              <a:buSzPts val="2000"/>
            </a:pPr>
            <a:r>
              <a:rPr lang="en-US" altLang="zh-TW" sz="1800" dirty="0">
                <a:solidFill>
                  <a:schemeClr val="dk1"/>
                </a:solidFill>
                <a:latin typeface="Microsoft JhengHei"/>
                <a:ea typeface="Microsoft JhengHei"/>
                <a:cs typeface="Microsoft JhengHei"/>
                <a:sym typeface="Microsoft JhengHei"/>
              </a:rPr>
              <a:t>2.</a:t>
            </a:r>
            <a:r>
              <a:rPr lang="zh-TW" altLang="en-US" sz="1800" dirty="0">
                <a:solidFill>
                  <a:schemeClr val="dk1"/>
                </a:solidFill>
                <a:latin typeface="Microsoft JhengHei"/>
                <a:ea typeface="Microsoft JhengHei"/>
                <a:cs typeface="Microsoft JhengHei"/>
                <a:sym typeface="Microsoft JhengHei"/>
              </a:rPr>
              <a:t>過往不當招攬</a:t>
            </a:r>
            <a:r>
              <a:rPr lang="en-US" altLang="zh-TW" sz="1800" dirty="0">
                <a:solidFill>
                  <a:schemeClr val="dk1"/>
                </a:solidFill>
                <a:latin typeface="Microsoft JhengHei"/>
                <a:ea typeface="Microsoft JhengHei"/>
                <a:cs typeface="Microsoft JhengHei"/>
                <a:sym typeface="Microsoft JhengHei"/>
              </a:rPr>
              <a:t>&amp;</a:t>
            </a:r>
            <a:r>
              <a:rPr lang="zh-TW" altLang="en-US" sz="1800" dirty="0">
                <a:solidFill>
                  <a:schemeClr val="dk1"/>
                </a:solidFill>
                <a:latin typeface="Microsoft JhengHei"/>
                <a:ea typeface="Microsoft JhengHei"/>
                <a:cs typeface="Microsoft JhengHei"/>
                <a:sym typeface="Microsoft JhengHei"/>
              </a:rPr>
              <a:t>未視親簽的次數</a:t>
            </a:r>
          </a:p>
          <a:p>
            <a:pPr lvl="0">
              <a:spcBef>
                <a:spcPts val="1200"/>
              </a:spcBef>
              <a:buSzPts val="2000"/>
            </a:pPr>
            <a:r>
              <a:rPr lang="en-US" altLang="zh-TW" sz="1800" dirty="0">
                <a:solidFill>
                  <a:schemeClr val="dk1"/>
                </a:solidFill>
                <a:latin typeface="Microsoft JhengHei"/>
                <a:ea typeface="Microsoft JhengHei"/>
                <a:cs typeface="Microsoft JhengHei"/>
                <a:sym typeface="Microsoft JhengHei"/>
              </a:rPr>
              <a:t>3.</a:t>
            </a:r>
            <a:r>
              <a:rPr lang="zh-TW" altLang="en-US" sz="1800" dirty="0">
                <a:solidFill>
                  <a:schemeClr val="dk1"/>
                </a:solidFill>
                <a:latin typeface="Microsoft JhengHei"/>
                <a:ea typeface="Microsoft JhengHei"/>
                <a:cs typeface="Microsoft JhengHei"/>
                <a:sym typeface="Microsoft JhengHei"/>
              </a:rPr>
              <a:t>持有失效保單之客戶數</a:t>
            </a:r>
          </a:p>
          <a:p>
            <a:pPr lvl="0">
              <a:spcBef>
                <a:spcPts val="1200"/>
              </a:spcBef>
              <a:buSzPts val="2000"/>
            </a:pPr>
            <a:r>
              <a:rPr lang="en-US" altLang="zh-TW" sz="1800" dirty="0">
                <a:solidFill>
                  <a:schemeClr val="dk1"/>
                </a:solidFill>
                <a:latin typeface="Microsoft JhengHei"/>
                <a:ea typeface="Microsoft JhengHei"/>
                <a:cs typeface="Microsoft JhengHei"/>
                <a:sym typeface="Microsoft JhengHei"/>
              </a:rPr>
              <a:t>4.</a:t>
            </a:r>
            <a:r>
              <a:rPr lang="zh-TW" altLang="en-US" sz="1800" dirty="0">
                <a:solidFill>
                  <a:schemeClr val="dk1"/>
                </a:solidFill>
                <a:latin typeface="Microsoft JhengHei"/>
                <a:ea typeface="Microsoft JhengHei"/>
                <a:cs typeface="Microsoft JhengHei"/>
                <a:sym typeface="Microsoft JhengHei"/>
              </a:rPr>
              <a:t>墊繳保單數比例</a:t>
            </a:r>
          </a:p>
          <a:p>
            <a:pPr lvl="0">
              <a:spcBef>
                <a:spcPts val="1200"/>
              </a:spcBef>
              <a:buSzPts val="2000"/>
            </a:pPr>
            <a:r>
              <a:rPr lang="en-US" altLang="zh-TW" sz="1800" dirty="0">
                <a:solidFill>
                  <a:schemeClr val="dk1"/>
                </a:solidFill>
                <a:latin typeface="Microsoft JhengHei"/>
                <a:ea typeface="Microsoft JhengHei"/>
                <a:cs typeface="Microsoft JhengHei"/>
                <a:sym typeface="Microsoft JhengHei"/>
              </a:rPr>
              <a:t>5.</a:t>
            </a:r>
            <a:r>
              <a:rPr lang="zh-TW" altLang="en-US" sz="1800" dirty="0">
                <a:solidFill>
                  <a:schemeClr val="dk1"/>
                </a:solidFill>
                <a:latin typeface="Microsoft JhengHei"/>
                <a:ea typeface="Microsoft JhengHei"/>
                <a:cs typeface="Microsoft JhengHei"/>
                <a:sym typeface="Microsoft JhengHei"/>
              </a:rPr>
              <a:t>拒賠件數</a:t>
            </a:r>
          </a:p>
          <a:p>
            <a:pPr marL="0" marR="0" lvl="0" indent="0" algn="l" rtl="0">
              <a:lnSpc>
                <a:spcPct val="100000"/>
              </a:lnSpc>
              <a:spcBef>
                <a:spcPts val="0"/>
              </a:spcBef>
              <a:spcAft>
                <a:spcPts val="0"/>
              </a:spcAft>
              <a:buClr>
                <a:srgbClr val="000000"/>
              </a:buClr>
              <a:buSzPts val="2400"/>
              <a:buFont typeface="Arial"/>
              <a:buNone/>
            </a:pPr>
            <a:endParaRPr sz="2000" b="1" i="0" u="none" strike="noStrike" cap="none" dirty="0">
              <a:solidFill>
                <a:srgbClr val="002060"/>
              </a:solidFill>
              <a:latin typeface="Microsoft JhengHei"/>
              <a:ea typeface="Microsoft JhengHei"/>
              <a:cs typeface="Microsoft JhengHei"/>
              <a:sym typeface="Microsoft JhengHei"/>
            </a:endParaRPr>
          </a:p>
        </p:txBody>
      </p:sp>
      <p:graphicFrame>
        <p:nvGraphicFramePr>
          <p:cNvPr id="10" name="Google Shape;275;gded498c5cf_0_0"/>
          <p:cNvGraphicFramePr/>
          <p:nvPr>
            <p:extLst>
              <p:ext uri="{D42A27DB-BD31-4B8C-83A1-F6EECF244321}">
                <p14:modId xmlns:p14="http://schemas.microsoft.com/office/powerpoint/2010/main" val="2218868156"/>
              </p:ext>
            </p:extLst>
          </p:nvPr>
        </p:nvGraphicFramePr>
        <p:xfrm>
          <a:off x="298393" y="6487160"/>
          <a:ext cx="11096375" cy="371930"/>
        </p:xfrm>
        <a:graphic>
          <a:graphicData uri="http://schemas.openxmlformats.org/drawingml/2006/table">
            <a:tbl>
              <a:tblPr firstRow="1" bandRow="1">
                <a:noFill/>
                <a:tableStyleId>{72FCF9FF-86DD-4F90-83C7-D16C962093AE}</a:tableStyleId>
              </a:tblPr>
              <a:tblGrid>
                <a:gridCol w="11096375">
                  <a:extLst>
                    <a:ext uri="{9D8B030D-6E8A-4147-A177-3AD203B41FA5}">
                      <a16:colId xmlns:a16="http://schemas.microsoft.com/office/drawing/2014/main" val="20000"/>
                    </a:ext>
                  </a:extLst>
                </a:gridCol>
              </a:tblGrid>
              <a:tr h="370850">
                <a:tc>
                  <a:txBody>
                    <a:bodyPr/>
                    <a:lstStyle/>
                    <a:p>
                      <a:pPr marL="0" marR="0" lvl="0" indent="0" algn="ctr" rtl="0">
                        <a:lnSpc>
                          <a:spcPct val="150000"/>
                        </a:lnSpc>
                        <a:spcBef>
                          <a:spcPts val="0"/>
                        </a:spcBef>
                        <a:spcAft>
                          <a:spcPts val="0"/>
                        </a:spcAft>
                        <a:buClr>
                          <a:srgbClr val="BFBFBF"/>
                        </a:buClr>
                        <a:buSzPts val="700"/>
                        <a:buFont typeface="Malgun Gothic"/>
                        <a:buNone/>
                      </a:pPr>
                      <a:r>
                        <a:rPr lang="en-US" altLang="zh-TW" sz="1400" b="0" i="0" u="none" strike="noStrike" cap="none" dirty="0">
                          <a:solidFill>
                            <a:schemeClr val="bg1"/>
                          </a:solidFill>
                          <a:latin typeface="Cambria Math" panose="02040503050406030204" pitchFamily="18" charset="0"/>
                          <a:ea typeface="Cambria Math" panose="02040503050406030204" pitchFamily="18" charset="0"/>
                          <a:cs typeface="Malgun Gothic"/>
                          <a:sym typeface="Malgun Gothic"/>
                        </a:rPr>
                        <a:t>3</a:t>
                      </a:r>
                      <a:endParaRPr sz="1400" b="0" i="0" u="none" strike="noStrike" cap="none" dirty="0">
                        <a:solidFill>
                          <a:schemeClr val="bg1"/>
                        </a:solidFill>
                        <a:latin typeface="Cambria Math" panose="02040503050406030204" pitchFamily="18" charset="0"/>
                        <a:ea typeface="Cambria Math" panose="02040503050406030204" pitchFamily="18" charset="0"/>
                        <a:cs typeface="Malgun Gothic"/>
                        <a:sym typeface="Malgun Gothic"/>
                      </a:endParaRPr>
                    </a:p>
                  </a:txBody>
                  <a:tcPr marL="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5813991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9"/>
          <p:cNvSpPr/>
          <p:nvPr/>
        </p:nvSpPr>
        <p:spPr>
          <a:xfrm>
            <a:off x="1848142" y="329912"/>
            <a:ext cx="3194050" cy="387350"/>
          </a:xfrm>
          <a:prstGeom prst="parallelogram">
            <a:avLst>
              <a:gd name="adj" fmla="val 69898"/>
            </a:avLst>
          </a:prstGeom>
          <a:solidFill>
            <a:srgbClr val="21BFCA"/>
          </a:solidFill>
          <a:ln w="161925" cap="sq" cmpd="sng">
            <a:solidFill>
              <a:srgbClr val="1E868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191" name="Google Shape;191;p9"/>
          <p:cNvSpPr/>
          <p:nvPr/>
        </p:nvSpPr>
        <p:spPr>
          <a:xfrm>
            <a:off x="1833992" y="329256"/>
            <a:ext cx="3194050" cy="387350"/>
          </a:xfrm>
          <a:prstGeom prst="parallelogram">
            <a:avLst>
              <a:gd name="adj" fmla="val 69898"/>
            </a:avLst>
          </a:prstGeom>
          <a:solidFill>
            <a:srgbClr val="21BFCA"/>
          </a:solidFill>
          <a:ln w="161925" cap="sq" cmpd="sng">
            <a:solidFill>
              <a:srgbClr val="21BFC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192" name="Google Shape;192;p9"/>
          <p:cNvSpPr/>
          <p:nvPr/>
        </p:nvSpPr>
        <p:spPr>
          <a:xfrm>
            <a:off x="4581237" y="329912"/>
            <a:ext cx="7525038" cy="387350"/>
          </a:xfrm>
          <a:prstGeom prst="parallelogram">
            <a:avLst>
              <a:gd name="adj" fmla="val 0"/>
            </a:avLst>
          </a:prstGeom>
          <a:solidFill>
            <a:srgbClr val="21BFCA"/>
          </a:solidFill>
          <a:ln w="161925" cap="sq" cmpd="sng">
            <a:solidFill>
              <a:srgbClr val="21BFC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193" name="Google Shape;193;p9"/>
          <p:cNvSpPr/>
          <p:nvPr/>
        </p:nvSpPr>
        <p:spPr>
          <a:xfrm>
            <a:off x="2066647" y="271786"/>
            <a:ext cx="6678682"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zh-TW" altLang="en-US" sz="2800" dirty="0">
                <a:solidFill>
                  <a:srgbClr val="FFFFFF"/>
                </a:solidFill>
                <a:latin typeface="Microsoft JhengHei"/>
                <a:ea typeface="Microsoft JhengHei"/>
                <a:cs typeface="Microsoft JhengHei"/>
                <a:sym typeface="Microsoft JhengHei"/>
              </a:rPr>
              <a:t>舞弊人員特性分析 </a:t>
            </a:r>
            <a:r>
              <a:rPr lang="en-US" altLang="zh-TW" sz="2800" dirty="0">
                <a:solidFill>
                  <a:srgbClr val="FFFFFF"/>
                </a:solidFill>
                <a:latin typeface="Microsoft JhengHei"/>
                <a:ea typeface="Microsoft JhengHei"/>
                <a:cs typeface="Microsoft JhengHei"/>
                <a:sym typeface="Microsoft JhengHei"/>
              </a:rPr>
              <a:t>– </a:t>
            </a:r>
            <a:r>
              <a:rPr lang="zh-TW" altLang="en-US" sz="2800" dirty="0">
                <a:solidFill>
                  <a:srgbClr val="FFFFFF"/>
                </a:solidFill>
                <a:latin typeface="Microsoft JhengHei"/>
                <a:ea typeface="Microsoft JhengHei"/>
                <a:cs typeface="Microsoft JhengHei"/>
                <a:sym typeface="Microsoft JhengHei"/>
              </a:rPr>
              <a:t>數值資料</a:t>
            </a:r>
            <a:endParaRPr sz="2800" b="0" i="0" u="none" strike="noStrike" cap="none" dirty="0">
              <a:solidFill>
                <a:srgbClr val="FFFFFF"/>
              </a:solidFill>
              <a:latin typeface="Microsoft JhengHei"/>
              <a:ea typeface="Microsoft JhengHei"/>
              <a:cs typeface="Microsoft JhengHei"/>
              <a:sym typeface="Microsoft JhengHei"/>
            </a:endParaRPr>
          </a:p>
        </p:txBody>
      </p:sp>
      <p:cxnSp>
        <p:nvCxnSpPr>
          <p:cNvPr id="194" name="Google Shape;194;p9"/>
          <p:cNvCxnSpPr/>
          <p:nvPr/>
        </p:nvCxnSpPr>
        <p:spPr>
          <a:xfrm>
            <a:off x="157389" y="1269734"/>
            <a:ext cx="1224000" cy="0"/>
          </a:xfrm>
          <a:prstGeom prst="straightConnector1">
            <a:avLst/>
          </a:prstGeom>
          <a:noFill/>
          <a:ln w="15875" cap="rnd" cmpd="sng">
            <a:solidFill>
              <a:srgbClr val="21BFCA"/>
            </a:solidFill>
            <a:prstDash val="solid"/>
            <a:round/>
            <a:headEnd type="none" w="sm" len="sm"/>
            <a:tailEnd type="none" w="sm" len="sm"/>
          </a:ln>
        </p:spPr>
      </p:cxnSp>
      <p:graphicFrame>
        <p:nvGraphicFramePr>
          <p:cNvPr id="195" name="Google Shape;195;p9"/>
          <p:cNvGraphicFramePr/>
          <p:nvPr>
            <p:extLst>
              <p:ext uri="{D42A27DB-BD31-4B8C-83A1-F6EECF244321}">
                <p14:modId xmlns:p14="http://schemas.microsoft.com/office/powerpoint/2010/main" val="3481867028"/>
              </p:ext>
            </p:extLst>
          </p:nvPr>
        </p:nvGraphicFramePr>
        <p:xfrm>
          <a:off x="298393" y="6487160"/>
          <a:ext cx="11096375" cy="371930"/>
        </p:xfrm>
        <a:graphic>
          <a:graphicData uri="http://schemas.openxmlformats.org/drawingml/2006/table">
            <a:tbl>
              <a:tblPr firstRow="1" bandRow="1">
                <a:noFill/>
                <a:tableStyleId>{72FCF9FF-86DD-4F90-83C7-D16C962093AE}</a:tableStyleId>
              </a:tblPr>
              <a:tblGrid>
                <a:gridCol w="11096375">
                  <a:extLst>
                    <a:ext uri="{9D8B030D-6E8A-4147-A177-3AD203B41FA5}">
                      <a16:colId xmlns:a16="http://schemas.microsoft.com/office/drawing/2014/main" val="20000"/>
                    </a:ext>
                  </a:extLst>
                </a:gridCol>
              </a:tblGrid>
              <a:tr h="370850">
                <a:tc>
                  <a:txBody>
                    <a:bodyPr/>
                    <a:lstStyle/>
                    <a:p>
                      <a:pPr marL="0" marR="0" lvl="0" indent="0" algn="ctr" rtl="0">
                        <a:lnSpc>
                          <a:spcPct val="150000"/>
                        </a:lnSpc>
                        <a:spcBef>
                          <a:spcPts val="0"/>
                        </a:spcBef>
                        <a:spcAft>
                          <a:spcPts val="0"/>
                        </a:spcAft>
                        <a:buClr>
                          <a:srgbClr val="BFBFBF"/>
                        </a:buClr>
                        <a:buSzPts val="700"/>
                        <a:buFont typeface="Malgun Gothic"/>
                        <a:buNone/>
                      </a:pPr>
                      <a:r>
                        <a:rPr lang="en-US" altLang="zh-TW" sz="1400" b="0" i="0" u="none" strike="noStrike" cap="none" dirty="0">
                          <a:solidFill>
                            <a:schemeClr val="bg1"/>
                          </a:solidFill>
                          <a:latin typeface="Cambria Math" panose="02040503050406030204" pitchFamily="18" charset="0"/>
                          <a:ea typeface="Cambria Math" panose="02040503050406030204" pitchFamily="18" charset="0"/>
                          <a:cs typeface="Malgun Gothic"/>
                          <a:sym typeface="Malgun Gothic"/>
                        </a:rPr>
                        <a:t>4</a:t>
                      </a:r>
                      <a:endParaRPr sz="1400" b="0" i="0" u="none" strike="noStrike" cap="none" dirty="0">
                        <a:solidFill>
                          <a:schemeClr val="bg1"/>
                        </a:solidFill>
                        <a:latin typeface="Cambria Math" panose="02040503050406030204" pitchFamily="18" charset="0"/>
                        <a:ea typeface="Cambria Math" panose="02040503050406030204" pitchFamily="18" charset="0"/>
                        <a:cs typeface="Malgun Gothic"/>
                        <a:sym typeface="Malgun Gothic"/>
                      </a:endParaRPr>
                    </a:p>
                  </a:txBody>
                  <a:tcPr marL="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196" name="Google Shape;196;p9"/>
          <p:cNvSpPr/>
          <p:nvPr/>
        </p:nvSpPr>
        <p:spPr>
          <a:xfrm>
            <a:off x="158593" y="808069"/>
            <a:ext cx="540533"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zh-TW" sz="2400" b="1" i="1" u="none" strike="noStrike" cap="none" dirty="0">
                <a:solidFill>
                  <a:srgbClr val="21BFCA"/>
                </a:solidFill>
                <a:latin typeface="Malgun Gothic"/>
                <a:ea typeface="Malgun Gothic"/>
                <a:cs typeface="Malgun Gothic"/>
                <a:sym typeface="Malgun Gothic"/>
              </a:rPr>
              <a:t>0</a:t>
            </a:r>
            <a:r>
              <a:rPr lang="en-US" altLang="zh-TW" sz="2400" b="1" i="1" dirty="0">
                <a:solidFill>
                  <a:srgbClr val="21BFCA"/>
                </a:solidFill>
                <a:latin typeface="Malgun Gothic"/>
                <a:ea typeface="Malgun Gothic"/>
                <a:cs typeface="Malgun Gothic"/>
                <a:sym typeface="Malgun Gothic"/>
              </a:rPr>
              <a:t>1</a:t>
            </a:r>
            <a:endParaRPr sz="2400" b="0" i="0" u="none" strike="noStrike" cap="none" dirty="0">
              <a:solidFill>
                <a:srgbClr val="21BFCA"/>
              </a:solidFill>
              <a:latin typeface="Malgun Gothic"/>
              <a:ea typeface="Malgun Gothic"/>
              <a:cs typeface="Malgun Gothic"/>
              <a:sym typeface="Malgun Gothic"/>
            </a:endParaRPr>
          </a:p>
        </p:txBody>
      </p:sp>
      <p:pic>
        <p:nvPicPr>
          <p:cNvPr id="3" name="圖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2806" y="2224838"/>
            <a:ext cx="5389346" cy="4212477"/>
          </a:xfrm>
          <a:prstGeom prst="rect">
            <a:avLst/>
          </a:prstGeom>
        </p:spPr>
      </p:pic>
      <p:pic>
        <p:nvPicPr>
          <p:cNvPr id="14" name="圖片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22152" y="2174387"/>
            <a:ext cx="5686193" cy="4313380"/>
          </a:xfrm>
          <a:prstGeom prst="rect">
            <a:avLst/>
          </a:prstGeom>
        </p:spPr>
      </p:pic>
      <p:sp>
        <p:nvSpPr>
          <p:cNvPr id="2" name="文字方塊 1"/>
          <p:cNvSpPr txBox="1"/>
          <p:nvPr/>
        </p:nvSpPr>
        <p:spPr>
          <a:xfrm>
            <a:off x="1381389" y="1269734"/>
            <a:ext cx="7037397" cy="2662267"/>
          </a:xfrm>
          <a:prstGeom prst="rect">
            <a:avLst/>
          </a:prstGeom>
          <a:noFill/>
        </p:spPr>
        <p:txBody>
          <a:bodyPr wrap="square" rtlCol="0">
            <a:spAutoFit/>
          </a:bodyPr>
          <a:lstStyle/>
          <a:p>
            <a:pPr>
              <a:spcAft>
                <a:spcPts val="600"/>
              </a:spcAft>
            </a:pPr>
            <a:r>
              <a:rPr lang="zh-TW" altLang="en-US" sz="2400" b="1" dirty="0">
                <a:solidFill>
                  <a:schemeClr val="accent5">
                    <a:lumMod val="50000"/>
                  </a:schemeClr>
                </a:solidFill>
                <a:latin typeface="微軟正黑體" panose="020B0604030504040204" pitchFamily="34" charset="-120"/>
                <a:ea typeface="微軟正黑體" panose="020B0604030504040204" pitchFamily="34" charset="-120"/>
              </a:rPr>
              <a:t>業務表現</a:t>
            </a:r>
            <a:endParaRPr lang="en-US" altLang="zh-TW" sz="2400" b="1" dirty="0">
              <a:solidFill>
                <a:schemeClr val="accent5">
                  <a:lumMod val="50000"/>
                </a:schemeClr>
              </a:solidFill>
              <a:latin typeface="微軟正黑體" panose="020B0604030504040204" pitchFamily="34" charset="-120"/>
              <a:ea typeface="微軟正黑體" panose="020B0604030504040204" pitchFamily="34" charset="-120"/>
            </a:endParaRPr>
          </a:p>
          <a:p>
            <a:pPr marL="342900" indent="-342900">
              <a:spcAft>
                <a:spcPts val="600"/>
              </a:spcAft>
              <a:buFont typeface="Wingdings" panose="05000000000000000000" pitchFamily="2" charset="2"/>
              <a:buChar char="ü"/>
            </a:pPr>
            <a:r>
              <a:rPr lang="zh-TW" altLang="en-US" sz="2000" dirty="0">
                <a:solidFill>
                  <a:schemeClr val="tx1"/>
                </a:solidFill>
                <a:latin typeface="微軟正黑體" panose="020B0604030504040204" pitchFamily="34" charset="-120"/>
                <a:ea typeface="微軟正黑體" panose="020B0604030504040204" pitchFamily="34" charset="-120"/>
              </a:rPr>
              <a:t>短期理賠件數多</a:t>
            </a:r>
            <a:endParaRPr lang="en-US" altLang="zh-TW" sz="2000" dirty="0">
              <a:solidFill>
                <a:schemeClr val="tx1"/>
              </a:solidFill>
              <a:latin typeface="微軟正黑體" panose="020B0604030504040204" pitchFamily="34" charset="-120"/>
              <a:ea typeface="微軟正黑體" panose="020B0604030504040204" pitchFamily="34" charset="-120"/>
            </a:endParaRPr>
          </a:p>
          <a:p>
            <a:pPr marL="342900" indent="-342900">
              <a:spcAft>
                <a:spcPts val="600"/>
              </a:spcAft>
              <a:buFont typeface="Wingdings" panose="05000000000000000000" pitchFamily="2" charset="2"/>
              <a:buChar char="ü"/>
            </a:pPr>
            <a:r>
              <a:rPr lang="zh-TW" altLang="en-US" sz="2000" dirty="0">
                <a:solidFill>
                  <a:schemeClr val="tx1"/>
                </a:solidFill>
                <a:latin typeface="微軟正黑體" panose="020B0604030504040204" pitchFamily="34" charset="-120"/>
                <a:ea typeface="微軟正黑體" panose="020B0604030504040204" pitchFamily="34" charset="-120"/>
              </a:rPr>
              <a:t>業務員更換比高</a:t>
            </a:r>
            <a:endParaRPr lang="en-US" altLang="zh-TW" sz="2000" dirty="0">
              <a:solidFill>
                <a:schemeClr val="tx1"/>
              </a:solidFill>
              <a:latin typeface="微軟正黑體" panose="020B0604030504040204" pitchFamily="34" charset="-120"/>
              <a:ea typeface="微軟正黑體" panose="020B0604030504040204" pitchFamily="34" charset="-120"/>
            </a:endParaRPr>
          </a:p>
          <a:p>
            <a:endParaRPr lang="en-US" altLang="zh-TW" sz="2000" dirty="0">
              <a:solidFill>
                <a:schemeClr val="tx1"/>
              </a:solidFill>
              <a:latin typeface="微軟正黑體" panose="020B0604030504040204" pitchFamily="34" charset="-120"/>
              <a:ea typeface="微軟正黑體" panose="020B0604030504040204" pitchFamily="34" charset="-120"/>
            </a:endParaRPr>
          </a:p>
          <a:p>
            <a:pPr marL="457200" indent="-457200">
              <a:buAutoNum type="arabicPeriod"/>
            </a:pPr>
            <a:endParaRPr lang="en-US" altLang="zh-TW" sz="2000" dirty="0">
              <a:solidFill>
                <a:schemeClr val="tx1"/>
              </a:solidFill>
              <a:latin typeface="微軟正黑體" panose="020B0604030504040204" pitchFamily="34" charset="-120"/>
              <a:ea typeface="微軟正黑體" panose="020B0604030504040204" pitchFamily="34" charset="-120"/>
            </a:endParaRPr>
          </a:p>
          <a:p>
            <a:endParaRPr lang="en-US" altLang="zh-TW" sz="2400" b="1" dirty="0">
              <a:solidFill>
                <a:schemeClr val="accent5">
                  <a:lumMod val="50000"/>
                </a:schemeClr>
              </a:solidFill>
              <a:latin typeface="微軟正黑體" panose="020B0604030504040204" pitchFamily="34" charset="-120"/>
              <a:ea typeface="微軟正黑體" panose="020B0604030504040204" pitchFamily="34" charset="-120"/>
            </a:endParaRPr>
          </a:p>
          <a:p>
            <a:endParaRPr lang="zh-TW" altLang="en-US" sz="2400" b="1" dirty="0">
              <a:solidFill>
                <a:schemeClr val="accent5">
                  <a:lumMod val="50000"/>
                </a:schemeClr>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10465523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9"/>
          <p:cNvSpPr/>
          <p:nvPr/>
        </p:nvSpPr>
        <p:spPr>
          <a:xfrm>
            <a:off x="1848142" y="329912"/>
            <a:ext cx="3194050" cy="387350"/>
          </a:xfrm>
          <a:prstGeom prst="parallelogram">
            <a:avLst>
              <a:gd name="adj" fmla="val 69898"/>
            </a:avLst>
          </a:prstGeom>
          <a:solidFill>
            <a:srgbClr val="21BFCA"/>
          </a:solidFill>
          <a:ln w="161925" cap="sq" cmpd="sng">
            <a:solidFill>
              <a:srgbClr val="1E868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191" name="Google Shape;191;p9"/>
          <p:cNvSpPr/>
          <p:nvPr/>
        </p:nvSpPr>
        <p:spPr>
          <a:xfrm>
            <a:off x="1833992" y="329256"/>
            <a:ext cx="3194050" cy="387350"/>
          </a:xfrm>
          <a:prstGeom prst="parallelogram">
            <a:avLst>
              <a:gd name="adj" fmla="val 69898"/>
            </a:avLst>
          </a:prstGeom>
          <a:solidFill>
            <a:srgbClr val="21BFCA"/>
          </a:solidFill>
          <a:ln w="161925" cap="sq" cmpd="sng">
            <a:solidFill>
              <a:srgbClr val="21BFC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192" name="Google Shape;192;p9"/>
          <p:cNvSpPr/>
          <p:nvPr/>
        </p:nvSpPr>
        <p:spPr>
          <a:xfrm>
            <a:off x="4581237" y="329912"/>
            <a:ext cx="7525038" cy="387350"/>
          </a:xfrm>
          <a:prstGeom prst="parallelogram">
            <a:avLst>
              <a:gd name="adj" fmla="val 0"/>
            </a:avLst>
          </a:prstGeom>
          <a:solidFill>
            <a:srgbClr val="21BFCA"/>
          </a:solidFill>
          <a:ln w="161925" cap="sq" cmpd="sng">
            <a:solidFill>
              <a:srgbClr val="21BFC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193" name="Google Shape;193;p9"/>
          <p:cNvSpPr/>
          <p:nvPr/>
        </p:nvSpPr>
        <p:spPr>
          <a:xfrm>
            <a:off x="2066647" y="271786"/>
            <a:ext cx="6678682" cy="523220"/>
          </a:xfrm>
          <a:prstGeom prst="rect">
            <a:avLst/>
          </a:prstGeom>
          <a:noFill/>
          <a:ln>
            <a:noFill/>
          </a:ln>
        </p:spPr>
        <p:txBody>
          <a:bodyPr spcFirstLastPara="1" wrap="square" lIns="91425" tIns="45700" rIns="91425" bIns="45700" anchor="t" anchorCtr="0">
            <a:spAutoFit/>
          </a:bodyPr>
          <a:lstStyle/>
          <a:p>
            <a:pPr lvl="0">
              <a:buSzPts val="2800"/>
            </a:pPr>
            <a:r>
              <a:rPr lang="zh-TW" altLang="en-US" sz="2800" dirty="0">
                <a:solidFill>
                  <a:srgbClr val="FFFFFF"/>
                </a:solidFill>
                <a:latin typeface="Microsoft JhengHei"/>
                <a:ea typeface="Microsoft JhengHei"/>
                <a:cs typeface="Microsoft JhengHei"/>
                <a:sym typeface="Microsoft JhengHei"/>
              </a:rPr>
              <a:t>舞弊人員特性分析 </a:t>
            </a:r>
            <a:r>
              <a:rPr lang="en-US" altLang="zh-TW" sz="2800" dirty="0">
                <a:solidFill>
                  <a:srgbClr val="FFFFFF"/>
                </a:solidFill>
                <a:latin typeface="Microsoft JhengHei"/>
                <a:ea typeface="Microsoft JhengHei"/>
                <a:cs typeface="Microsoft JhengHei"/>
                <a:sym typeface="Microsoft JhengHei"/>
              </a:rPr>
              <a:t>– </a:t>
            </a:r>
            <a:r>
              <a:rPr lang="zh-TW" altLang="en-US" sz="2800" dirty="0">
                <a:solidFill>
                  <a:srgbClr val="FFFFFF"/>
                </a:solidFill>
                <a:latin typeface="Microsoft JhengHei"/>
                <a:ea typeface="Microsoft JhengHei"/>
                <a:cs typeface="Microsoft JhengHei"/>
                <a:sym typeface="Microsoft JhengHei"/>
              </a:rPr>
              <a:t>數值資料</a:t>
            </a:r>
            <a:endParaRPr sz="2800" b="0" i="0" u="none" strike="noStrike" cap="none" dirty="0">
              <a:solidFill>
                <a:srgbClr val="FFFFFF"/>
              </a:solidFill>
              <a:latin typeface="Microsoft JhengHei"/>
              <a:ea typeface="Microsoft JhengHei"/>
              <a:cs typeface="Microsoft JhengHei"/>
              <a:sym typeface="Microsoft JhengHei"/>
            </a:endParaRPr>
          </a:p>
        </p:txBody>
      </p:sp>
      <p:cxnSp>
        <p:nvCxnSpPr>
          <p:cNvPr id="194" name="Google Shape;194;p9"/>
          <p:cNvCxnSpPr/>
          <p:nvPr/>
        </p:nvCxnSpPr>
        <p:spPr>
          <a:xfrm>
            <a:off x="157389" y="1269734"/>
            <a:ext cx="1224000" cy="0"/>
          </a:xfrm>
          <a:prstGeom prst="straightConnector1">
            <a:avLst/>
          </a:prstGeom>
          <a:noFill/>
          <a:ln w="15875" cap="rnd" cmpd="sng">
            <a:solidFill>
              <a:srgbClr val="21BFCA"/>
            </a:solidFill>
            <a:prstDash val="solid"/>
            <a:round/>
            <a:headEnd type="none" w="sm" len="sm"/>
            <a:tailEnd type="none" w="sm" len="sm"/>
          </a:ln>
        </p:spPr>
      </p:cxnSp>
      <p:graphicFrame>
        <p:nvGraphicFramePr>
          <p:cNvPr id="195" name="Google Shape;195;p9"/>
          <p:cNvGraphicFramePr/>
          <p:nvPr>
            <p:extLst>
              <p:ext uri="{D42A27DB-BD31-4B8C-83A1-F6EECF244321}">
                <p14:modId xmlns:p14="http://schemas.microsoft.com/office/powerpoint/2010/main" val="3070179714"/>
              </p:ext>
            </p:extLst>
          </p:nvPr>
        </p:nvGraphicFramePr>
        <p:xfrm>
          <a:off x="298393" y="6487160"/>
          <a:ext cx="11096375" cy="371930"/>
        </p:xfrm>
        <a:graphic>
          <a:graphicData uri="http://schemas.openxmlformats.org/drawingml/2006/table">
            <a:tbl>
              <a:tblPr firstRow="1" bandRow="1">
                <a:noFill/>
                <a:tableStyleId>{72FCF9FF-86DD-4F90-83C7-D16C962093AE}</a:tableStyleId>
              </a:tblPr>
              <a:tblGrid>
                <a:gridCol w="11096375">
                  <a:extLst>
                    <a:ext uri="{9D8B030D-6E8A-4147-A177-3AD203B41FA5}">
                      <a16:colId xmlns:a16="http://schemas.microsoft.com/office/drawing/2014/main" val="20000"/>
                    </a:ext>
                  </a:extLst>
                </a:gridCol>
              </a:tblGrid>
              <a:tr h="370850">
                <a:tc>
                  <a:txBody>
                    <a:bodyPr/>
                    <a:lstStyle/>
                    <a:p>
                      <a:pPr marL="0" marR="0" lvl="0" indent="0" algn="ctr" rtl="0">
                        <a:lnSpc>
                          <a:spcPct val="150000"/>
                        </a:lnSpc>
                        <a:spcBef>
                          <a:spcPts val="0"/>
                        </a:spcBef>
                        <a:spcAft>
                          <a:spcPts val="0"/>
                        </a:spcAft>
                        <a:buClr>
                          <a:srgbClr val="BFBFBF"/>
                        </a:buClr>
                        <a:buSzPts val="700"/>
                        <a:buFont typeface="Malgun Gothic"/>
                        <a:buNone/>
                      </a:pPr>
                      <a:r>
                        <a:rPr lang="en-US" altLang="zh-TW" sz="1400" b="0" i="0" u="none" strike="noStrike" cap="none" dirty="0">
                          <a:solidFill>
                            <a:schemeClr val="bg1"/>
                          </a:solidFill>
                          <a:latin typeface="Cambria Math" panose="02040503050406030204" pitchFamily="18" charset="0"/>
                          <a:ea typeface="Cambria Math" panose="02040503050406030204" pitchFamily="18" charset="0"/>
                          <a:cs typeface="Malgun Gothic"/>
                          <a:sym typeface="Malgun Gothic"/>
                        </a:rPr>
                        <a:t>5</a:t>
                      </a:r>
                      <a:endParaRPr sz="1400" b="0" i="0" u="none" strike="noStrike" cap="none" dirty="0">
                        <a:solidFill>
                          <a:schemeClr val="bg1"/>
                        </a:solidFill>
                        <a:latin typeface="Cambria Math" panose="02040503050406030204" pitchFamily="18" charset="0"/>
                        <a:ea typeface="Cambria Math" panose="02040503050406030204" pitchFamily="18" charset="0"/>
                        <a:cs typeface="Malgun Gothic"/>
                        <a:sym typeface="Malgun Gothic"/>
                      </a:endParaRPr>
                    </a:p>
                  </a:txBody>
                  <a:tcPr marL="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196" name="Google Shape;196;p9"/>
          <p:cNvSpPr/>
          <p:nvPr/>
        </p:nvSpPr>
        <p:spPr>
          <a:xfrm>
            <a:off x="158593" y="808069"/>
            <a:ext cx="540533"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zh-TW" sz="2400" b="1" i="1" u="none" strike="noStrike" cap="none" dirty="0">
                <a:solidFill>
                  <a:srgbClr val="21BFCA"/>
                </a:solidFill>
                <a:latin typeface="Malgun Gothic"/>
                <a:ea typeface="Malgun Gothic"/>
                <a:cs typeface="Malgun Gothic"/>
                <a:sym typeface="Malgun Gothic"/>
              </a:rPr>
              <a:t>0</a:t>
            </a:r>
            <a:r>
              <a:rPr lang="en-US" altLang="zh-TW" sz="2400" b="1" i="1" dirty="0">
                <a:solidFill>
                  <a:srgbClr val="21BFCA"/>
                </a:solidFill>
                <a:latin typeface="Malgun Gothic"/>
                <a:ea typeface="Malgun Gothic"/>
                <a:cs typeface="Malgun Gothic"/>
                <a:sym typeface="Malgun Gothic"/>
              </a:rPr>
              <a:t>1</a:t>
            </a:r>
            <a:endParaRPr sz="2400" b="0" i="0" u="none" strike="noStrike" cap="none" dirty="0">
              <a:solidFill>
                <a:srgbClr val="21BFCA"/>
              </a:solidFill>
              <a:latin typeface="Malgun Gothic"/>
              <a:ea typeface="Malgun Gothic"/>
              <a:cs typeface="Malgun Gothic"/>
              <a:sym typeface="Malgun Gothic"/>
            </a:endParaRPr>
          </a:p>
        </p:txBody>
      </p:sp>
      <p:sp>
        <p:nvSpPr>
          <p:cNvPr id="17" name="文字方塊 16"/>
          <p:cNvSpPr txBox="1"/>
          <p:nvPr/>
        </p:nvSpPr>
        <p:spPr>
          <a:xfrm>
            <a:off x="5977166" y="3642790"/>
            <a:ext cx="1109429" cy="307777"/>
          </a:xfrm>
          <a:prstGeom prst="rect">
            <a:avLst/>
          </a:prstGeom>
          <a:noFill/>
        </p:spPr>
        <p:txBody>
          <a:bodyPr wrap="square" rtlCol="0">
            <a:spAutoFit/>
          </a:bodyPr>
          <a:lstStyle/>
          <a:p>
            <a:pPr algn="ctr"/>
            <a:r>
              <a:rPr lang="zh-TW" altLang="en-US" dirty="0">
                <a:latin typeface="微軟正黑體" panose="020B0604030504040204" pitchFamily="34" charset="-120"/>
                <a:ea typeface="微軟正黑體" panose="020B0604030504040204" pitchFamily="34" charset="-120"/>
              </a:rPr>
              <a:t>圖十一</a:t>
            </a:r>
          </a:p>
        </p:txBody>
      </p:sp>
      <p:sp>
        <p:nvSpPr>
          <p:cNvPr id="20" name="文字方塊 19"/>
          <p:cNvSpPr txBox="1"/>
          <p:nvPr/>
        </p:nvSpPr>
        <p:spPr>
          <a:xfrm>
            <a:off x="9602597" y="3584007"/>
            <a:ext cx="1109429" cy="307777"/>
          </a:xfrm>
          <a:prstGeom prst="rect">
            <a:avLst/>
          </a:prstGeom>
          <a:noFill/>
        </p:spPr>
        <p:txBody>
          <a:bodyPr wrap="square" rtlCol="0">
            <a:spAutoFit/>
          </a:bodyPr>
          <a:lstStyle/>
          <a:p>
            <a:pPr algn="ctr"/>
            <a:r>
              <a:rPr lang="zh-TW" altLang="en-US" dirty="0">
                <a:latin typeface="微軟正黑體" panose="020B0604030504040204" pitchFamily="34" charset="-120"/>
                <a:ea typeface="微軟正黑體" panose="020B0604030504040204" pitchFamily="34" charset="-120"/>
              </a:rPr>
              <a:t>圖十四</a:t>
            </a:r>
          </a:p>
        </p:txBody>
      </p:sp>
      <p:sp>
        <p:nvSpPr>
          <p:cNvPr id="22" name="文字方塊 21"/>
          <p:cNvSpPr txBox="1"/>
          <p:nvPr/>
        </p:nvSpPr>
        <p:spPr>
          <a:xfrm>
            <a:off x="9643326" y="3584006"/>
            <a:ext cx="1109429" cy="307777"/>
          </a:xfrm>
          <a:prstGeom prst="rect">
            <a:avLst/>
          </a:prstGeom>
          <a:noFill/>
        </p:spPr>
        <p:txBody>
          <a:bodyPr wrap="square" rtlCol="0">
            <a:spAutoFit/>
          </a:bodyPr>
          <a:lstStyle/>
          <a:p>
            <a:pPr algn="ctr"/>
            <a:r>
              <a:rPr lang="zh-TW" altLang="en-US" dirty="0">
                <a:latin typeface="微軟正黑體" panose="020B0604030504040204" pitchFamily="34" charset="-120"/>
                <a:ea typeface="微軟正黑體" panose="020B0604030504040204" pitchFamily="34" charset="-120"/>
              </a:rPr>
              <a:t>圖十四</a:t>
            </a:r>
          </a:p>
        </p:txBody>
      </p:sp>
      <p:pic>
        <p:nvPicPr>
          <p:cNvPr id="5" name="圖片 4">
            <a:extLst>
              <a:ext uri="{FF2B5EF4-FFF2-40B4-BE49-F238E27FC236}">
                <a16:creationId xmlns:a16="http://schemas.microsoft.com/office/drawing/2014/main" id="{E52FD5E8-9B97-4C27-8738-308C86B8D99C}"/>
              </a:ext>
            </a:extLst>
          </p:cNvPr>
          <p:cNvPicPr>
            <a:picLocks noChangeAspect="1"/>
          </p:cNvPicPr>
          <p:nvPr/>
        </p:nvPicPr>
        <p:blipFill>
          <a:blip r:embed="rId3"/>
          <a:stretch>
            <a:fillRect/>
          </a:stretch>
        </p:blipFill>
        <p:spPr>
          <a:xfrm>
            <a:off x="857443" y="2264466"/>
            <a:ext cx="5560073" cy="4220450"/>
          </a:xfrm>
          <a:prstGeom prst="rect">
            <a:avLst/>
          </a:prstGeom>
        </p:spPr>
      </p:pic>
      <p:pic>
        <p:nvPicPr>
          <p:cNvPr id="16" name="圖片 15"/>
          <p:cNvPicPr>
            <a:picLocks noChangeAspect="1"/>
          </p:cNvPicPr>
          <p:nvPr/>
        </p:nvPicPr>
        <p:blipFill rotWithShape="1">
          <a:blip r:embed="rId4">
            <a:extLst>
              <a:ext uri="{28A0092B-C50C-407E-A947-70E740481C1C}">
                <a14:useLocalDpi xmlns:a14="http://schemas.microsoft.com/office/drawing/2010/main" val="0"/>
              </a:ext>
            </a:extLst>
          </a:blip>
          <a:srcRect b="4282"/>
          <a:stretch/>
        </p:blipFill>
        <p:spPr>
          <a:xfrm>
            <a:off x="6315916" y="2167860"/>
            <a:ext cx="5653883" cy="4220451"/>
          </a:xfrm>
          <a:prstGeom prst="rect">
            <a:avLst/>
          </a:prstGeom>
        </p:spPr>
      </p:pic>
      <p:sp>
        <p:nvSpPr>
          <p:cNvPr id="2" name="文字方塊 1"/>
          <p:cNvSpPr txBox="1"/>
          <p:nvPr/>
        </p:nvSpPr>
        <p:spPr>
          <a:xfrm>
            <a:off x="1381389" y="1269734"/>
            <a:ext cx="9172311" cy="1677382"/>
          </a:xfrm>
          <a:prstGeom prst="rect">
            <a:avLst/>
          </a:prstGeom>
          <a:noFill/>
        </p:spPr>
        <p:txBody>
          <a:bodyPr wrap="square" rtlCol="0">
            <a:spAutoFit/>
          </a:bodyPr>
          <a:lstStyle/>
          <a:p>
            <a:pPr>
              <a:spcAft>
                <a:spcPts val="600"/>
              </a:spcAft>
            </a:pPr>
            <a:r>
              <a:rPr lang="zh-TW" altLang="en-US" sz="2400" b="1" dirty="0">
                <a:solidFill>
                  <a:schemeClr val="accent5">
                    <a:lumMod val="50000"/>
                  </a:schemeClr>
                </a:solidFill>
                <a:latin typeface="微軟正黑體" panose="020B0604030504040204" pitchFamily="34" charset="-120"/>
                <a:ea typeface="微軟正黑體" panose="020B0604030504040204" pitchFamily="34" charset="-120"/>
              </a:rPr>
              <a:t>業務表現</a:t>
            </a:r>
            <a:endParaRPr lang="en-US" altLang="zh-TW" sz="2400" b="1" dirty="0">
              <a:solidFill>
                <a:schemeClr val="accent5">
                  <a:lumMod val="50000"/>
                </a:schemeClr>
              </a:solidFill>
              <a:latin typeface="微軟正黑體" panose="020B0604030504040204" pitchFamily="34" charset="-120"/>
              <a:ea typeface="微軟正黑體" panose="020B0604030504040204" pitchFamily="34" charset="-120"/>
            </a:endParaRPr>
          </a:p>
          <a:p>
            <a:pPr marL="342900" indent="-342900">
              <a:spcAft>
                <a:spcPts val="600"/>
              </a:spcAft>
              <a:buFont typeface="Wingdings" panose="05000000000000000000" pitchFamily="2" charset="2"/>
              <a:buChar char="ü"/>
            </a:pPr>
            <a:r>
              <a:rPr lang="zh-TW" altLang="en-US" sz="2000" dirty="0">
                <a:solidFill>
                  <a:schemeClr val="tx1"/>
                </a:solidFill>
                <a:latin typeface="微軟正黑體" panose="020B0604030504040204" pitchFamily="34" charset="-120"/>
                <a:ea typeface="微軟正黑體" panose="020B0604030504040204" pitchFamily="34" charset="-120"/>
              </a:rPr>
              <a:t>保單停效、失效、比例高</a:t>
            </a:r>
            <a:endParaRPr lang="en-US" altLang="zh-TW" sz="2000" dirty="0">
              <a:solidFill>
                <a:schemeClr val="tx1"/>
              </a:solidFill>
              <a:latin typeface="微軟正黑體" panose="020B0604030504040204" pitchFamily="34" charset="-120"/>
              <a:ea typeface="微軟正黑體" panose="020B0604030504040204" pitchFamily="34" charset="-120"/>
            </a:endParaRPr>
          </a:p>
          <a:p>
            <a:pPr marL="342900" indent="-342900">
              <a:spcAft>
                <a:spcPts val="600"/>
              </a:spcAft>
              <a:buFont typeface="Wingdings" panose="05000000000000000000" pitchFamily="2" charset="2"/>
              <a:buChar char="ü"/>
            </a:pPr>
            <a:r>
              <a:rPr lang="zh-TW" altLang="en-US" sz="2000" dirty="0">
                <a:solidFill>
                  <a:schemeClr val="tx1"/>
                </a:solidFill>
                <a:latin typeface="微軟正黑體" panose="020B0604030504040204" pitchFamily="34" charset="-120"/>
                <a:ea typeface="微軟正黑體" panose="020B0604030504040204" pitchFamily="34" charset="-120"/>
              </a:rPr>
              <a:t>保單成交數少</a:t>
            </a:r>
            <a:endParaRPr lang="en-US" altLang="zh-TW" sz="2000" dirty="0">
              <a:solidFill>
                <a:schemeClr val="tx1"/>
              </a:solidFill>
              <a:latin typeface="微軟正黑體" panose="020B0604030504040204" pitchFamily="34" charset="-120"/>
              <a:ea typeface="微軟正黑體" panose="020B0604030504040204" pitchFamily="34" charset="-120"/>
            </a:endParaRPr>
          </a:p>
          <a:p>
            <a:endParaRPr lang="en-US" altLang="zh-TW" sz="2400" b="1" dirty="0">
              <a:solidFill>
                <a:schemeClr val="accent5">
                  <a:lumMod val="50000"/>
                </a:schemeClr>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6600021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2" name="文字方塊 1"/>
          <p:cNvSpPr txBox="1"/>
          <p:nvPr/>
        </p:nvSpPr>
        <p:spPr>
          <a:xfrm>
            <a:off x="1381390" y="1269735"/>
            <a:ext cx="6858370" cy="5940088"/>
          </a:xfrm>
          <a:prstGeom prst="rect">
            <a:avLst/>
          </a:prstGeom>
          <a:noFill/>
        </p:spPr>
        <p:txBody>
          <a:bodyPr wrap="square" rtlCol="0">
            <a:spAutoFit/>
          </a:bodyPr>
          <a:lstStyle/>
          <a:p>
            <a:pPr>
              <a:spcAft>
                <a:spcPts val="600"/>
              </a:spcAft>
            </a:pPr>
            <a:r>
              <a:rPr lang="zh-TW" altLang="en-US" sz="2400" b="1" dirty="0">
                <a:solidFill>
                  <a:schemeClr val="accent5">
                    <a:lumMod val="50000"/>
                  </a:schemeClr>
                </a:solidFill>
                <a:latin typeface="微軟正黑體" panose="020B0604030504040204" pitchFamily="34" charset="-120"/>
                <a:ea typeface="微軟正黑體" panose="020B0604030504040204" pitchFamily="34" charset="-120"/>
              </a:rPr>
              <a:t>身分類別</a:t>
            </a:r>
            <a:endParaRPr lang="en-US" altLang="zh-TW" sz="2000" dirty="0">
              <a:solidFill>
                <a:schemeClr val="tx1"/>
              </a:solidFill>
              <a:latin typeface="微軟正黑體" panose="020B0604030504040204" pitchFamily="34" charset="-120"/>
              <a:ea typeface="微軟正黑體" panose="020B0604030504040204" pitchFamily="34" charset="-120"/>
            </a:endParaRPr>
          </a:p>
          <a:p>
            <a:pPr marL="342900" indent="-342900">
              <a:spcAft>
                <a:spcPts val="600"/>
              </a:spcAft>
              <a:buFont typeface="Wingdings" panose="05000000000000000000" pitchFamily="2" charset="2"/>
              <a:buChar char="ü"/>
            </a:pPr>
            <a:r>
              <a:rPr lang="zh-TW" altLang="en-US" sz="2000" dirty="0">
                <a:solidFill>
                  <a:schemeClr val="tx1"/>
                </a:solidFill>
                <a:latin typeface="微軟正黑體" panose="020B0604030504040204" pitchFamily="34" charset="-120"/>
                <a:ea typeface="微軟正黑體" panose="020B0604030504040204" pitchFamily="34" charset="-120"/>
              </a:rPr>
              <a:t>職級：區經理</a:t>
            </a:r>
            <a:r>
              <a:rPr lang="en-US" altLang="zh-TW" sz="2000" dirty="0">
                <a:solidFill>
                  <a:schemeClr val="tx1"/>
                </a:solidFill>
                <a:latin typeface="微軟正黑體" panose="020B0604030504040204" pitchFamily="34" charset="-120"/>
                <a:ea typeface="微軟正黑體" panose="020B0604030504040204" pitchFamily="34" charset="-120"/>
              </a:rPr>
              <a:t>&amp;</a:t>
            </a:r>
            <a:r>
              <a:rPr lang="zh-TW" altLang="en-US" sz="2000" dirty="0">
                <a:solidFill>
                  <a:schemeClr val="tx1"/>
                </a:solidFill>
                <a:latin typeface="微軟正黑體" panose="020B0604030504040204" pitchFamily="34" charset="-120"/>
                <a:ea typeface="微軟正黑體" panose="020B0604030504040204" pitchFamily="34" charset="-120"/>
              </a:rPr>
              <a:t>業務襄理舞弊機率較高</a:t>
            </a:r>
            <a:endParaRPr lang="en-US" altLang="zh-TW" sz="2000" dirty="0">
              <a:solidFill>
                <a:schemeClr val="tx1"/>
              </a:solidFill>
              <a:latin typeface="微軟正黑體" panose="020B0604030504040204" pitchFamily="34" charset="-120"/>
              <a:ea typeface="微軟正黑體" panose="020B0604030504040204" pitchFamily="34" charset="-120"/>
            </a:endParaRPr>
          </a:p>
          <a:p>
            <a:pPr marL="342900" indent="-342900">
              <a:spcAft>
                <a:spcPts val="600"/>
              </a:spcAft>
              <a:buFont typeface="Wingdings" panose="05000000000000000000" pitchFamily="2" charset="2"/>
              <a:buChar char="ü"/>
            </a:pPr>
            <a:r>
              <a:rPr lang="en-US" altLang="zh-TW" sz="2000" dirty="0">
                <a:solidFill>
                  <a:schemeClr val="tx1"/>
                </a:solidFill>
                <a:latin typeface="微軟正黑體" panose="020B0604030504040204" pitchFamily="34" charset="-120"/>
                <a:ea typeface="微軟正黑體" panose="020B0604030504040204" pitchFamily="34" charset="-120"/>
              </a:rPr>
              <a:t>AG</a:t>
            </a:r>
            <a:r>
              <a:rPr lang="zh-TW" altLang="en-US" sz="2000" dirty="0">
                <a:solidFill>
                  <a:schemeClr val="tx1"/>
                </a:solidFill>
                <a:latin typeface="微軟正黑體" panose="020B0604030504040204" pitchFamily="34" charset="-120"/>
                <a:ea typeface="微軟正黑體" panose="020B0604030504040204" pitchFamily="34" charset="-120"/>
              </a:rPr>
              <a:t>分群：銷售奇兵 </a:t>
            </a:r>
            <a:r>
              <a:rPr lang="en-US" altLang="zh-TW" sz="2000" dirty="0">
                <a:solidFill>
                  <a:schemeClr val="tx1"/>
                </a:solidFill>
                <a:latin typeface="微軟正黑體" panose="020B0604030504040204" pitchFamily="34" charset="-120"/>
                <a:ea typeface="微軟正黑體" panose="020B0604030504040204" pitchFamily="34" charset="-120"/>
              </a:rPr>
              <a:t>&amp;</a:t>
            </a:r>
            <a:r>
              <a:rPr lang="zh-TW" altLang="en-US" sz="2000" dirty="0">
                <a:solidFill>
                  <a:schemeClr val="tx1"/>
                </a:solidFill>
                <a:latin typeface="微軟正黑體" panose="020B0604030504040204" pitchFamily="34" charset="-120"/>
                <a:ea typeface="微軟正黑體" panose="020B0604030504040204" pitchFamily="34" charset="-120"/>
              </a:rPr>
              <a:t> 再購達人舞弊機率較高</a:t>
            </a:r>
            <a:endParaRPr lang="en-US" altLang="zh-TW" sz="2000" dirty="0">
              <a:solidFill>
                <a:schemeClr val="tx1"/>
              </a:solidFill>
              <a:latin typeface="微軟正黑體" panose="020B0604030504040204" pitchFamily="34" charset="-120"/>
              <a:ea typeface="微軟正黑體" panose="020B0604030504040204" pitchFamily="34" charset="-120"/>
            </a:endParaRPr>
          </a:p>
          <a:p>
            <a:pPr marL="342900" indent="-342900">
              <a:spcAft>
                <a:spcPts val="600"/>
              </a:spcAft>
              <a:buFont typeface="Wingdings" panose="05000000000000000000" pitchFamily="2" charset="2"/>
              <a:buChar char="ü"/>
            </a:pPr>
            <a:endParaRPr lang="en-US" altLang="zh-TW" sz="2000" dirty="0">
              <a:solidFill>
                <a:schemeClr val="tx1"/>
              </a:solidFill>
              <a:latin typeface="微軟正黑體" panose="020B0604030504040204" pitchFamily="34" charset="-120"/>
              <a:ea typeface="微軟正黑體" panose="020B0604030504040204" pitchFamily="34" charset="-120"/>
            </a:endParaRPr>
          </a:p>
          <a:p>
            <a:pPr marL="457200" indent="-457200">
              <a:buAutoNum type="arabicPeriod"/>
            </a:pPr>
            <a:endParaRPr lang="en-US" altLang="zh-TW" sz="2000" dirty="0">
              <a:solidFill>
                <a:schemeClr val="tx1"/>
              </a:solidFill>
              <a:latin typeface="微軟正黑體" panose="020B0604030504040204" pitchFamily="34" charset="-120"/>
              <a:ea typeface="微軟正黑體" panose="020B0604030504040204" pitchFamily="34" charset="-120"/>
            </a:endParaRPr>
          </a:p>
          <a:p>
            <a:endParaRPr lang="en-US" altLang="zh-TW" sz="2000" dirty="0">
              <a:solidFill>
                <a:schemeClr val="tx1"/>
              </a:solidFill>
              <a:latin typeface="微軟正黑體" panose="020B0604030504040204" pitchFamily="34" charset="-120"/>
              <a:ea typeface="微軟正黑體" panose="020B0604030504040204" pitchFamily="34" charset="-120"/>
            </a:endParaRPr>
          </a:p>
          <a:p>
            <a:pPr marL="457200" indent="-457200">
              <a:buAutoNum type="arabicPeriod"/>
            </a:pPr>
            <a:endParaRPr lang="en-US" altLang="zh-TW" sz="2000" dirty="0">
              <a:solidFill>
                <a:schemeClr val="tx1"/>
              </a:solidFill>
              <a:latin typeface="微軟正黑體" panose="020B0604030504040204" pitchFamily="34" charset="-120"/>
              <a:ea typeface="微軟正黑體" panose="020B0604030504040204" pitchFamily="34" charset="-120"/>
            </a:endParaRPr>
          </a:p>
          <a:p>
            <a:endParaRPr lang="en-US" altLang="zh-TW" sz="2400" b="1" dirty="0">
              <a:solidFill>
                <a:schemeClr val="accent5">
                  <a:lumMod val="50000"/>
                </a:schemeClr>
              </a:solidFill>
              <a:latin typeface="微軟正黑體" panose="020B0604030504040204" pitchFamily="34" charset="-120"/>
              <a:ea typeface="微軟正黑體" panose="020B0604030504040204" pitchFamily="34" charset="-120"/>
            </a:endParaRPr>
          </a:p>
          <a:p>
            <a:endParaRPr lang="en-US" altLang="zh-TW" sz="2400" b="1" dirty="0">
              <a:solidFill>
                <a:schemeClr val="accent5">
                  <a:lumMod val="50000"/>
                </a:schemeClr>
              </a:solidFill>
              <a:latin typeface="微軟正黑體" panose="020B0604030504040204" pitchFamily="34" charset="-120"/>
              <a:ea typeface="微軟正黑體" panose="020B0604030504040204" pitchFamily="34" charset="-120"/>
            </a:endParaRPr>
          </a:p>
          <a:p>
            <a:endParaRPr lang="en-US" altLang="zh-TW" sz="2400" b="1" dirty="0">
              <a:solidFill>
                <a:schemeClr val="accent5">
                  <a:lumMod val="50000"/>
                </a:schemeClr>
              </a:solidFill>
              <a:latin typeface="微軟正黑體" panose="020B0604030504040204" pitchFamily="34" charset="-120"/>
              <a:ea typeface="微軟正黑體" panose="020B0604030504040204" pitchFamily="34" charset="-120"/>
            </a:endParaRPr>
          </a:p>
          <a:p>
            <a:endParaRPr lang="en-US" altLang="zh-TW" sz="2400" b="1" dirty="0">
              <a:solidFill>
                <a:schemeClr val="accent5">
                  <a:lumMod val="50000"/>
                </a:schemeClr>
              </a:solidFill>
              <a:latin typeface="微軟正黑體" panose="020B0604030504040204" pitchFamily="34" charset="-120"/>
              <a:ea typeface="微軟正黑體" panose="020B0604030504040204" pitchFamily="34" charset="-120"/>
            </a:endParaRPr>
          </a:p>
          <a:p>
            <a:endParaRPr lang="en-US" altLang="zh-TW" sz="2400" b="1" dirty="0">
              <a:solidFill>
                <a:schemeClr val="accent5">
                  <a:lumMod val="50000"/>
                </a:schemeClr>
              </a:solidFill>
              <a:latin typeface="微軟正黑體" panose="020B0604030504040204" pitchFamily="34" charset="-120"/>
              <a:ea typeface="微軟正黑體" panose="020B0604030504040204" pitchFamily="34" charset="-120"/>
            </a:endParaRPr>
          </a:p>
          <a:p>
            <a:endParaRPr lang="en-US" altLang="zh-TW" sz="2400" b="1" dirty="0">
              <a:solidFill>
                <a:schemeClr val="accent5">
                  <a:lumMod val="50000"/>
                </a:schemeClr>
              </a:solidFill>
              <a:latin typeface="微軟正黑體" panose="020B0604030504040204" pitchFamily="34" charset="-120"/>
              <a:ea typeface="微軟正黑體" panose="020B0604030504040204" pitchFamily="34" charset="-120"/>
            </a:endParaRPr>
          </a:p>
          <a:p>
            <a:endParaRPr lang="en-US" altLang="zh-TW" sz="2400" b="1" dirty="0">
              <a:solidFill>
                <a:schemeClr val="accent5">
                  <a:lumMod val="50000"/>
                </a:schemeClr>
              </a:solidFill>
              <a:latin typeface="微軟正黑體" panose="020B0604030504040204" pitchFamily="34" charset="-120"/>
              <a:ea typeface="微軟正黑體" panose="020B0604030504040204" pitchFamily="34" charset="-120"/>
            </a:endParaRPr>
          </a:p>
          <a:p>
            <a:endParaRPr lang="en-US" altLang="zh-TW" sz="2400" b="1" dirty="0">
              <a:solidFill>
                <a:schemeClr val="accent5">
                  <a:lumMod val="50000"/>
                </a:schemeClr>
              </a:solidFill>
              <a:latin typeface="微軟正黑體" panose="020B0604030504040204" pitchFamily="34" charset="-120"/>
              <a:ea typeface="微軟正黑體" panose="020B0604030504040204" pitchFamily="34" charset="-120"/>
            </a:endParaRPr>
          </a:p>
          <a:p>
            <a:endParaRPr lang="zh-TW" altLang="en-US" sz="2400" b="1" dirty="0">
              <a:solidFill>
                <a:schemeClr val="accent5">
                  <a:lumMod val="50000"/>
                </a:schemeClr>
              </a:solidFill>
              <a:latin typeface="微軟正黑體" panose="020B0604030504040204" pitchFamily="34" charset="-120"/>
              <a:ea typeface="微軟正黑體" panose="020B0604030504040204" pitchFamily="34" charset="-120"/>
            </a:endParaRPr>
          </a:p>
        </p:txBody>
      </p:sp>
      <p:sp>
        <p:nvSpPr>
          <p:cNvPr id="190" name="Google Shape;190;p9"/>
          <p:cNvSpPr/>
          <p:nvPr/>
        </p:nvSpPr>
        <p:spPr>
          <a:xfrm>
            <a:off x="1848142" y="329912"/>
            <a:ext cx="3194050" cy="387350"/>
          </a:xfrm>
          <a:prstGeom prst="parallelogram">
            <a:avLst>
              <a:gd name="adj" fmla="val 69898"/>
            </a:avLst>
          </a:prstGeom>
          <a:solidFill>
            <a:srgbClr val="21BFCA"/>
          </a:solidFill>
          <a:ln w="161925" cap="sq" cmpd="sng">
            <a:solidFill>
              <a:srgbClr val="1E868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191" name="Google Shape;191;p9"/>
          <p:cNvSpPr/>
          <p:nvPr/>
        </p:nvSpPr>
        <p:spPr>
          <a:xfrm>
            <a:off x="1833992" y="329256"/>
            <a:ext cx="3194050" cy="387350"/>
          </a:xfrm>
          <a:prstGeom prst="parallelogram">
            <a:avLst>
              <a:gd name="adj" fmla="val 69898"/>
            </a:avLst>
          </a:prstGeom>
          <a:solidFill>
            <a:srgbClr val="21BFCA"/>
          </a:solidFill>
          <a:ln w="161925" cap="sq" cmpd="sng">
            <a:solidFill>
              <a:srgbClr val="21BFC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192" name="Google Shape;192;p9"/>
          <p:cNvSpPr/>
          <p:nvPr/>
        </p:nvSpPr>
        <p:spPr>
          <a:xfrm>
            <a:off x="4581237" y="329912"/>
            <a:ext cx="7525038" cy="387350"/>
          </a:xfrm>
          <a:prstGeom prst="parallelogram">
            <a:avLst>
              <a:gd name="adj" fmla="val 0"/>
            </a:avLst>
          </a:prstGeom>
          <a:solidFill>
            <a:srgbClr val="21BFCA"/>
          </a:solidFill>
          <a:ln w="161925" cap="sq" cmpd="sng">
            <a:solidFill>
              <a:srgbClr val="21BFC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193" name="Google Shape;193;p9"/>
          <p:cNvSpPr/>
          <p:nvPr/>
        </p:nvSpPr>
        <p:spPr>
          <a:xfrm>
            <a:off x="2066647" y="271786"/>
            <a:ext cx="6678682" cy="523220"/>
          </a:xfrm>
          <a:prstGeom prst="rect">
            <a:avLst/>
          </a:prstGeom>
          <a:noFill/>
          <a:ln>
            <a:noFill/>
          </a:ln>
        </p:spPr>
        <p:txBody>
          <a:bodyPr spcFirstLastPara="1" wrap="square" lIns="91425" tIns="45700" rIns="91425" bIns="45700" anchor="t" anchorCtr="0">
            <a:spAutoFit/>
          </a:bodyPr>
          <a:lstStyle/>
          <a:p>
            <a:pPr lvl="0">
              <a:buSzPts val="2800"/>
            </a:pPr>
            <a:r>
              <a:rPr lang="zh-TW" altLang="en-US" sz="2800" dirty="0">
                <a:solidFill>
                  <a:srgbClr val="FFFFFF"/>
                </a:solidFill>
                <a:latin typeface="Microsoft JhengHei"/>
                <a:ea typeface="Microsoft JhengHei"/>
                <a:cs typeface="Microsoft JhengHei"/>
                <a:sym typeface="Microsoft JhengHei"/>
              </a:rPr>
              <a:t>舞弊人員特性分析 </a:t>
            </a:r>
            <a:r>
              <a:rPr lang="en-US" altLang="zh-TW" sz="2800" dirty="0">
                <a:solidFill>
                  <a:srgbClr val="FFFFFF"/>
                </a:solidFill>
                <a:latin typeface="Microsoft JhengHei"/>
                <a:ea typeface="Microsoft JhengHei"/>
                <a:cs typeface="Microsoft JhengHei"/>
                <a:sym typeface="Microsoft JhengHei"/>
              </a:rPr>
              <a:t>– </a:t>
            </a:r>
            <a:r>
              <a:rPr lang="zh-TW" altLang="en-US" sz="2800" dirty="0">
                <a:solidFill>
                  <a:srgbClr val="FFFFFF"/>
                </a:solidFill>
                <a:latin typeface="Microsoft JhengHei"/>
                <a:ea typeface="Microsoft JhengHei"/>
                <a:cs typeface="Microsoft JhengHei"/>
                <a:sym typeface="Microsoft JhengHei"/>
              </a:rPr>
              <a:t>類別資料</a:t>
            </a:r>
            <a:endParaRPr sz="2800" b="0" i="0" u="none" strike="noStrike" cap="none" dirty="0">
              <a:solidFill>
                <a:srgbClr val="FFFFFF"/>
              </a:solidFill>
              <a:latin typeface="Microsoft JhengHei"/>
              <a:ea typeface="Microsoft JhengHei"/>
              <a:cs typeface="Microsoft JhengHei"/>
              <a:sym typeface="Microsoft JhengHei"/>
            </a:endParaRPr>
          </a:p>
        </p:txBody>
      </p:sp>
      <p:cxnSp>
        <p:nvCxnSpPr>
          <p:cNvPr id="194" name="Google Shape;194;p9"/>
          <p:cNvCxnSpPr/>
          <p:nvPr/>
        </p:nvCxnSpPr>
        <p:spPr>
          <a:xfrm>
            <a:off x="157389" y="1269734"/>
            <a:ext cx="1224000" cy="0"/>
          </a:xfrm>
          <a:prstGeom prst="straightConnector1">
            <a:avLst/>
          </a:prstGeom>
          <a:noFill/>
          <a:ln w="15875" cap="rnd" cmpd="sng">
            <a:solidFill>
              <a:srgbClr val="21BFCA"/>
            </a:solidFill>
            <a:prstDash val="solid"/>
            <a:round/>
            <a:headEnd type="none" w="sm" len="sm"/>
            <a:tailEnd type="none" w="sm" len="sm"/>
          </a:ln>
        </p:spPr>
      </p:cxnSp>
      <p:graphicFrame>
        <p:nvGraphicFramePr>
          <p:cNvPr id="195" name="Google Shape;195;p9"/>
          <p:cNvGraphicFramePr/>
          <p:nvPr>
            <p:extLst>
              <p:ext uri="{D42A27DB-BD31-4B8C-83A1-F6EECF244321}">
                <p14:modId xmlns:p14="http://schemas.microsoft.com/office/powerpoint/2010/main" val="1996041792"/>
              </p:ext>
            </p:extLst>
          </p:nvPr>
        </p:nvGraphicFramePr>
        <p:xfrm>
          <a:off x="298393" y="6487160"/>
          <a:ext cx="11096375" cy="371930"/>
        </p:xfrm>
        <a:graphic>
          <a:graphicData uri="http://schemas.openxmlformats.org/drawingml/2006/table">
            <a:tbl>
              <a:tblPr firstRow="1" bandRow="1">
                <a:noFill/>
                <a:tableStyleId>{72FCF9FF-86DD-4F90-83C7-D16C962093AE}</a:tableStyleId>
              </a:tblPr>
              <a:tblGrid>
                <a:gridCol w="11096375">
                  <a:extLst>
                    <a:ext uri="{9D8B030D-6E8A-4147-A177-3AD203B41FA5}">
                      <a16:colId xmlns:a16="http://schemas.microsoft.com/office/drawing/2014/main" val="20000"/>
                    </a:ext>
                  </a:extLst>
                </a:gridCol>
              </a:tblGrid>
              <a:tr h="370850">
                <a:tc>
                  <a:txBody>
                    <a:bodyPr/>
                    <a:lstStyle/>
                    <a:p>
                      <a:pPr marL="0" marR="0" lvl="0" indent="0" algn="ctr" rtl="0">
                        <a:lnSpc>
                          <a:spcPct val="150000"/>
                        </a:lnSpc>
                        <a:spcBef>
                          <a:spcPts val="0"/>
                        </a:spcBef>
                        <a:spcAft>
                          <a:spcPts val="0"/>
                        </a:spcAft>
                        <a:buClr>
                          <a:srgbClr val="BFBFBF"/>
                        </a:buClr>
                        <a:buSzPts val="700"/>
                        <a:buFont typeface="Malgun Gothic"/>
                        <a:buNone/>
                      </a:pPr>
                      <a:r>
                        <a:rPr lang="en-US" altLang="zh-TW" sz="1400" b="0" i="0" u="none" strike="noStrike" cap="none" dirty="0">
                          <a:solidFill>
                            <a:schemeClr val="bg1"/>
                          </a:solidFill>
                          <a:latin typeface="Cambria Math" panose="02040503050406030204" pitchFamily="18" charset="0"/>
                          <a:ea typeface="Cambria Math" panose="02040503050406030204" pitchFamily="18" charset="0"/>
                          <a:cs typeface="Malgun Gothic"/>
                          <a:sym typeface="Malgun Gothic"/>
                        </a:rPr>
                        <a:t>6</a:t>
                      </a:r>
                      <a:endParaRPr sz="1400" b="0" i="0" u="none" strike="noStrike" cap="none" dirty="0">
                        <a:solidFill>
                          <a:schemeClr val="bg1"/>
                        </a:solidFill>
                        <a:latin typeface="Cambria Math" panose="02040503050406030204" pitchFamily="18" charset="0"/>
                        <a:ea typeface="Cambria Math" panose="02040503050406030204" pitchFamily="18" charset="0"/>
                        <a:cs typeface="Malgun Gothic"/>
                        <a:sym typeface="Malgun Gothic"/>
                      </a:endParaRPr>
                    </a:p>
                  </a:txBody>
                  <a:tcPr marL="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196" name="Google Shape;196;p9"/>
          <p:cNvSpPr/>
          <p:nvPr/>
        </p:nvSpPr>
        <p:spPr>
          <a:xfrm>
            <a:off x="158593" y="808069"/>
            <a:ext cx="540533"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zh-TW" sz="2400" b="1" i="1" u="none" strike="noStrike" cap="none" dirty="0">
                <a:solidFill>
                  <a:srgbClr val="21BFCA"/>
                </a:solidFill>
                <a:latin typeface="Malgun Gothic"/>
                <a:ea typeface="Malgun Gothic"/>
                <a:cs typeface="Malgun Gothic"/>
                <a:sym typeface="Malgun Gothic"/>
              </a:rPr>
              <a:t>0</a:t>
            </a:r>
            <a:r>
              <a:rPr lang="en-US" altLang="zh-TW" sz="2400" b="1" i="1" dirty="0">
                <a:solidFill>
                  <a:srgbClr val="21BFCA"/>
                </a:solidFill>
                <a:latin typeface="Malgun Gothic"/>
                <a:ea typeface="Malgun Gothic"/>
                <a:cs typeface="Malgun Gothic"/>
                <a:sym typeface="Malgun Gothic"/>
              </a:rPr>
              <a:t>1</a:t>
            </a:r>
            <a:endParaRPr sz="2400" b="0" i="0" u="none" strike="noStrike" cap="none" dirty="0">
              <a:solidFill>
                <a:srgbClr val="21BFCA"/>
              </a:solidFill>
              <a:latin typeface="Malgun Gothic"/>
              <a:ea typeface="Malgun Gothic"/>
              <a:cs typeface="Malgun Gothic"/>
              <a:sym typeface="Malgun Gothic"/>
            </a:endParaRPr>
          </a:p>
        </p:txBody>
      </p:sp>
      <p:pic>
        <p:nvPicPr>
          <p:cNvPr id="2052" name="Picture 4">
            <a:extLst>
              <a:ext uri="{FF2B5EF4-FFF2-40B4-BE49-F238E27FC236}">
                <a16:creationId xmlns:a16="http://schemas.microsoft.com/office/drawing/2014/main" id="{5FB07B26-2259-44B8-B439-558FF6560D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6688" y="2445362"/>
            <a:ext cx="5281863" cy="326825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BB275A47-0CFB-45C2-8EFD-5B13B6D1BFA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02084" y="2445362"/>
            <a:ext cx="5834315" cy="3268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85409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2" name="文字方塊 1"/>
          <p:cNvSpPr txBox="1"/>
          <p:nvPr/>
        </p:nvSpPr>
        <p:spPr>
          <a:xfrm>
            <a:off x="1381390" y="1269735"/>
            <a:ext cx="4074530" cy="4862870"/>
          </a:xfrm>
          <a:prstGeom prst="rect">
            <a:avLst/>
          </a:prstGeom>
          <a:noFill/>
        </p:spPr>
        <p:txBody>
          <a:bodyPr wrap="square" rtlCol="0">
            <a:spAutoFit/>
          </a:bodyPr>
          <a:lstStyle/>
          <a:p>
            <a:pPr>
              <a:spcAft>
                <a:spcPts val="600"/>
              </a:spcAft>
            </a:pPr>
            <a:r>
              <a:rPr lang="zh-TW" altLang="en-US" sz="2400" b="1" dirty="0">
                <a:solidFill>
                  <a:schemeClr val="accent5">
                    <a:lumMod val="50000"/>
                  </a:schemeClr>
                </a:solidFill>
                <a:latin typeface="微軟正黑體" panose="020B0604030504040204" pitchFamily="34" charset="-120"/>
                <a:ea typeface="微軟正黑體" panose="020B0604030504040204" pitchFamily="34" charset="-120"/>
              </a:rPr>
              <a:t>通訊處所在縣市</a:t>
            </a:r>
            <a:endParaRPr lang="en-US" altLang="zh-TW" sz="2400" b="1" dirty="0">
              <a:solidFill>
                <a:schemeClr val="accent5">
                  <a:lumMod val="50000"/>
                </a:schemeClr>
              </a:solidFill>
              <a:latin typeface="微軟正黑體" panose="020B0604030504040204" pitchFamily="34" charset="-120"/>
              <a:ea typeface="微軟正黑體" panose="020B0604030504040204" pitchFamily="34" charset="-120"/>
            </a:endParaRPr>
          </a:p>
          <a:p>
            <a:pPr marL="342900" indent="-342900">
              <a:spcAft>
                <a:spcPts val="600"/>
              </a:spcAft>
              <a:buFont typeface="Wingdings" panose="05000000000000000000" pitchFamily="2" charset="2"/>
              <a:buChar char="ü"/>
            </a:pPr>
            <a:r>
              <a:rPr lang="zh-TW" altLang="en-US" sz="2000" dirty="0">
                <a:solidFill>
                  <a:schemeClr val="tx1"/>
                </a:solidFill>
                <a:latin typeface="微軟正黑體" panose="020B0604030504040204" pitchFamily="34" charset="-120"/>
                <a:ea typeface="微軟正黑體" panose="020B0604030504040204" pitchFamily="34" charset="-120"/>
              </a:rPr>
              <a:t>台中市舞弊機率較高</a:t>
            </a:r>
            <a:endParaRPr lang="en-US" altLang="zh-TW" sz="2000" dirty="0">
              <a:solidFill>
                <a:schemeClr val="tx1"/>
              </a:solidFill>
              <a:latin typeface="微軟正黑體" panose="020B0604030504040204" pitchFamily="34" charset="-120"/>
              <a:ea typeface="微軟正黑體" panose="020B0604030504040204" pitchFamily="34" charset="-120"/>
            </a:endParaRPr>
          </a:p>
          <a:p>
            <a:endParaRPr lang="en-US" altLang="zh-TW" sz="2000" dirty="0">
              <a:solidFill>
                <a:schemeClr val="tx1"/>
              </a:solidFill>
              <a:latin typeface="微軟正黑體" panose="020B0604030504040204" pitchFamily="34" charset="-120"/>
              <a:ea typeface="微軟正黑體" panose="020B0604030504040204" pitchFamily="34" charset="-120"/>
            </a:endParaRPr>
          </a:p>
          <a:p>
            <a:pPr marL="457200" indent="-457200">
              <a:buAutoNum type="arabicPeriod"/>
            </a:pPr>
            <a:endParaRPr lang="en-US" altLang="zh-TW" sz="2000" dirty="0">
              <a:solidFill>
                <a:schemeClr val="tx1"/>
              </a:solidFill>
              <a:latin typeface="微軟正黑體" panose="020B0604030504040204" pitchFamily="34" charset="-120"/>
              <a:ea typeface="微軟正黑體" panose="020B0604030504040204" pitchFamily="34" charset="-120"/>
            </a:endParaRPr>
          </a:p>
          <a:p>
            <a:endParaRPr lang="en-US" altLang="zh-TW" sz="2400" b="1" dirty="0">
              <a:solidFill>
                <a:schemeClr val="accent5">
                  <a:lumMod val="50000"/>
                </a:schemeClr>
              </a:solidFill>
              <a:latin typeface="微軟正黑體" panose="020B0604030504040204" pitchFamily="34" charset="-120"/>
              <a:ea typeface="微軟正黑體" panose="020B0604030504040204" pitchFamily="34" charset="-120"/>
            </a:endParaRPr>
          </a:p>
          <a:p>
            <a:endParaRPr lang="en-US" altLang="zh-TW" sz="2400" b="1" dirty="0">
              <a:solidFill>
                <a:schemeClr val="accent5">
                  <a:lumMod val="50000"/>
                </a:schemeClr>
              </a:solidFill>
              <a:latin typeface="微軟正黑體" panose="020B0604030504040204" pitchFamily="34" charset="-120"/>
              <a:ea typeface="微軟正黑體" panose="020B0604030504040204" pitchFamily="34" charset="-120"/>
            </a:endParaRPr>
          </a:p>
          <a:p>
            <a:endParaRPr lang="en-US" altLang="zh-TW" sz="2400" b="1" dirty="0">
              <a:solidFill>
                <a:schemeClr val="accent5">
                  <a:lumMod val="50000"/>
                </a:schemeClr>
              </a:solidFill>
              <a:latin typeface="微軟正黑體" panose="020B0604030504040204" pitchFamily="34" charset="-120"/>
              <a:ea typeface="微軟正黑體" panose="020B0604030504040204" pitchFamily="34" charset="-120"/>
            </a:endParaRPr>
          </a:p>
          <a:p>
            <a:endParaRPr lang="en-US" altLang="zh-TW" sz="2400" b="1" dirty="0">
              <a:solidFill>
                <a:schemeClr val="accent5">
                  <a:lumMod val="50000"/>
                </a:schemeClr>
              </a:solidFill>
              <a:latin typeface="微軟正黑體" panose="020B0604030504040204" pitchFamily="34" charset="-120"/>
              <a:ea typeface="微軟正黑體" panose="020B0604030504040204" pitchFamily="34" charset="-120"/>
            </a:endParaRPr>
          </a:p>
          <a:p>
            <a:endParaRPr lang="en-US" altLang="zh-TW" sz="2400" b="1" dirty="0">
              <a:solidFill>
                <a:schemeClr val="accent5">
                  <a:lumMod val="50000"/>
                </a:schemeClr>
              </a:solidFill>
              <a:latin typeface="微軟正黑體" panose="020B0604030504040204" pitchFamily="34" charset="-120"/>
              <a:ea typeface="微軟正黑體" panose="020B0604030504040204" pitchFamily="34" charset="-120"/>
            </a:endParaRPr>
          </a:p>
          <a:p>
            <a:endParaRPr lang="en-US" altLang="zh-TW" sz="2400" b="1" dirty="0">
              <a:solidFill>
                <a:schemeClr val="accent5">
                  <a:lumMod val="50000"/>
                </a:schemeClr>
              </a:solidFill>
              <a:latin typeface="微軟正黑體" panose="020B0604030504040204" pitchFamily="34" charset="-120"/>
              <a:ea typeface="微軟正黑體" panose="020B0604030504040204" pitchFamily="34" charset="-120"/>
            </a:endParaRPr>
          </a:p>
          <a:p>
            <a:endParaRPr lang="en-US" altLang="zh-TW" sz="2400" b="1" dirty="0">
              <a:solidFill>
                <a:schemeClr val="accent5">
                  <a:lumMod val="50000"/>
                </a:schemeClr>
              </a:solidFill>
              <a:latin typeface="微軟正黑體" panose="020B0604030504040204" pitchFamily="34" charset="-120"/>
              <a:ea typeface="微軟正黑體" panose="020B0604030504040204" pitchFamily="34" charset="-120"/>
            </a:endParaRPr>
          </a:p>
          <a:p>
            <a:endParaRPr lang="en-US" altLang="zh-TW" sz="2400" b="1" dirty="0">
              <a:solidFill>
                <a:schemeClr val="accent5">
                  <a:lumMod val="50000"/>
                </a:schemeClr>
              </a:solidFill>
              <a:latin typeface="微軟正黑體" panose="020B0604030504040204" pitchFamily="34" charset="-120"/>
              <a:ea typeface="微軟正黑體" panose="020B0604030504040204" pitchFamily="34" charset="-120"/>
            </a:endParaRPr>
          </a:p>
          <a:p>
            <a:endParaRPr lang="zh-TW" altLang="en-US" sz="2400" b="1" dirty="0">
              <a:solidFill>
                <a:schemeClr val="accent5">
                  <a:lumMod val="50000"/>
                </a:schemeClr>
              </a:solidFill>
              <a:latin typeface="微軟正黑體" panose="020B0604030504040204" pitchFamily="34" charset="-120"/>
              <a:ea typeface="微軟正黑體" panose="020B0604030504040204" pitchFamily="34" charset="-120"/>
            </a:endParaRPr>
          </a:p>
        </p:txBody>
      </p:sp>
      <p:sp>
        <p:nvSpPr>
          <p:cNvPr id="190" name="Google Shape;190;p9"/>
          <p:cNvSpPr/>
          <p:nvPr/>
        </p:nvSpPr>
        <p:spPr>
          <a:xfrm>
            <a:off x="1848142" y="329912"/>
            <a:ext cx="3194050" cy="387350"/>
          </a:xfrm>
          <a:prstGeom prst="parallelogram">
            <a:avLst>
              <a:gd name="adj" fmla="val 69898"/>
            </a:avLst>
          </a:prstGeom>
          <a:solidFill>
            <a:srgbClr val="21BFCA"/>
          </a:solidFill>
          <a:ln w="161925" cap="sq" cmpd="sng">
            <a:solidFill>
              <a:srgbClr val="1E868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191" name="Google Shape;191;p9"/>
          <p:cNvSpPr/>
          <p:nvPr/>
        </p:nvSpPr>
        <p:spPr>
          <a:xfrm>
            <a:off x="1833992" y="329256"/>
            <a:ext cx="3194050" cy="387350"/>
          </a:xfrm>
          <a:prstGeom prst="parallelogram">
            <a:avLst>
              <a:gd name="adj" fmla="val 69898"/>
            </a:avLst>
          </a:prstGeom>
          <a:solidFill>
            <a:srgbClr val="21BFCA"/>
          </a:solidFill>
          <a:ln w="161925" cap="sq" cmpd="sng">
            <a:solidFill>
              <a:srgbClr val="21BFC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192" name="Google Shape;192;p9"/>
          <p:cNvSpPr/>
          <p:nvPr/>
        </p:nvSpPr>
        <p:spPr>
          <a:xfrm>
            <a:off x="4581237" y="329912"/>
            <a:ext cx="7525038" cy="387350"/>
          </a:xfrm>
          <a:prstGeom prst="parallelogram">
            <a:avLst>
              <a:gd name="adj" fmla="val 0"/>
            </a:avLst>
          </a:prstGeom>
          <a:solidFill>
            <a:srgbClr val="21BFCA"/>
          </a:solidFill>
          <a:ln w="161925" cap="sq" cmpd="sng">
            <a:solidFill>
              <a:srgbClr val="21BFC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193" name="Google Shape;193;p9"/>
          <p:cNvSpPr/>
          <p:nvPr/>
        </p:nvSpPr>
        <p:spPr>
          <a:xfrm>
            <a:off x="2066647" y="271786"/>
            <a:ext cx="6678682" cy="523220"/>
          </a:xfrm>
          <a:prstGeom prst="rect">
            <a:avLst/>
          </a:prstGeom>
          <a:noFill/>
          <a:ln>
            <a:noFill/>
          </a:ln>
        </p:spPr>
        <p:txBody>
          <a:bodyPr spcFirstLastPara="1" wrap="square" lIns="91425" tIns="45700" rIns="91425" bIns="45700" anchor="t" anchorCtr="0">
            <a:spAutoFit/>
          </a:bodyPr>
          <a:lstStyle/>
          <a:p>
            <a:pPr lvl="0">
              <a:buSzPts val="2800"/>
            </a:pPr>
            <a:r>
              <a:rPr lang="zh-TW" altLang="en-US" sz="2800" dirty="0">
                <a:solidFill>
                  <a:srgbClr val="FFFFFF"/>
                </a:solidFill>
                <a:latin typeface="Microsoft JhengHei"/>
                <a:ea typeface="Microsoft JhengHei"/>
                <a:cs typeface="Microsoft JhengHei"/>
                <a:sym typeface="Microsoft JhengHei"/>
              </a:rPr>
              <a:t>舞弊人員特性分析 </a:t>
            </a:r>
            <a:r>
              <a:rPr lang="en-US" altLang="zh-TW" sz="2800" dirty="0">
                <a:solidFill>
                  <a:srgbClr val="FFFFFF"/>
                </a:solidFill>
                <a:latin typeface="Microsoft JhengHei"/>
                <a:ea typeface="Microsoft JhengHei"/>
                <a:cs typeface="Microsoft JhengHei"/>
                <a:sym typeface="Microsoft JhengHei"/>
              </a:rPr>
              <a:t>– </a:t>
            </a:r>
            <a:r>
              <a:rPr lang="zh-TW" altLang="en-US" sz="2800" dirty="0">
                <a:solidFill>
                  <a:srgbClr val="FFFFFF"/>
                </a:solidFill>
                <a:latin typeface="Microsoft JhengHei"/>
                <a:ea typeface="Microsoft JhengHei"/>
                <a:cs typeface="Microsoft JhengHei"/>
                <a:sym typeface="Microsoft JhengHei"/>
              </a:rPr>
              <a:t>類別資料</a:t>
            </a:r>
            <a:endParaRPr sz="2800" b="0" i="0" u="none" strike="noStrike" cap="none" dirty="0">
              <a:solidFill>
                <a:srgbClr val="FFFFFF"/>
              </a:solidFill>
              <a:latin typeface="Microsoft JhengHei"/>
              <a:ea typeface="Microsoft JhengHei"/>
              <a:cs typeface="Microsoft JhengHei"/>
              <a:sym typeface="Microsoft JhengHei"/>
            </a:endParaRPr>
          </a:p>
        </p:txBody>
      </p:sp>
      <p:cxnSp>
        <p:nvCxnSpPr>
          <p:cNvPr id="194" name="Google Shape;194;p9"/>
          <p:cNvCxnSpPr/>
          <p:nvPr/>
        </p:nvCxnSpPr>
        <p:spPr>
          <a:xfrm>
            <a:off x="157389" y="1269734"/>
            <a:ext cx="1224000" cy="0"/>
          </a:xfrm>
          <a:prstGeom prst="straightConnector1">
            <a:avLst/>
          </a:prstGeom>
          <a:noFill/>
          <a:ln w="15875" cap="rnd" cmpd="sng">
            <a:solidFill>
              <a:srgbClr val="21BFCA"/>
            </a:solidFill>
            <a:prstDash val="solid"/>
            <a:round/>
            <a:headEnd type="none" w="sm" len="sm"/>
            <a:tailEnd type="none" w="sm" len="sm"/>
          </a:ln>
        </p:spPr>
      </p:cxnSp>
      <p:graphicFrame>
        <p:nvGraphicFramePr>
          <p:cNvPr id="195" name="Google Shape;195;p9"/>
          <p:cNvGraphicFramePr/>
          <p:nvPr>
            <p:extLst>
              <p:ext uri="{D42A27DB-BD31-4B8C-83A1-F6EECF244321}">
                <p14:modId xmlns:p14="http://schemas.microsoft.com/office/powerpoint/2010/main" val="4131797235"/>
              </p:ext>
            </p:extLst>
          </p:nvPr>
        </p:nvGraphicFramePr>
        <p:xfrm>
          <a:off x="298393" y="6487160"/>
          <a:ext cx="11096375" cy="371930"/>
        </p:xfrm>
        <a:graphic>
          <a:graphicData uri="http://schemas.openxmlformats.org/drawingml/2006/table">
            <a:tbl>
              <a:tblPr firstRow="1" bandRow="1">
                <a:noFill/>
                <a:tableStyleId>{72FCF9FF-86DD-4F90-83C7-D16C962093AE}</a:tableStyleId>
              </a:tblPr>
              <a:tblGrid>
                <a:gridCol w="11096375">
                  <a:extLst>
                    <a:ext uri="{9D8B030D-6E8A-4147-A177-3AD203B41FA5}">
                      <a16:colId xmlns:a16="http://schemas.microsoft.com/office/drawing/2014/main" val="20000"/>
                    </a:ext>
                  </a:extLst>
                </a:gridCol>
              </a:tblGrid>
              <a:tr h="370850">
                <a:tc>
                  <a:txBody>
                    <a:bodyPr/>
                    <a:lstStyle/>
                    <a:p>
                      <a:pPr marL="0" marR="0" lvl="0" indent="0" algn="ctr" rtl="0">
                        <a:lnSpc>
                          <a:spcPct val="150000"/>
                        </a:lnSpc>
                        <a:spcBef>
                          <a:spcPts val="0"/>
                        </a:spcBef>
                        <a:spcAft>
                          <a:spcPts val="0"/>
                        </a:spcAft>
                        <a:buClr>
                          <a:srgbClr val="BFBFBF"/>
                        </a:buClr>
                        <a:buSzPts val="700"/>
                        <a:buFont typeface="Malgun Gothic"/>
                        <a:buNone/>
                      </a:pPr>
                      <a:r>
                        <a:rPr lang="en-US" altLang="zh-TW" sz="1400" b="0" i="0" u="none" strike="noStrike" cap="none" dirty="0">
                          <a:solidFill>
                            <a:schemeClr val="bg1"/>
                          </a:solidFill>
                          <a:latin typeface="Cambria Math" panose="02040503050406030204" pitchFamily="18" charset="0"/>
                          <a:ea typeface="Cambria Math" panose="02040503050406030204" pitchFamily="18" charset="0"/>
                          <a:cs typeface="Malgun Gothic"/>
                          <a:sym typeface="Malgun Gothic"/>
                        </a:rPr>
                        <a:t>7</a:t>
                      </a:r>
                      <a:endParaRPr sz="1400" b="0" i="0" u="none" strike="noStrike" cap="none" dirty="0">
                        <a:solidFill>
                          <a:schemeClr val="bg1"/>
                        </a:solidFill>
                        <a:latin typeface="Cambria Math" panose="02040503050406030204" pitchFamily="18" charset="0"/>
                        <a:ea typeface="Cambria Math" panose="02040503050406030204" pitchFamily="18" charset="0"/>
                        <a:cs typeface="Malgun Gothic"/>
                        <a:sym typeface="Malgun Gothic"/>
                      </a:endParaRPr>
                    </a:p>
                  </a:txBody>
                  <a:tcPr marL="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196" name="Google Shape;196;p9"/>
          <p:cNvSpPr/>
          <p:nvPr/>
        </p:nvSpPr>
        <p:spPr>
          <a:xfrm>
            <a:off x="158593" y="808069"/>
            <a:ext cx="540533"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zh-TW" sz="2400" b="1" i="1" u="none" strike="noStrike" cap="none" dirty="0">
                <a:solidFill>
                  <a:srgbClr val="21BFCA"/>
                </a:solidFill>
                <a:latin typeface="Malgun Gothic"/>
                <a:ea typeface="Malgun Gothic"/>
                <a:cs typeface="Malgun Gothic"/>
                <a:sym typeface="Malgun Gothic"/>
              </a:rPr>
              <a:t>0</a:t>
            </a:r>
            <a:r>
              <a:rPr lang="en-US" altLang="zh-TW" sz="2400" b="1" i="1" dirty="0">
                <a:solidFill>
                  <a:srgbClr val="21BFCA"/>
                </a:solidFill>
                <a:latin typeface="Malgun Gothic"/>
                <a:ea typeface="Malgun Gothic"/>
                <a:cs typeface="Malgun Gothic"/>
                <a:sym typeface="Malgun Gothic"/>
              </a:rPr>
              <a:t>1</a:t>
            </a:r>
            <a:endParaRPr sz="2400" b="0" i="0" u="none" strike="noStrike" cap="none" dirty="0">
              <a:solidFill>
                <a:srgbClr val="21BFCA"/>
              </a:solidFill>
              <a:latin typeface="Malgun Gothic"/>
              <a:ea typeface="Malgun Gothic"/>
              <a:cs typeface="Malgun Gothic"/>
              <a:sym typeface="Malgun Gothic"/>
            </a:endParaRPr>
          </a:p>
        </p:txBody>
      </p:sp>
      <p:pic>
        <p:nvPicPr>
          <p:cNvPr id="3074" name="Picture 2">
            <a:extLst>
              <a:ext uri="{FF2B5EF4-FFF2-40B4-BE49-F238E27FC236}">
                <a16:creationId xmlns:a16="http://schemas.microsoft.com/office/drawing/2014/main" id="{C047988B-6905-41DE-ADD9-665E1900FC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77540" y="2463256"/>
            <a:ext cx="5836920" cy="36654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06856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8"/>
          <p:cNvSpPr/>
          <p:nvPr/>
        </p:nvSpPr>
        <p:spPr>
          <a:xfrm>
            <a:off x="1848142" y="329912"/>
            <a:ext cx="3194050" cy="387350"/>
          </a:xfrm>
          <a:prstGeom prst="parallelogram">
            <a:avLst>
              <a:gd name="adj" fmla="val 69898"/>
            </a:avLst>
          </a:prstGeom>
          <a:solidFill>
            <a:srgbClr val="21BFCA"/>
          </a:solidFill>
          <a:ln w="161925" cap="sq" cmpd="sng">
            <a:solidFill>
              <a:srgbClr val="1E868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179" name="Google Shape;179;p8"/>
          <p:cNvSpPr/>
          <p:nvPr/>
        </p:nvSpPr>
        <p:spPr>
          <a:xfrm>
            <a:off x="1833992" y="329256"/>
            <a:ext cx="3194050" cy="387350"/>
          </a:xfrm>
          <a:prstGeom prst="parallelogram">
            <a:avLst>
              <a:gd name="adj" fmla="val 69898"/>
            </a:avLst>
          </a:prstGeom>
          <a:solidFill>
            <a:srgbClr val="21BFCA"/>
          </a:solidFill>
          <a:ln w="161925" cap="sq" cmpd="sng">
            <a:solidFill>
              <a:srgbClr val="21BFC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180" name="Google Shape;180;p8"/>
          <p:cNvSpPr/>
          <p:nvPr/>
        </p:nvSpPr>
        <p:spPr>
          <a:xfrm>
            <a:off x="4581237" y="329912"/>
            <a:ext cx="7525038" cy="387350"/>
          </a:xfrm>
          <a:prstGeom prst="parallelogram">
            <a:avLst>
              <a:gd name="adj" fmla="val 0"/>
            </a:avLst>
          </a:prstGeom>
          <a:solidFill>
            <a:srgbClr val="21BFCA"/>
          </a:solidFill>
          <a:ln w="161925" cap="sq" cmpd="sng">
            <a:solidFill>
              <a:srgbClr val="21BFC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181" name="Google Shape;181;p8"/>
          <p:cNvSpPr/>
          <p:nvPr/>
        </p:nvSpPr>
        <p:spPr>
          <a:xfrm>
            <a:off x="2066647" y="271786"/>
            <a:ext cx="6678682"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zh-TW" sz="2800" b="0" i="0" u="none" strike="noStrike" cap="none">
                <a:solidFill>
                  <a:srgbClr val="FFFFFF"/>
                </a:solidFill>
                <a:latin typeface="Microsoft JhengHei"/>
                <a:ea typeface="Microsoft JhengHei"/>
                <a:cs typeface="Microsoft JhengHei"/>
                <a:sym typeface="Microsoft JhengHei"/>
              </a:rPr>
              <a:t>各變數與業務員違約之相關性分析</a:t>
            </a:r>
            <a:endParaRPr sz="2800" b="0" i="0" u="none" strike="noStrike" cap="none">
              <a:solidFill>
                <a:srgbClr val="FFFFFF"/>
              </a:solidFill>
              <a:latin typeface="Microsoft JhengHei"/>
              <a:ea typeface="Microsoft JhengHei"/>
              <a:cs typeface="Microsoft JhengHei"/>
              <a:sym typeface="Microsoft JhengHei"/>
            </a:endParaRPr>
          </a:p>
        </p:txBody>
      </p:sp>
      <p:cxnSp>
        <p:nvCxnSpPr>
          <p:cNvPr id="182" name="Google Shape;182;p8"/>
          <p:cNvCxnSpPr/>
          <p:nvPr/>
        </p:nvCxnSpPr>
        <p:spPr>
          <a:xfrm>
            <a:off x="157389" y="1269734"/>
            <a:ext cx="1224000" cy="0"/>
          </a:xfrm>
          <a:prstGeom prst="straightConnector1">
            <a:avLst/>
          </a:prstGeom>
          <a:noFill/>
          <a:ln w="15875" cap="rnd" cmpd="sng">
            <a:solidFill>
              <a:srgbClr val="21BFCA"/>
            </a:solidFill>
            <a:prstDash val="solid"/>
            <a:round/>
            <a:headEnd type="none" w="sm" len="sm"/>
            <a:tailEnd type="none" w="sm" len="sm"/>
          </a:ln>
        </p:spPr>
      </p:cxnSp>
      <p:graphicFrame>
        <p:nvGraphicFramePr>
          <p:cNvPr id="183" name="Google Shape;183;p8"/>
          <p:cNvGraphicFramePr/>
          <p:nvPr>
            <p:extLst>
              <p:ext uri="{D42A27DB-BD31-4B8C-83A1-F6EECF244321}">
                <p14:modId xmlns:p14="http://schemas.microsoft.com/office/powerpoint/2010/main" val="3059364496"/>
              </p:ext>
            </p:extLst>
          </p:nvPr>
        </p:nvGraphicFramePr>
        <p:xfrm>
          <a:off x="298393" y="6487160"/>
          <a:ext cx="11096375" cy="371930"/>
        </p:xfrm>
        <a:graphic>
          <a:graphicData uri="http://schemas.openxmlformats.org/drawingml/2006/table">
            <a:tbl>
              <a:tblPr firstRow="1" bandRow="1">
                <a:noFill/>
                <a:tableStyleId>{72FCF9FF-86DD-4F90-83C7-D16C962093AE}</a:tableStyleId>
              </a:tblPr>
              <a:tblGrid>
                <a:gridCol w="11096375">
                  <a:extLst>
                    <a:ext uri="{9D8B030D-6E8A-4147-A177-3AD203B41FA5}">
                      <a16:colId xmlns:a16="http://schemas.microsoft.com/office/drawing/2014/main" val="20000"/>
                    </a:ext>
                  </a:extLst>
                </a:gridCol>
              </a:tblGrid>
              <a:tr h="370850">
                <a:tc>
                  <a:txBody>
                    <a:bodyPr/>
                    <a:lstStyle/>
                    <a:p>
                      <a:pPr marL="0" marR="0" lvl="0" indent="0" algn="ctr" rtl="0">
                        <a:lnSpc>
                          <a:spcPct val="150000"/>
                        </a:lnSpc>
                        <a:spcBef>
                          <a:spcPts val="0"/>
                        </a:spcBef>
                        <a:spcAft>
                          <a:spcPts val="0"/>
                        </a:spcAft>
                        <a:buClr>
                          <a:srgbClr val="BFBFBF"/>
                        </a:buClr>
                        <a:buSzPts val="700"/>
                        <a:buFont typeface="Malgun Gothic"/>
                        <a:buNone/>
                      </a:pPr>
                      <a:r>
                        <a:rPr lang="en-US" altLang="zh-TW" sz="1400" b="0" i="0" u="none" strike="noStrike" cap="none" dirty="0">
                          <a:solidFill>
                            <a:schemeClr val="bg1"/>
                          </a:solidFill>
                          <a:latin typeface="Cambria Math" panose="02040503050406030204" pitchFamily="18" charset="0"/>
                          <a:ea typeface="Cambria Math" panose="02040503050406030204" pitchFamily="18" charset="0"/>
                          <a:cs typeface="Malgun Gothic"/>
                          <a:sym typeface="Malgun Gothic"/>
                        </a:rPr>
                        <a:t>8</a:t>
                      </a:r>
                      <a:endParaRPr sz="1400" b="0" i="0" u="none" strike="noStrike" cap="none" dirty="0">
                        <a:solidFill>
                          <a:schemeClr val="bg1"/>
                        </a:solidFill>
                        <a:latin typeface="Cambria Math" panose="02040503050406030204" pitchFamily="18" charset="0"/>
                        <a:ea typeface="Cambria Math" panose="02040503050406030204" pitchFamily="18" charset="0"/>
                        <a:cs typeface="Malgun Gothic"/>
                        <a:sym typeface="Malgun Gothic"/>
                      </a:endParaRPr>
                    </a:p>
                  </a:txBody>
                  <a:tcPr marL="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184" name="Google Shape;184;p8"/>
          <p:cNvSpPr/>
          <p:nvPr/>
        </p:nvSpPr>
        <p:spPr>
          <a:xfrm>
            <a:off x="158593" y="808069"/>
            <a:ext cx="540533"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zh-TW" sz="2400" b="1" i="1" u="none" strike="noStrike" cap="none" dirty="0">
                <a:solidFill>
                  <a:srgbClr val="21BFCA"/>
                </a:solidFill>
                <a:latin typeface="Malgun Gothic"/>
                <a:ea typeface="Malgun Gothic"/>
                <a:cs typeface="Malgun Gothic"/>
                <a:sym typeface="Malgun Gothic"/>
              </a:rPr>
              <a:t>0</a:t>
            </a:r>
            <a:r>
              <a:rPr lang="en-US" altLang="zh-TW" sz="2400" b="1" i="1" dirty="0">
                <a:solidFill>
                  <a:srgbClr val="21BFCA"/>
                </a:solidFill>
                <a:latin typeface="Malgun Gothic"/>
                <a:ea typeface="Malgun Gothic"/>
                <a:cs typeface="Malgun Gothic"/>
                <a:sym typeface="Malgun Gothic"/>
              </a:rPr>
              <a:t>1</a:t>
            </a:r>
            <a:endParaRPr sz="2400" b="0" i="0" u="none" strike="noStrike" cap="none" dirty="0">
              <a:solidFill>
                <a:srgbClr val="21BFCA"/>
              </a:solidFill>
              <a:latin typeface="Malgun Gothic"/>
              <a:ea typeface="Malgun Gothic"/>
              <a:cs typeface="Malgun Gothic"/>
              <a:sym typeface="Malgun Gothic"/>
            </a:endParaRPr>
          </a:p>
        </p:txBody>
      </p:sp>
      <p:sp>
        <p:nvSpPr>
          <p:cNvPr id="185" name="Google Shape;185;p8"/>
          <p:cNvSpPr txBox="1"/>
          <p:nvPr/>
        </p:nvSpPr>
        <p:spPr>
          <a:xfrm>
            <a:off x="1381389" y="1269734"/>
            <a:ext cx="10607867" cy="506288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600"/>
              </a:spcAft>
              <a:buClr>
                <a:srgbClr val="000000"/>
              </a:buClr>
              <a:buSzPts val="2400"/>
              <a:buFont typeface="Arial"/>
              <a:buNone/>
            </a:pPr>
            <a:r>
              <a:rPr lang="zh-TW" sz="2400" b="1" i="0" u="none" strike="noStrike" cap="none" dirty="0">
                <a:solidFill>
                  <a:srgbClr val="002060"/>
                </a:solidFill>
                <a:latin typeface="Microsoft JhengHei"/>
                <a:ea typeface="Microsoft JhengHei"/>
                <a:cs typeface="Microsoft JhengHei"/>
                <a:sym typeface="Microsoft JhengHei"/>
              </a:rPr>
              <a:t>各變數與舞弊風險的關係</a:t>
            </a:r>
            <a:endParaRPr sz="2800" b="1" i="0" u="none" strike="noStrike" cap="none" dirty="0">
              <a:solidFill>
                <a:srgbClr val="002060"/>
              </a:solidFill>
              <a:latin typeface="Microsoft JhengHei"/>
              <a:ea typeface="Microsoft JhengHei"/>
              <a:cs typeface="Microsoft JhengHei"/>
              <a:sym typeface="Microsoft JhengHei"/>
            </a:endParaRPr>
          </a:p>
          <a:p>
            <a:pPr marL="0" marR="0" lvl="0" indent="0" algn="l" rtl="0">
              <a:lnSpc>
                <a:spcPct val="100000"/>
              </a:lnSpc>
              <a:spcBef>
                <a:spcPts val="0"/>
              </a:spcBef>
              <a:spcAft>
                <a:spcPts val="0"/>
              </a:spcAft>
              <a:buClr>
                <a:srgbClr val="000000"/>
              </a:buClr>
              <a:buSzPts val="2000"/>
              <a:buFont typeface="Arial"/>
              <a:buNone/>
            </a:pPr>
            <a:r>
              <a:rPr lang="zh-TW" sz="2000" b="1" i="0" u="none" strike="noStrike" cap="none" dirty="0">
                <a:solidFill>
                  <a:srgbClr val="1E4E79"/>
                </a:solidFill>
                <a:latin typeface="Microsoft JhengHei"/>
                <a:ea typeface="Microsoft JhengHei"/>
                <a:cs typeface="Microsoft JhengHei"/>
                <a:sym typeface="Microsoft JhengHei"/>
              </a:rPr>
              <a:t>1.    偽簽 &amp; 代簽</a:t>
            </a:r>
            <a:endParaRPr sz="2000" b="1" i="0" u="none" strike="noStrike" cap="none" dirty="0">
              <a:solidFill>
                <a:srgbClr val="1E4E79"/>
              </a:solidFill>
              <a:latin typeface="Microsoft JhengHei"/>
              <a:ea typeface="Microsoft JhengHei"/>
              <a:cs typeface="Microsoft JhengHei"/>
              <a:sym typeface="Microsoft JhengHei"/>
            </a:endParaRPr>
          </a:p>
          <a:p>
            <a:pPr marL="0" marR="0" lvl="0" indent="0" algn="l" rtl="0">
              <a:lnSpc>
                <a:spcPct val="100000"/>
              </a:lnSpc>
              <a:spcBef>
                <a:spcPts val="0"/>
              </a:spcBef>
              <a:spcAft>
                <a:spcPts val="600"/>
              </a:spcAft>
              <a:buClr>
                <a:srgbClr val="000000"/>
              </a:buClr>
              <a:buSzPts val="2000"/>
              <a:buFont typeface="Arial"/>
              <a:buNone/>
            </a:pPr>
            <a:r>
              <a:rPr lang="zh-TW" sz="1800" b="0" i="0" u="none" strike="noStrike" cap="none" dirty="0">
                <a:solidFill>
                  <a:schemeClr val="dk1"/>
                </a:solidFill>
                <a:latin typeface="Microsoft JhengHei"/>
                <a:ea typeface="Microsoft JhengHei"/>
                <a:cs typeface="Microsoft JhengHei"/>
                <a:sym typeface="Microsoft JhengHei"/>
              </a:rPr>
              <a:t>判例指出，曾有業務員冒名簽收理賠支票，並頂替客戶之名開立帳戶，在轉至業務員之銀行帳戶。最後保險公司須負連帶賠償責任。</a:t>
            </a:r>
            <a:endParaRPr sz="2000" b="1" i="0" u="none" strike="noStrike" cap="none" dirty="0">
              <a:solidFill>
                <a:srgbClr val="1E4E79"/>
              </a:solidFill>
              <a:latin typeface="Microsoft JhengHei"/>
              <a:ea typeface="Microsoft JhengHei"/>
              <a:cs typeface="Microsoft JhengHei"/>
              <a:sym typeface="Microsoft JhengHei"/>
            </a:endParaRPr>
          </a:p>
          <a:p>
            <a:pPr marL="457200" marR="0" lvl="0" indent="-457200" algn="l" rtl="0">
              <a:lnSpc>
                <a:spcPct val="100000"/>
              </a:lnSpc>
              <a:spcBef>
                <a:spcPts val="0"/>
              </a:spcBef>
              <a:spcAft>
                <a:spcPts val="0"/>
              </a:spcAft>
              <a:buClr>
                <a:srgbClr val="1E4E79"/>
              </a:buClr>
              <a:buSzPts val="2000"/>
              <a:buFont typeface="Microsoft JhengHei"/>
              <a:buAutoNum type="arabicPeriod" startAt="2"/>
            </a:pPr>
            <a:r>
              <a:rPr lang="zh-TW" sz="2000" b="1" i="0" u="none" strike="noStrike" cap="none" dirty="0">
                <a:solidFill>
                  <a:srgbClr val="1E4E79"/>
                </a:solidFill>
                <a:latin typeface="Microsoft JhengHei"/>
                <a:ea typeface="Microsoft JhengHei"/>
                <a:cs typeface="Microsoft JhengHei"/>
                <a:sym typeface="Microsoft JhengHei"/>
              </a:rPr>
              <a:t>不當招攬</a:t>
            </a:r>
            <a:endParaRPr sz="2000" b="1" i="0" u="none" strike="noStrike" cap="none" dirty="0">
              <a:solidFill>
                <a:srgbClr val="1E4E79"/>
              </a:solidFill>
              <a:latin typeface="Microsoft JhengHei"/>
              <a:ea typeface="Microsoft JhengHei"/>
              <a:cs typeface="Microsoft JhengHei"/>
              <a:sym typeface="Microsoft JhengHei"/>
            </a:endParaRPr>
          </a:p>
          <a:p>
            <a:pPr marL="0" marR="0" lvl="0" indent="0" algn="l" rtl="0">
              <a:lnSpc>
                <a:spcPct val="100000"/>
              </a:lnSpc>
              <a:spcBef>
                <a:spcPts val="600"/>
              </a:spcBef>
              <a:spcAft>
                <a:spcPts val="600"/>
              </a:spcAft>
              <a:buClr>
                <a:srgbClr val="000000"/>
              </a:buClr>
              <a:buSzPts val="1800"/>
              <a:buFont typeface="Arial"/>
              <a:buNone/>
            </a:pPr>
            <a:r>
              <a:rPr lang="zh-TW" sz="1800" b="0" i="0" u="none" strike="noStrike" cap="none" dirty="0">
                <a:solidFill>
                  <a:schemeClr val="tx1"/>
                </a:solidFill>
                <a:latin typeface="Microsoft JhengHei"/>
                <a:ea typeface="Microsoft JhengHei"/>
                <a:cs typeface="Microsoft JhengHei"/>
                <a:sym typeface="Microsoft JhengHei"/>
              </a:rPr>
              <a:t>以誇大不實的說法，誘使客戶誤信關於保單的特質，例如優惠的保證收益，或者使客戶誤信解約所造成的損失不大等未使客戶充分明白合約內容。若不當招攬屬實，則需將保費全數退回給客戶。造成公司財務及信譽上的損失。</a:t>
            </a:r>
            <a:endParaRPr sz="2000" b="1" i="0" u="none" strike="noStrike" cap="none" dirty="0">
              <a:solidFill>
                <a:srgbClr val="1E4E79"/>
              </a:solidFill>
              <a:latin typeface="Microsoft JhengHei"/>
              <a:ea typeface="Microsoft JhengHei"/>
              <a:cs typeface="Microsoft JhengHei"/>
              <a:sym typeface="Microsoft JhengHei"/>
            </a:endParaRPr>
          </a:p>
          <a:p>
            <a:pPr marL="0" marR="0" lvl="0" indent="0" algn="l" rtl="0">
              <a:lnSpc>
                <a:spcPct val="100000"/>
              </a:lnSpc>
              <a:spcBef>
                <a:spcPts val="0"/>
              </a:spcBef>
              <a:spcAft>
                <a:spcPts val="0"/>
              </a:spcAft>
              <a:buClr>
                <a:srgbClr val="000000"/>
              </a:buClr>
              <a:buSzPts val="2000"/>
              <a:buFont typeface="Arial"/>
              <a:buNone/>
            </a:pPr>
            <a:r>
              <a:rPr lang="zh-TW" sz="2000" b="1" i="0" u="none" strike="noStrike" cap="none" dirty="0">
                <a:solidFill>
                  <a:srgbClr val="1E4E79"/>
                </a:solidFill>
                <a:latin typeface="Microsoft JhengHei"/>
                <a:ea typeface="Microsoft JhengHei"/>
                <a:cs typeface="Microsoft JhengHei"/>
                <a:sym typeface="Microsoft JhengHei"/>
              </a:rPr>
              <a:t>3.    未視親簽</a:t>
            </a:r>
            <a:endParaRPr sz="2000" b="1" i="0" u="none" strike="noStrike" cap="none" dirty="0">
              <a:solidFill>
                <a:srgbClr val="1E4E79"/>
              </a:solidFill>
              <a:latin typeface="Microsoft JhengHei"/>
              <a:ea typeface="Microsoft JhengHei"/>
              <a:cs typeface="Microsoft JhengHei"/>
              <a:sym typeface="Microsoft JhengHei"/>
            </a:endParaRPr>
          </a:p>
          <a:p>
            <a:pPr marL="0" marR="0" lvl="0" indent="0" algn="l" rtl="0">
              <a:lnSpc>
                <a:spcPct val="100000"/>
              </a:lnSpc>
              <a:spcBef>
                <a:spcPts val="600"/>
              </a:spcBef>
              <a:spcAft>
                <a:spcPts val="0"/>
              </a:spcAft>
              <a:buClr>
                <a:srgbClr val="000000"/>
              </a:buClr>
              <a:buSzPts val="1800"/>
              <a:buFont typeface="Arial"/>
              <a:buNone/>
            </a:pPr>
            <a:r>
              <a:rPr lang="zh-TW" sz="1800" b="0" i="0" u="none" strike="noStrike" cap="none" dirty="0">
                <a:solidFill>
                  <a:schemeClr val="dk1"/>
                </a:solidFill>
                <a:latin typeface="Microsoft JhengHei"/>
                <a:ea typeface="Microsoft JhengHei"/>
                <a:cs typeface="Microsoft JhengHei"/>
                <a:sym typeface="Microsoft JhengHei"/>
              </a:rPr>
              <a:t>無法清楚瞭解消費者投保的動機</a:t>
            </a:r>
            <a:endParaRPr sz="1800" b="0" i="0" u="none" strike="noStrike" cap="none" dirty="0">
              <a:solidFill>
                <a:schemeClr val="dk1"/>
              </a:solidFill>
              <a:latin typeface="Microsoft JhengHei"/>
              <a:ea typeface="Microsoft JhengHei"/>
              <a:cs typeface="Microsoft JhengHei"/>
              <a:sym typeface="Microsoft JhengHei"/>
            </a:endParaRPr>
          </a:p>
          <a:p>
            <a:pPr marL="0" marR="0" lvl="0" indent="0" algn="l" rtl="0">
              <a:lnSpc>
                <a:spcPct val="100000"/>
              </a:lnSpc>
              <a:spcBef>
                <a:spcPts val="0"/>
              </a:spcBef>
              <a:spcAft>
                <a:spcPts val="0"/>
              </a:spcAft>
              <a:buClr>
                <a:srgbClr val="000000"/>
              </a:buClr>
              <a:buSzPts val="1800"/>
              <a:buFont typeface="Arial"/>
              <a:buNone/>
            </a:pPr>
            <a:r>
              <a:rPr lang="zh-TW" sz="1800" b="0" i="0" u="none" strike="noStrike" cap="none" dirty="0">
                <a:solidFill>
                  <a:schemeClr val="dk1"/>
                </a:solidFill>
                <a:latin typeface="Microsoft JhengHei"/>
                <a:ea typeface="Microsoft JhengHei"/>
                <a:cs typeface="Microsoft JhengHei"/>
                <a:sym typeface="Microsoft JhengHei"/>
              </a:rPr>
              <a:t>無法確認要保人與被保險人及被保險人與受益人之關係</a:t>
            </a:r>
            <a:endParaRPr sz="1800" b="0" i="0" u="none" strike="noStrike" cap="none" dirty="0">
              <a:solidFill>
                <a:schemeClr val="dk1"/>
              </a:solidFill>
              <a:latin typeface="Microsoft JhengHei"/>
              <a:ea typeface="Microsoft JhengHei"/>
              <a:cs typeface="Microsoft JhengHei"/>
              <a:sym typeface="Microsoft JhengHei"/>
            </a:endParaRPr>
          </a:p>
          <a:p>
            <a:pPr marL="0" marR="0" lvl="0" indent="0" algn="l" rtl="0">
              <a:lnSpc>
                <a:spcPct val="100000"/>
              </a:lnSpc>
              <a:spcBef>
                <a:spcPts val="0"/>
              </a:spcBef>
              <a:spcAft>
                <a:spcPts val="0"/>
              </a:spcAft>
              <a:buClr>
                <a:srgbClr val="000000"/>
              </a:buClr>
              <a:buSzPts val="1800"/>
              <a:buFont typeface="Arial"/>
              <a:buNone/>
            </a:pPr>
            <a:r>
              <a:rPr lang="zh-TW" sz="1800" b="0" i="0" u="none" strike="noStrike" cap="none" dirty="0">
                <a:solidFill>
                  <a:schemeClr val="dk1"/>
                </a:solidFill>
                <a:latin typeface="Microsoft JhengHei"/>
                <a:ea typeface="Microsoft JhengHei"/>
                <a:cs typeface="Microsoft JhengHei"/>
                <a:sym typeface="Microsoft JhengHei"/>
              </a:rPr>
              <a:t>無法瞭解要保人與被保險人之投保目的與需求 </a:t>
            </a:r>
            <a:endParaRPr sz="1800" b="0" i="0" u="none" strike="noStrike" cap="none" dirty="0">
              <a:solidFill>
                <a:schemeClr val="dk1"/>
              </a:solidFill>
              <a:latin typeface="Microsoft JhengHei"/>
              <a:ea typeface="Microsoft JhengHei"/>
              <a:cs typeface="Microsoft JhengHei"/>
              <a:sym typeface="Microsoft JhengHei"/>
            </a:endParaRPr>
          </a:p>
          <a:p>
            <a:pPr marL="0" marR="0" lvl="0" indent="0" algn="l" rtl="0">
              <a:lnSpc>
                <a:spcPct val="100000"/>
              </a:lnSpc>
              <a:spcBef>
                <a:spcPts val="0"/>
              </a:spcBef>
              <a:spcAft>
                <a:spcPts val="0"/>
              </a:spcAft>
              <a:buClr>
                <a:srgbClr val="000000"/>
              </a:buClr>
              <a:buSzPts val="1800"/>
              <a:buFont typeface="Arial"/>
              <a:buNone/>
            </a:pPr>
            <a:r>
              <a:rPr lang="zh-TW" sz="1800" b="0" i="0" u="none" strike="noStrike" cap="none" dirty="0">
                <a:solidFill>
                  <a:schemeClr val="dk1"/>
                </a:solidFill>
                <a:latin typeface="Microsoft JhengHei"/>
                <a:ea typeface="Microsoft JhengHei"/>
                <a:cs typeface="Microsoft JhengHei"/>
                <a:sym typeface="Microsoft JhengHei"/>
              </a:rPr>
              <a:t>財務狀況並考量保單適合度、保險費、保險金額與保障需求間之適當性</a:t>
            </a:r>
            <a:endParaRPr sz="1800" b="0" i="0" u="none" strike="noStrike" cap="none" dirty="0">
              <a:solidFill>
                <a:schemeClr val="dk1"/>
              </a:solidFill>
              <a:latin typeface="Microsoft JhengHei"/>
              <a:ea typeface="Microsoft JhengHei"/>
              <a:cs typeface="Microsoft JhengHei"/>
              <a:sym typeface="Microsoft JhengHei"/>
            </a:endParaRPr>
          </a:p>
          <a:p>
            <a:pPr marL="0" marR="0" lvl="0" indent="0" algn="l" rtl="0">
              <a:lnSpc>
                <a:spcPct val="100000"/>
              </a:lnSpc>
              <a:spcBef>
                <a:spcPts val="0"/>
              </a:spcBef>
              <a:spcAft>
                <a:spcPts val="0"/>
              </a:spcAft>
              <a:buClr>
                <a:srgbClr val="000000"/>
              </a:buClr>
              <a:buSzPts val="1800"/>
              <a:buFont typeface="Arial"/>
              <a:buNone/>
            </a:pPr>
            <a:r>
              <a:rPr lang="zh-TW" sz="1800" b="0" i="0" u="none" strike="noStrike" cap="none" dirty="0">
                <a:solidFill>
                  <a:schemeClr val="dk1"/>
                </a:solidFill>
                <a:latin typeface="Microsoft JhengHei"/>
                <a:ea typeface="Microsoft JhengHei"/>
                <a:cs typeface="Microsoft JhengHei"/>
                <a:sym typeface="Microsoft JhengHei"/>
              </a:rPr>
              <a:t>要保人、被保險人是否親自填寫要保書之內容</a:t>
            </a:r>
            <a:endParaRPr sz="1800" b="0" i="0" u="none" strike="noStrike" cap="none" dirty="0">
              <a:solidFill>
                <a:schemeClr val="dk1"/>
              </a:solidFill>
              <a:latin typeface="Microsoft JhengHei"/>
              <a:ea typeface="Microsoft JhengHei"/>
              <a:cs typeface="Microsoft JhengHei"/>
              <a:sym typeface="Microsoft JhengHei"/>
            </a:endParaRPr>
          </a:p>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dirty="0">
                <a:solidFill>
                  <a:schemeClr val="dk1"/>
                </a:solidFill>
                <a:latin typeface="Microsoft JhengHei"/>
                <a:ea typeface="Microsoft JhengHei"/>
                <a:cs typeface="Microsoft JhengHei"/>
                <a:sym typeface="Microsoft JhengHei"/>
              </a:rPr>
              <a:t>                                                                                                                                       金管會於102年已增加此規定</a:t>
            </a:r>
            <a:endParaRPr sz="1400" b="1" i="0" u="none" strike="noStrike" cap="none" dirty="0">
              <a:solidFill>
                <a:schemeClr val="dk1"/>
              </a:solidFill>
              <a:latin typeface="Microsoft JhengHei"/>
              <a:ea typeface="Microsoft JhengHei"/>
              <a:cs typeface="Microsoft JhengHei"/>
              <a:sym typeface="Microsoft JhengHei"/>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dirty="0">
              <a:solidFill>
                <a:srgbClr val="1E4E79"/>
              </a:solidFill>
              <a:latin typeface="Microsoft JhengHei"/>
              <a:ea typeface="Microsoft JhengHei"/>
              <a:cs typeface="Microsoft JhengHei"/>
              <a:sym typeface="Microsoft JhengHe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9"/>
          <p:cNvSpPr/>
          <p:nvPr/>
        </p:nvSpPr>
        <p:spPr>
          <a:xfrm>
            <a:off x="1848142" y="329912"/>
            <a:ext cx="3194050" cy="387350"/>
          </a:xfrm>
          <a:prstGeom prst="parallelogram">
            <a:avLst>
              <a:gd name="adj" fmla="val 69898"/>
            </a:avLst>
          </a:prstGeom>
          <a:solidFill>
            <a:srgbClr val="21BFCA"/>
          </a:solidFill>
          <a:ln w="161925" cap="sq" cmpd="sng">
            <a:solidFill>
              <a:srgbClr val="1E868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191" name="Google Shape;191;p9"/>
          <p:cNvSpPr/>
          <p:nvPr/>
        </p:nvSpPr>
        <p:spPr>
          <a:xfrm>
            <a:off x="1833992" y="329256"/>
            <a:ext cx="3194050" cy="387350"/>
          </a:xfrm>
          <a:prstGeom prst="parallelogram">
            <a:avLst>
              <a:gd name="adj" fmla="val 69898"/>
            </a:avLst>
          </a:prstGeom>
          <a:solidFill>
            <a:srgbClr val="21BFCA"/>
          </a:solidFill>
          <a:ln w="161925" cap="sq" cmpd="sng">
            <a:solidFill>
              <a:srgbClr val="21BFC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192" name="Google Shape;192;p9"/>
          <p:cNvSpPr/>
          <p:nvPr/>
        </p:nvSpPr>
        <p:spPr>
          <a:xfrm>
            <a:off x="4581237" y="329912"/>
            <a:ext cx="7525038" cy="387350"/>
          </a:xfrm>
          <a:prstGeom prst="parallelogram">
            <a:avLst>
              <a:gd name="adj" fmla="val 0"/>
            </a:avLst>
          </a:prstGeom>
          <a:solidFill>
            <a:srgbClr val="21BFCA"/>
          </a:solidFill>
          <a:ln w="161925" cap="sq" cmpd="sng">
            <a:solidFill>
              <a:srgbClr val="21BFC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193" name="Google Shape;193;p9"/>
          <p:cNvSpPr/>
          <p:nvPr/>
        </p:nvSpPr>
        <p:spPr>
          <a:xfrm>
            <a:off x="2066647" y="271786"/>
            <a:ext cx="6678682"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zh-TW" sz="2800" b="0" i="0" u="none" strike="noStrike" cap="none">
                <a:solidFill>
                  <a:srgbClr val="FFFFFF"/>
                </a:solidFill>
                <a:latin typeface="Microsoft JhengHei"/>
                <a:ea typeface="Microsoft JhengHei"/>
                <a:cs typeface="Microsoft JhengHei"/>
                <a:sym typeface="Microsoft JhengHei"/>
              </a:rPr>
              <a:t>各變數與業務員違約之相關性分析</a:t>
            </a:r>
            <a:endParaRPr sz="2800" b="0" i="0" u="none" strike="noStrike" cap="none">
              <a:solidFill>
                <a:srgbClr val="FFFFFF"/>
              </a:solidFill>
              <a:latin typeface="Microsoft JhengHei"/>
              <a:ea typeface="Microsoft JhengHei"/>
              <a:cs typeface="Microsoft JhengHei"/>
              <a:sym typeface="Microsoft JhengHei"/>
            </a:endParaRPr>
          </a:p>
        </p:txBody>
      </p:sp>
      <p:cxnSp>
        <p:nvCxnSpPr>
          <p:cNvPr id="194" name="Google Shape;194;p9"/>
          <p:cNvCxnSpPr/>
          <p:nvPr/>
        </p:nvCxnSpPr>
        <p:spPr>
          <a:xfrm>
            <a:off x="157389" y="1269734"/>
            <a:ext cx="1224000" cy="0"/>
          </a:xfrm>
          <a:prstGeom prst="straightConnector1">
            <a:avLst/>
          </a:prstGeom>
          <a:noFill/>
          <a:ln w="15875" cap="rnd" cmpd="sng">
            <a:solidFill>
              <a:srgbClr val="21BFCA"/>
            </a:solidFill>
            <a:prstDash val="solid"/>
            <a:round/>
            <a:headEnd type="none" w="sm" len="sm"/>
            <a:tailEnd type="none" w="sm" len="sm"/>
          </a:ln>
        </p:spPr>
      </p:cxnSp>
      <p:graphicFrame>
        <p:nvGraphicFramePr>
          <p:cNvPr id="195" name="Google Shape;195;p9"/>
          <p:cNvGraphicFramePr/>
          <p:nvPr>
            <p:extLst>
              <p:ext uri="{D42A27DB-BD31-4B8C-83A1-F6EECF244321}">
                <p14:modId xmlns:p14="http://schemas.microsoft.com/office/powerpoint/2010/main" val="956258002"/>
              </p:ext>
            </p:extLst>
          </p:nvPr>
        </p:nvGraphicFramePr>
        <p:xfrm>
          <a:off x="298393" y="6487160"/>
          <a:ext cx="11096375" cy="371930"/>
        </p:xfrm>
        <a:graphic>
          <a:graphicData uri="http://schemas.openxmlformats.org/drawingml/2006/table">
            <a:tbl>
              <a:tblPr firstRow="1" bandRow="1">
                <a:noFill/>
                <a:tableStyleId>{72FCF9FF-86DD-4F90-83C7-D16C962093AE}</a:tableStyleId>
              </a:tblPr>
              <a:tblGrid>
                <a:gridCol w="11096375">
                  <a:extLst>
                    <a:ext uri="{9D8B030D-6E8A-4147-A177-3AD203B41FA5}">
                      <a16:colId xmlns:a16="http://schemas.microsoft.com/office/drawing/2014/main" val="20000"/>
                    </a:ext>
                  </a:extLst>
                </a:gridCol>
              </a:tblGrid>
              <a:tr h="370850">
                <a:tc>
                  <a:txBody>
                    <a:bodyPr/>
                    <a:lstStyle/>
                    <a:p>
                      <a:pPr marL="0" marR="0" lvl="0" indent="0" algn="ctr" rtl="0">
                        <a:lnSpc>
                          <a:spcPct val="150000"/>
                        </a:lnSpc>
                        <a:spcBef>
                          <a:spcPts val="0"/>
                        </a:spcBef>
                        <a:spcAft>
                          <a:spcPts val="0"/>
                        </a:spcAft>
                        <a:buClr>
                          <a:srgbClr val="BFBFBF"/>
                        </a:buClr>
                        <a:buSzPts val="700"/>
                        <a:buFont typeface="Malgun Gothic"/>
                        <a:buNone/>
                      </a:pPr>
                      <a:r>
                        <a:rPr lang="en-US" altLang="zh-TW" sz="1400" b="0" i="0" u="none" strike="noStrike" cap="none" dirty="0">
                          <a:solidFill>
                            <a:schemeClr val="bg1"/>
                          </a:solidFill>
                          <a:latin typeface="Cambria Math" panose="02040503050406030204" pitchFamily="18" charset="0"/>
                          <a:ea typeface="Cambria Math" panose="02040503050406030204" pitchFamily="18" charset="0"/>
                          <a:cs typeface="Malgun Gothic"/>
                          <a:sym typeface="Malgun Gothic"/>
                        </a:rPr>
                        <a:t>9</a:t>
                      </a:r>
                      <a:endParaRPr sz="1400" b="0" i="0" u="none" strike="noStrike" cap="none" dirty="0">
                        <a:solidFill>
                          <a:schemeClr val="bg1"/>
                        </a:solidFill>
                        <a:latin typeface="Cambria Math" panose="02040503050406030204" pitchFamily="18" charset="0"/>
                        <a:ea typeface="Cambria Math" panose="02040503050406030204" pitchFamily="18" charset="0"/>
                        <a:cs typeface="Malgun Gothic"/>
                        <a:sym typeface="Malgun Gothic"/>
                      </a:endParaRPr>
                    </a:p>
                  </a:txBody>
                  <a:tcPr marL="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196" name="Google Shape;196;p9"/>
          <p:cNvSpPr/>
          <p:nvPr/>
        </p:nvSpPr>
        <p:spPr>
          <a:xfrm>
            <a:off x="158593" y="808069"/>
            <a:ext cx="540533"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zh-TW" sz="2400" b="1" i="1" u="none" strike="noStrike" cap="none" dirty="0">
                <a:solidFill>
                  <a:srgbClr val="21BFCA"/>
                </a:solidFill>
                <a:latin typeface="Malgun Gothic"/>
                <a:ea typeface="Malgun Gothic"/>
                <a:cs typeface="Malgun Gothic"/>
                <a:sym typeface="Malgun Gothic"/>
              </a:rPr>
              <a:t>0</a:t>
            </a:r>
            <a:r>
              <a:rPr lang="en-US" altLang="zh-TW" sz="2400" b="1" i="1" dirty="0">
                <a:solidFill>
                  <a:srgbClr val="21BFCA"/>
                </a:solidFill>
                <a:latin typeface="Malgun Gothic"/>
                <a:ea typeface="Malgun Gothic"/>
                <a:cs typeface="Malgun Gothic"/>
                <a:sym typeface="Malgun Gothic"/>
              </a:rPr>
              <a:t>1</a:t>
            </a:r>
            <a:endParaRPr sz="2400" b="0" i="0" u="none" strike="noStrike" cap="none" dirty="0">
              <a:solidFill>
                <a:srgbClr val="21BFCA"/>
              </a:solidFill>
              <a:latin typeface="Malgun Gothic"/>
              <a:ea typeface="Malgun Gothic"/>
              <a:cs typeface="Malgun Gothic"/>
              <a:sym typeface="Malgun Gothic"/>
            </a:endParaRPr>
          </a:p>
        </p:txBody>
      </p:sp>
      <p:sp>
        <p:nvSpPr>
          <p:cNvPr id="197" name="Google Shape;197;p9"/>
          <p:cNvSpPr txBox="1"/>
          <p:nvPr/>
        </p:nvSpPr>
        <p:spPr>
          <a:xfrm>
            <a:off x="1470097" y="1269734"/>
            <a:ext cx="10636178" cy="338550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zh-TW" sz="2000" b="1" i="0" u="none" strike="noStrike" cap="none" dirty="0">
                <a:solidFill>
                  <a:srgbClr val="1E4E79"/>
                </a:solidFill>
                <a:latin typeface="Microsoft JhengHei"/>
                <a:ea typeface="Microsoft JhengHei"/>
                <a:cs typeface="Microsoft JhengHei"/>
                <a:sym typeface="Microsoft JhengHei"/>
              </a:rPr>
              <a:t>4.    持有失效保單之客戶數</a:t>
            </a:r>
            <a:endParaRPr sz="2000" b="1" i="0" u="none" strike="noStrike" cap="none" dirty="0">
              <a:solidFill>
                <a:srgbClr val="1E4E79"/>
              </a:solidFill>
              <a:latin typeface="Microsoft JhengHei"/>
              <a:ea typeface="Microsoft JhengHei"/>
              <a:cs typeface="Microsoft JhengHei"/>
              <a:sym typeface="Microsoft JhengHei"/>
            </a:endParaRPr>
          </a:p>
          <a:p>
            <a:pPr marL="0" marR="0" lvl="0" indent="0" algn="l" rtl="0">
              <a:lnSpc>
                <a:spcPct val="100000"/>
              </a:lnSpc>
              <a:spcBef>
                <a:spcPts val="600"/>
              </a:spcBef>
              <a:spcAft>
                <a:spcPts val="0"/>
              </a:spcAft>
              <a:buClr>
                <a:srgbClr val="000000"/>
              </a:buClr>
              <a:buSzPts val="1800"/>
              <a:buFont typeface="Arial"/>
              <a:buNone/>
            </a:pPr>
            <a:r>
              <a:rPr lang="zh-TW" sz="1800" b="0" i="0" u="none" strike="noStrike" cap="none" dirty="0">
                <a:solidFill>
                  <a:schemeClr val="dk1"/>
                </a:solidFill>
                <a:latin typeface="Microsoft JhengHei"/>
                <a:ea typeface="Microsoft JhengHei"/>
                <a:cs typeface="Microsoft JhengHei"/>
                <a:sym typeface="Microsoft JhengHei"/>
              </a:rPr>
              <a:t>判例指出，有保戶未繳交保費之理由是業務員未去收費，導致保單失效。而該保戶說其業務員未提到保單有未繳費之情形，最終判決為保險公司未提醒保戶繳費，因此保單有效且保戶須補繳保費。</a:t>
            </a:r>
            <a:endParaRPr sz="1800" b="0" i="0" u="none" strike="noStrike" cap="none" dirty="0">
              <a:solidFill>
                <a:schemeClr val="dk1"/>
              </a:solidFill>
              <a:latin typeface="Microsoft JhengHei"/>
              <a:ea typeface="Microsoft JhengHei"/>
              <a:cs typeface="Microsoft JhengHei"/>
              <a:sym typeface="Microsoft JhengHei"/>
            </a:endParaRPr>
          </a:p>
          <a:p>
            <a:pPr marL="0" marR="0" lvl="0" indent="0" algn="l" rtl="0">
              <a:lnSpc>
                <a:spcPct val="100000"/>
              </a:lnSpc>
              <a:spcBef>
                <a:spcPts val="0"/>
              </a:spcBef>
              <a:spcAft>
                <a:spcPts val="0"/>
              </a:spcAft>
              <a:buClr>
                <a:srgbClr val="000000"/>
              </a:buClr>
              <a:buSzPts val="1800"/>
              <a:buFont typeface="Arial"/>
              <a:buNone/>
            </a:pPr>
            <a:r>
              <a:rPr lang="zh-TW" sz="1800" b="0" i="0" u="none" strike="noStrike" cap="none" dirty="0">
                <a:solidFill>
                  <a:schemeClr val="dk1"/>
                </a:solidFill>
                <a:latin typeface="Microsoft JhengHei"/>
                <a:ea typeface="Microsoft JhengHei"/>
                <a:cs typeface="Microsoft JhengHei"/>
                <a:sym typeface="Microsoft JhengHei"/>
              </a:rPr>
              <a:t>因此若失效保單客戶數高，可能表示業務員未盡其義務。</a:t>
            </a:r>
            <a:endParaRPr sz="1800" b="0" i="0" u="none" strike="noStrike" cap="none" dirty="0">
              <a:solidFill>
                <a:schemeClr val="dk1"/>
              </a:solidFill>
              <a:latin typeface="Microsoft JhengHei"/>
              <a:ea typeface="Microsoft JhengHei"/>
              <a:cs typeface="Microsoft JhengHei"/>
              <a:sym typeface="Microsoft JhengHei"/>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dirty="0">
              <a:solidFill>
                <a:srgbClr val="1E4E79"/>
              </a:solidFill>
              <a:latin typeface="Microsoft JhengHei"/>
              <a:ea typeface="Microsoft JhengHei"/>
              <a:cs typeface="Microsoft JhengHei"/>
              <a:sym typeface="Microsoft JhengHei"/>
            </a:endParaRPr>
          </a:p>
          <a:p>
            <a:pPr marL="457200" marR="0" lvl="0" indent="-457200" algn="l" rtl="0">
              <a:lnSpc>
                <a:spcPct val="100000"/>
              </a:lnSpc>
              <a:spcBef>
                <a:spcPts val="0"/>
              </a:spcBef>
              <a:spcAft>
                <a:spcPts val="0"/>
              </a:spcAft>
              <a:buClr>
                <a:srgbClr val="1E4E79"/>
              </a:buClr>
              <a:buSzPts val="2000"/>
              <a:buFont typeface="Microsoft JhengHei"/>
              <a:buAutoNum type="arabicPeriod" startAt="5"/>
            </a:pPr>
            <a:r>
              <a:rPr lang="zh-TW" sz="2000" b="1" i="0" u="none" strike="noStrike" cap="none" dirty="0">
                <a:solidFill>
                  <a:srgbClr val="1E4E79"/>
                </a:solidFill>
                <a:latin typeface="Microsoft JhengHei"/>
                <a:ea typeface="Microsoft JhengHei"/>
                <a:cs typeface="Microsoft JhengHei"/>
                <a:sym typeface="Microsoft JhengHei"/>
              </a:rPr>
              <a:t>墊繳保單數比例</a:t>
            </a:r>
            <a:endParaRPr sz="2000" b="1" i="0" u="none" strike="noStrike" cap="none" dirty="0">
              <a:solidFill>
                <a:srgbClr val="1E4E79"/>
              </a:solidFill>
              <a:latin typeface="Microsoft JhengHei"/>
              <a:ea typeface="Microsoft JhengHei"/>
              <a:cs typeface="Microsoft JhengHei"/>
              <a:sym typeface="Microsoft JhengHei"/>
            </a:endParaRPr>
          </a:p>
          <a:p>
            <a:pPr marL="0" marR="0" lvl="0" indent="0" algn="l" rtl="0">
              <a:lnSpc>
                <a:spcPct val="100000"/>
              </a:lnSpc>
              <a:spcBef>
                <a:spcPts val="600"/>
              </a:spcBef>
              <a:spcAft>
                <a:spcPts val="0"/>
              </a:spcAft>
              <a:buClr>
                <a:srgbClr val="000000"/>
              </a:buClr>
              <a:buSzPts val="1800"/>
              <a:buFont typeface="Arial"/>
              <a:buNone/>
            </a:pPr>
            <a:r>
              <a:rPr lang="zh-TW" sz="1800" b="0" i="0" u="none" strike="noStrike" cap="none" dirty="0">
                <a:solidFill>
                  <a:schemeClr val="dk1"/>
                </a:solidFill>
                <a:latin typeface="Microsoft JhengHei"/>
                <a:ea typeface="Microsoft JhengHei"/>
                <a:cs typeface="Microsoft JhengHei"/>
                <a:sym typeface="Microsoft JhengHei"/>
              </a:rPr>
              <a:t>保單進入墊繳表示保戶未準時繳交保費，是成為失效保單的前一步，因此與第4點指出的原因類似，其中可能包含業務員未盡其告知義務。</a:t>
            </a:r>
            <a:endParaRPr sz="2000" b="0" i="0" u="none" strike="noStrike" cap="none" dirty="0">
              <a:solidFill>
                <a:schemeClr val="dk1"/>
              </a:solidFill>
              <a:latin typeface="Microsoft JhengHei"/>
              <a:ea typeface="Microsoft JhengHei"/>
              <a:cs typeface="Microsoft JhengHei"/>
              <a:sym typeface="Microsoft JhengHei"/>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Microsoft JhengHei"/>
              <a:ea typeface="Microsoft JhengHei"/>
              <a:cs typeface="Microsoft JhengHei"/>
              <a:sym typeface="Microsoft JhengHei"/>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Microsoft JhengHei"/>
              <a:ea typeface="Microsoft JhengHei"/>
              <a:cs typeface="Microsoft JhengHei"/>
              <a:sym typeface="Microsoft JhengHei"/>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Microsoft JhengHei"/>
              <a:ea typeface="Microsoft JhengHei"/>
              <a:cs typeface="Microsoft JhengHei"/>
              <a:sym typeface="Microsoft JhengHe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gdbcf297a5f_0_0"/>
          <p:cNvSpPr/>
          <p:nvPr/>
        </p:nvSpPr>
        <p:spPr>
          <a:xfrm>
            <a:off x="1848142" y="329912"/>
            <a:ext cx="3194100" cy="387300"/>
          </a:xfrm>
          <a:prstGeom prst="parallelogram">
            <a:avLst>
              <a:gd name="adj" fmla="val 69898"/>
            </a:avLst>
          </a:prstGeom>
          <a:solidFill>
            <a:srgbClr val="21BFCA"/>
          </a:solidFill>
          <a:ln w="161925" cap="sq" cmpd="sng">
            <a:solidFill>
              <a:srgbClr val="1E868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215" name="Google Shape;215;gdbcf297a5f_0_0"/>
          <p:cNvSpPr/>
          <p:nvPr/>
        </p:nvSpPr>
        <p:spPr>
          <a:xfrm>
            <a:off x="1833992" y="329256"/>
            <a:ext cx="3194100" cy="387300"/>
          </a:xfrm>
          <a:prstGeom prst="parallelogram">
            <a:avLst>
              <a:gd name="adj" fmla="val 69898"/>
            </a:avLst>
          </a:prstGeom>
          <a:solidFill>
            <a:srgbClr val="21BFCA"/>
          </a:solidFill>
          <a:ln w="161925" cap="sq" cmpd="sng">
            <a:solidFill>
              <a:srgbClr val="21BFC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216" name="Google Shape;216;gdbcf297a5f_0_0"/>
          <p:cNvSpPr/>
          <p:nvPr/>
        </p:nvSpPr>
        <p:spPr>
          <a:xfrm>
            <a:off x="4581237" y="329912"/>
            <a:ext cx="7524900" cy="387300"/>
          </a:xfrm>
          <a:prstGeom prst="parallelogram">
            <a:avLst>
              <a:gd name="adj" fmla="val 0"/>
            </a:avLst>
          </a:prstGeom>
          <a:solidFill>
            <a:srgbClr val="21BFCA"/>
          </a:solidFill>
          <a:ln w="161925" cap="sq" cmpd="sng">
            <a:solidFill>
              <a:srgbClr val="21BFC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217" name="Google Shape;217;gdbcf297a5f_0_0"/>
          <p:cNvSpPr/>
          <p:nvPr/>
        </p:nvSpPr>
        <p:spPr>
          <a:xfrm>
            <a:off x="2066647" y="271786"/>
            <a:ext cx="6678600" cy="523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zh-TW" sz="2800">
                <a:solidFill>
                  <a:srgbClr val="FFFFFF"/>
                </a:solidFill>
                <a:latin typeface="Microsoft JhengHei"/>
                <a:ea typeface="Microsoft JhengHei"/>
                <a:cs typeface="Microsoft JhengHei"/>
                <a:sym typeface="Microsoft JhengHei"/>
              </a:rPr>
              <a:t>資料預處理</a:t>
            </a:r>
            <a:endParaRPr sz="2800" b="0" i="0" u="none" strike="noStrike" cap="none">
              <a:solidFill>
                <a:srgbClr val="FFFFFF"/>
              </a:solidFill>
              <a:latin typeface="Microsoft JhengHei"/>
              <a:ea typeface="Microsoft JhengHei"/>
              <a:cs typeface="Microsoft JhengHei"/>
              <a:sym typeface="Microsoft JhengHei"/>
            </a:endParaRPr>
          </a:p>
        </p:txBody>
      </p:sp>
      <p:graphicFrame>
        <p:nvGraphicFramePr>
          <p:cNvPr id="218" name="Google Shape;218;gdbcf297a5f_0_0"/>
          <p:cNvGraphicFramePr/>
          <p:nvPr>
            <p:extLst>
              <p:ext uri="{D42A27DB-BD31-4B8C-83A1-F6EECF244321}">
                <p14:modId xmlns:p14="http://schemas.microsoft.com/office/powerpoint/2010/main" val="375232429"/>
              </p:ext>
            </p:extLst>
          </p:nvPr>
        </p:nvGraphicFramePr>
        <p:xfrm>
          <a:off x="298393" y="6487160"/>
          <a:ext cx="11096375" cy="371930"/>
        </p:xfrm>
        <a:graphic>
          <a:graphicData uri="http://schemas.openxmlformats.org/drawingml/2006/table">
            <a:tbl>
              <a:tblPr firstRow="1" bandRow="1">
                <a:noFill/>
                <a:tableStyleId>{72FCF9FF-86DD-4F90-83C7-D16C962093AE}</a:tableStyleId>
              </a:tblPr>
              <a:tblGrid>
                <a:gridCol w="11096375">
                  <a:extLst>
                    <a:ext uri="{9D8B030D-6E8A-4147-A177-3AD203B41FA5}">
                      <a16:colId xmlns:a16="http://schemas.microsoft.com/office/drawing/2014/main" val="20000"/>
                    </a:ext>
                  </a:extLst>
                </a:gridCol>
              </a:tblGrid>
              <a:tr h="370850">
                <a:tc>
                  <a:txBody>
                    <a:bodyPr/>
                    <a:lstStyle/>
                    <a:p>
                      <a:pPr marL="0" marR="0" lvl="0" indent="0" algn="ctr" rtl="0">
                        <a:lnSpc>
                          <a:spcPct val="150000"/>
                        </a:lnSpc>
                        <a:spcBef>
                          <a:spcPts val="0"/>
                        </a:spcBef>
                        <a:spcAft>
                          <a:spcPts val="0"/>
                        </a:spcAft>
                        <a:buClr>
                          <a:srgbClr val="BFBFBF"/>
                        </a:buClr>
                        <a:buSzPts val="700"/>
                        <a:buFont typeface="Malgun Gothic"/>
                        <a:buNone/>
                      </a:pPr>
                      <a:r>
                        <a:rPr lang="en-US" altLang="zh-TW" sz="1400" b="0" i="0" u="none" strike="noStrike" cap="none" dirty="0">
                          <a:solidFill>
                            <a:schemeClr val="bg1"/>
                          </a:solidFill>
                          <a:latin typeface="Cambria Math" panose="02040503050406030204" pitchFamily="18" charset="0"/>
                          <a:ea typeface="Cambria Math" panose="02040503050406030204" pitchFamily="18" charset="0"/>
                          <a:cs typeface="Malgun Gothic"/>
                          <a:sym typeface="Malgun Gothic"/>
                        </a:rPr>
                        <a:t> </a:t>
                      </a:r>
                      <a:r>
                        <a:rPr lang="en-US" altLang="zh-TW" sz="1400" b="0" i="0" u="none" strike="noStrike" cap="none" dirty="0">
                          <a:solidFill>
                            <a:schemeClr val="bg1"/>
                          </a:solidFill>
                          <a:latin typeface="Cambria Math" panose="02040503050406030204" pitchFamily="18" charset="0"/>
                          <a:ea typeface="Cambria Math" panose="02040503050406030204" pitchFamily="18" charset="0"/>
                          <a:cs typeface="Times New Roman" panose="02020603050405020304" pitchFamily="18" charset="0"/>
                          <a:sym typeface="Malgun Gothic"/>
                        </a:rPr>
                        <a:t>10</a:t>
                      </a:r>
                      <a:endParaRPr sz="1400" b="0" i="0" u="none" strike="noStrike" cap="none" dirty="0">
                        <a:solidFill>
                          <a:schemeClr val="bg1"/>
                        </a:solidFill>
                        <a:latin typeface="Cambria Math" panose="02040503050406030204" pitchFamily="18" charset="0"/>
                        <a:ea typeface="Cambria Math" panose="02040503050406030204" pitchFamily="18" charset="0"/>
                        <a:cs typeface="Malgun Gothic"/>
                        <a:sym typeface="Malgun Gothic"/>
                      </a:endParaRPr>
                    </a:p>
                  </a:txBody>
                  <a:tcPr marL="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20" name="Google Shape;220;gdbcf297a5f_0_0"/>
          <p:cNvSpPr txBox="1"/>
          <p:nvPr/>
        </p:nvSpPr>
        <p:spPr>
          <a:xfrm>
            <a:off x="1381389" y="1273986"/>
            <a:ext cx="10153500" cy="4170342"/>
          </a:xfrm>
          <a:prstGeom prst="rect">
            <a:avLst/>
          </a:prstGeom>
          <a:noFill/>
          <a:ln>
            <a:noFill/>
          </a:ln>
        </p:spPr>
        <p:txBody>
          <a:bodyPr spcFirstLastPara="1" wrap="square" lIns="91425" tIns="91425" rIns="91425" bIns="91425" anchor="t" anchorCtr="0">
            <a:spAutoFit/>
          </a:bodyPr>
          <a:lstStyle/>
          <a:p>
            <a:pPr marL="101600" marR="0" lvl="0" algn="l" rtl="0">
              <a:lnSpc>
                <a:spcPct val="100000"/>
              </a:lnSpc>
              <a:spcBef>
                <a:spcPts val="0"/>
              </a:spcBef>
              <a:spcAft>
                <a:spcPts val="0"/>
              </a:spcAft>
              <a:buClr>
                <a:srgbClr val="1E4E79"/>
              </a:buClr>
              <a:buSzPts val="2000"/>
            </a:pPr>
            <a:r>
              <a:rPr lang="en-US" altLang="zh-TW" sz="2000" b="1" dirty="0">
                <a:solidFill>
                  <a:srgbClr val="1E4E79"/>
                </a:solidFill>
                <a:latin typeface="Microsoft JhengHei"/>
                <a:ea typeface="Microsoft JhengHei"/>
                <a:cs typeface="Microsoft JhengHei"/>
                <a:sym typeface="Microsoft JhengHei"/>
              </a:rPr>
              <a:t>1.</a:t>
            </a:r>
            <a:r>
              <a:rPr lang="zh-TW" altLang="en-US" sz="2000" b="1" dirty="0">
                <a:solidFill>
                  <a:srgbClr val="1E4E79"/>
                </a:solidFill>
                <a:latin typeface="Microsoft JhengHei"/>
                <a:ea typeface="Microsoft JhengHei"/>
                <a:cs typeface="Microsoft JhengHei"/>
                <a:sym typeface="Microsoft JhengHei"/>
              </a:rPr>
              <a:t>  </a:t>
            </a:r>
            <a:r>
              <a:rPr lang="zh-TW" sz="2000" b="1" dirty="0">
                <a:solidFill>
                  <a:srgbClr val="1E4E79"/>
                </a:solidFill>
                <a:latin typeface="Microsoft JhengHei"/>
                <a:ea typeface="Microsoft JhengHei"/>
                <a:cs typeface="Microsoft JhengHei"/>
                <a:sym typeface="Microsoft JhengHei"/>
              </a:rPr>
              <a:t>填補缺失值</a:t>
            </a:r>
            <a:endParaRPr sz="2000" b="1" dirty="0">
              <a:solidFill>
                <a:srgbClr val="1E4E79"/>
              </a:solidFill>
              <a:latin typeface="Microsoft JhengHei"/>
              <a:ea typeface="Microsoft JhengHei"/>
              <a:cs typeface="Microsoft JhengHei"/>
              <a:sym typeface="Microsoft JhengHei"/>
            </a:endParaRPr>
          </a:p>
          <a:p>
            <a:pPr marL="457200" marR="0" lvl="0" indent="0" algn="l" rtl="0">
              <a:lnSpc>
                <a:spcPct val="100000"/>
              </a:lnSpc>
              <a:spcBef>
                <a:spcPts val="600"/>
              </a:spcBef>
              <a:spcAft>
                <a:spcPts val="0"/>
              </a:spcAft>
              <a:buNone/>
            </a:pPr>
            <a:r>
              <a:rPr lang="zh-TW" sz="1800" dirty="0">
                <a:solidFill>
                  <a:schemeClr val="dk1"/>
                </a:solidFill>
                <a:latin typeface="Microsoft JhengHei"/>
                <a:ea typeface="Microsoft JhengHei"/>
                <a:cs typeface="Microsoft JhengHei"/>
                <a:sym typeface="Microsoft JhengHei"/>
              </a:rPr>
              <a:t>eg. 將 RECENCY 月份缺失值填入極大值</a:t>
            </a:r>
            <a:endParaRPr sz="1800" dirty="0">
              <a:solidFill>
                <a:schemeClr val="dk1"/>
              </a:solidFill>
              <a:latin typeface="Microsoft JhengHei"/>
              <a:ea typeface="Microsoft JhengHei"/>
              <a:cs typeface="Microsoft JhengHei"/>
              <a:sym typeface="Microsoft JhengHei"/>
            </a:endParaRPr>
          </a:p>
          <a:p>
            <a:pPr marL="101600" marR="0" lvl="0" algn="l" rtl="0">
              <a:lnSpc>
                <a:spcPct val="100000"/>
              </a:lnSpc>
              <a:spcBef>
                <a:spcPts val="0"/>
              </a:spcBef>
              <a:spcAft>
                <a:spcPts val="0"/>
              </a:spcAft>
              <a:buClr>
                <a:srgbClr val="1E4E79"/>
              </a:buClr>
              <a:buSzPts val="2000"/>
            </a:pPr>
            <a:endParaRPr lang="en-US" altLang="zh-TW" sz="1800" dirty="0">
              <a:solidFill>
                <a:schemeClr val="dk1"/>
              </a:solidFill>
              <a:latin typeface="Microsoft JhengHei"/>
              <a:ea typeface="Microsoft JhengHei"/>
              <a:cs typeface="Microsoft JhengHei"/>
              <a:sym typeface="Microsoft JhengHei"/>
            </a:endParaRPr>
          </a:p>
          <a:p>
            <a:pPr marL="101600" marR="0" lvl="0" algn="l" rtl="0">
              <a:lnSpc>
                <a:spcPct val="100000"/>
              </a:lnSpc>
              <a:spcBef>
                <a:spcPts val="0"/>
              </a:spcBef>
              <a:spcAft>
                <a:spcPts val="0"/>
              </a:spcAft>
              <a:buClr>
                <a:srgbClr val="1E4E79"/>
              </a:buClr>
              <a:buSzPts val="2000"/>
            </a:pPr>
            <a:endParaRPr lang="en-US" altLang="zh-TW" sz="2000" b="1" dirty="0">
              <a:solidFill>
                <a:srgbClr val="1E4E79"/>
              </a:solidFill>
              <a:latin typeface="Microsoft JhengHei"/>
              <a:ea typeface="Microsoft JhengHei"/>
              <a:cs typeface="Microsoft JhengHei"/>
              <a:sym typeface="Microsoft JhengHei"/>
            </a:endParaRPr>
          </a:p>
          <a:p>
            <a:pPr marL="101600" marR="0" lvl="0" algn="l" rtl="0">
              <a:lnSpc>
                <a:spcPct val="100000"/>
              </a:lnSpc>
              <a:spcBef>
                <a:spcPts val="0"/>
              </a:spcBef>
              <a:spcAft>
                <a:spcPts val="0"/>
              </a:spcAft>
              <a:buClr>
                <a:srgbClr val="1E4E79"/>
              </a:buClr>
              <a:buSzPts val="2000"/>
            </a:pPr>
            <a:r>
              <a:rPr lang="en-US" altLang="zh-TW" sz="2000" b="1" dirty="0">
                <a:solidFill>
                  <a:srgbClr val="1E4E79"/>
                </a:solidFill>
                <a:latin typeface="Microsoft JhengHei"/>
                <a:ea typeface="Microsoft JhengHei"/>
                <a:cs typeface="Microsoft JhengHei"/>
                <a:sym typeface="Microsoft JhengHei"/>
              </a:rPr>
              <a:t>2.</a:t>
            </a:r>
            <a:r>
              <a:rPr lang="zh-TW" altLang="en-US" sz="2000" b="1" dirty="0">
                <a:solidFill>
                  <a:srgbClr val="1E4E79"/>
                </a:solidFill>
                <a:latin typeface="Microsoft JhengHei"/>
                <a:ea typeface="Microsoft JhengHei"/>
                <a:cs typeface="Microsoft JhengHei"/>
                <a:sym typeface="Microsoft JhengHei"/>
              </a:rPr>
              <a:t>  </a:t>
            </a:r>
            <a:r>
              <a:rPr lang="zh-TW" sz="2000" b="1" dirty="0">
                <a:solidFill>
                  <a:srgbClr val="1E4E79"/>
                </a:solidFill>
                <a:latin typeface="Microsoft JhengHei"/>
                <a:ea typeface="Microsoft JhengHei"/>
                <a:cs typeface="Microsoft JhengHei"/>
                <a:sym typeface="Microsoft JhengHei"/>
              </a:rPr>
              <a:t>資料不平衡</a:t>
            </a:r>
            <a:endParaRPr sz="2000" b="1" dirty="0">
              <a:solidFill>
                <a:srgbClr val="1E4E79"/>
              </a:solidFill>
              <a:latin typeface="Microsoft JhengHei"/>
              <a:ea typeface="Microsoft JhengHei"/>
              <a:cs typeface="Microsoft JhengHei"/>
              <a:sym typeface="Microsoft JhengHei"/>
            </a:endParaRPr>
          </a:p>
          <a:p>
            <a:pPr marL="457200" lvl="0" indent="0" algn="l" rtl="0">
              <a:spcBef>
                <a:spcPts val="600"/>
              </a:spcBef>
              <a:spcAft>
                <a:spcPts val="0"/>
              </a:spcAft>
              <a:buNone/>
            </a:pPr>
            <a:r>
              <a:rPr lang="zh-TW" sz="1800" dirty="0">
                <a:solidFill>
                  <a:schemeClr val="dk1"/>
                </a:solidFill>
                <a:latin typeface="Microsoft JhengHei"/>
                <a:ea typeface="Microsoft JhengHei"/>
                <a:cs typeface="Microsoft JhengHei"/>
                <a:sym typeface="Microsoft JhengHei"/>
              </a:rPr>
              <a:t>非舞弊的資料只有0.65%</a:t>
            </a:r>
            <a:endParaRPr sz="1800" dirty="0">
              <a:solidFill>
                <a:schemeClr val="dk1"/>
              </a:solidFill>
              <a:latin typeface="Microsoft JhengHei"/>
              <a:ea typeface="Microsoft JhengHei"/>
              <a:cs typeface="Microsoft JhengHei"/>
              <a:sym typeface="Microsoft JhengHei"/>
            </a:endParaRPr>
          </a:p>
          <a:p>
            <a:pPr marL="457200" lvl="0" indent="0" algn="l" rtl="0">
              <a:spcBef>
                <a:spcPts val="600"/>
              </a:spcBef>
              <a:spcAft>
                <a:spcPts val="0"/>
              </a:spcAft>
              <a:buNone/>
            </a:pPr>
            <a:r>
              <a:rPr lang="zh-TW" sz="1800" dirty="0">
                <a:solidFill>
                  <a:schemeClr val="dk1"/>
                </a:solidFill>
                <a:latin typeface="Microsoft JhengHei"/>
                <a:ea typeface="Microsoft JhengHei"/>
                <a:cs typeface="Microsoft JhengHei"/>
                <a:sym typeface="Microsoft JhengHei"/>
              </a:rPr>
              <a:t>使用oversampling，生成y=1的資料，使y=0及y=1的資料比為1:1，共47688筆資料</a:t>
            </a:r>
            <a:endParaRPr sz="1800" dirty="0">
              <a:solidFill>
                <a:schemeClr val="dk1"/>
              </a:solidFill>
              <a:latin typeface="Microsoft JhengHei"/>
              <a:ea typeface="Microsoft JhengHei"/>
              <a:cs typeface="Microsoft JhengHei"/>
              <a:sym typeface="Microsoft JhengHei"/>
            </a:endParaRPr>
          </a:p>
          <a:p>
            <a:pPr marL="101600" lvl="0" algn="l" rtl="0">
              <a:spcBef>
                <a:spcPts val="600"/>
              </a:spcBef>
              <a:spcAft>
                <a:spcPts val="0"/>
              </a:spcAft>
              <a:buClr>
                <a:srgbClr val="1E4E79"/>
              </a:buClr>
              <a:buSzPts val="2000"/>
            </a:pPr>
            <a:endParaRPr lang="en-US" altLang="zh-TW" sz="1800" dirty="0">
              <a:solidFill>
                <a:schemeClr val="dk1"/>
              </a:solidFill>
              <a:latin typeface="Microsoft JhengHei"/>
              <a:ea typeface="Microsoft JhengHei"/>
              <a:cs typeface="Microsoft JhengHei"/>
              <a:sym typeface="Microsoft JhengHei"/>
            </a:endParaRPr>
          </a:p>
          <a:p>
            <a:pPr marL="101600" lvl="0" algn="l" rtl="0">
              <a:spcBef>
                <a:spcPts val="600"/>
              </a:spcBef>
              <a:spcAft>
                <a:spcPts val="0"/>
              </a:spcAft>
              <a:buClr>
                <a:srgbClr val="1E4E79"/>
              </a:buClr>
              <a:buSzPts val="2000"/>
            </a:pPr>
            <a:r>
              <a:rPr lang="en-US" altLang="zh-TW" sz="2000" b="1" dirty="0">
                <a:solidFill>
                  <a:srgbClr val="1E4E79"/>
                </a:solidFill>
                <a:latin typeface="Microsoft JhengHei"/>
                <a:ea typeface="Microsoft JhengHei"/>
                <a:cs typeface="Microsoft JhengHei"/>
                <a:sym typeface="Microsoft JhengHei"/>
              </a:rPr>
              <a:t>3.</a:t>
            </a:r>
            <a:r>
              <a:rPr lang="zh-TW" altLang="en-US" sz="2000" b="1" dirty="0">
                <a:solidFill>
                  <a:srgbClr val="1E4E79"/>
                </a:solidFill>
                <a:latin typeface="Microsoft JhengHei"/>
                <a:ea typeface="Microsoft JhengHei"/>
                <a:cs typeface="Microsoft JhengHei"/>
                <a:sym typeface="Microsoft JhengHei"/>
              </a:rPr>
              <a:t>  </a:t>
            </a:r>
            <a:r>
              <a:rPr lang="zh-TW" sz="2000" b="1" dirty="0">
                <a:solidFill>
                  <a:srgbClr val="1E4E79"/>
                </a:solidFill>
                <a:latin typeface="Microsoft JhengHei"/>
                <a:ea typeface="Microsoft JhengHei"/>
                <a:cs typeface="Microsoft JhengHei"/>
                <a:sym typeface="Microsoft JhengHei"/>
              </a:rPr>
              <a:t>加入時間維度</a:t>
            </a:r>
            <a:endParaRPr sz="2000" b="1" i="0" u="none" strike="noStrike" cap="none" dirty="0">
              <a:solidFill>
                <a:srgbClr val="1E4E79"/>
              </a:solidFill>
              <a:latin typeface="Microsoft JhengHei"/>
              <a:ea typeface="Microsoft JhengHei"/>
              <a:cs typeface="Microsoft JhengHei"/>
              <a:sym typeface="Microsoft JhengHei"/>
            </a:endParaRPr>
          </a:p>
          <a:p>
            <a:pPr marL="457200" marR="0" lvl="0" indent="0" algn="l" rtl="0">
              <a:lnSpc>
                <a:spcPct val="100000"/>
              </a:lnSpc>
              <a:spcBef>
                <a:spcPts val="600"/>
              </a:spcBef>
              <a:spcAft>
                <a:spcPts val="0"/>
              </a:spcAft>
              <a:buNone/>
            </a:pPr>
            <a:r>
              <a:rPr lang="zh-TW" sz="1800" b="0" i="0" u="none" strike="noStrike" cap="none" dirty="0">
                <a:solidFill>
                  <a:schemeClr val="dk1"/>
                </a:solidFill>
                <a:latin typeface="Microsoft JhengHei"/>
                <a:ea typeface="Microsoft JhengHei"/>
                <a:cs typeface="Microsoft JhengHei"/>
                <a:sym typeface="Microsoft JhengHei"/>
              </a:rPr>
              <a:t>將含有時間資訊的變數，前後三個月資料相減，考慮時間變化量的影響，將數量及是否舞弊之二維資訊提升為變化量與舞弊之三維資訊。</a:t>
            </a:r>
            <a:endParaRPr sz="1800" b="0" i="0" u="none" strike="noStrike" cap="none" dirty="0">
              <a:solidFill>
                <a:schemeClr val="dk1"/>
              </a:solidFill>
              <a:latin typeface="Microsoft JhengHei"/>
              <a:ea typeface="Microsoft JhengHei"/>
              <a:cs typeface="Microsoft JhengHei"/>
              <a:sym typeface="Microsoft JhengHei"/>
            </a:endParaRPr>
          </a:p>
          <a:p>
            <a:pPr marL="0" marR="0" lvl="0" indent="457200" algn="l" rtl="0">
              <a:lnSpc>
                <a:spcPct val="100000"/>
              </a:lnSpc>
              <a:spcBef>
                <a:spcPts val="600"/>
              </a:spcBef>
              <a:spcAft>
                <a:spcPts val="0"/>
              </a:spcAft>
              <a:buNone/>
            </a:pPr>
            <a:r>
              <a:rPr lang="zh-TW" sz="1800" b="1" i="0" u="none" strike="noStrike" cap="none" dirty="0">
                <a:solidFill>
                  <a:schemeClr val="dk1"/>
                </a:solidFill>
                <a:latin typeface="Microsoft JhengHei"/>
                <a:ea typeface="Microsoft JhengHei"/>
                <a:cs typeface="Microsoft JhengHei"/>
                <a:sym typeface="Microsoft JhengHei"/>
              </a:rPr>
              <a:t>→</a:t>
            </a:r>
            <a:r>
              <a:rPr lang="zh-TW" sz="1800" b="0" i="0" u="none" strike="noStrike" cap="none" dirty="0">
                <a:solidFill>
                  <a:schemeClr val="dk1"/>
                </a:solidFill>
                <a:latin typeface="Microsoft JhengHei"/>
                <a:ea typeface="Microsoft JhengHei"/>
                <a:cs typeface="Microsoft JhengHei"/>
                <a:sym typeface="Microsoft JhengHei"/>
              </a:rPr>
              <a:t>當符合其他條件，</a:t>
            </a:r>
            <a:r>
              <a:rPr lang="zh-TW" sz="1800" b="0" i="0" u="none" strike="noStrike" cap="none" dirty="0">
                <a:solidFill>
                  <a:srgbClr val="0070C0"/>
                </a:solidFill>
                <a:latin typeface="Microsoft JhengHei"/>
                <a:ea typeface="Microsoft JhengHei"/>
                <a:cs typeface="Microsoft JhengHei"/>
                <a:sym typeface="Microsoft JhengHei"/>
              </a:rPr>
              <a:t>停效保單總數變化量</a:t>
            </a:r>
            <a:r>
              <a:rPr lang="zh-TW" sz="1800" b="0" i="0" u="none" strike="noStrike" cap="none" dirty="0">
                <a:solidFill>
                  <a:schemeClr val="dk1"/>
                </a:solidFill>
                <a:latin typeface="Microsoft JhengHei"/>
                <a:ea typeface="Microsoft JhengHei"/>
                <a:cs typeface="Microsoft JhengHei"/>
                <a:sym typeface="Microsoft JhengHei"/>
              </a:rPr>
              <a:t>及</a:t>
            </a:r>
            <a:r>
              <a:rPr lang="zh-TW" sz="1800" b="0" i="0" u="none" strike="noStrike" cap="none" dirty="0">
                <a:solidFill>
                  <a:srgbClr val="0070C0"/>
                </a:solidFill>
                <a:latin typeface="Microsoft JhengHei"/>
                <a:ea typeface="Microsoft JhengHei"/>
                <a:cs typeface="Microsoft JhengHei"/>
                <a:sym typeface="Microsoft JhengHei"/>
              </a:rPr>
              <a:t>投資型保單總數</a:t>
            </a:r>
            <a:r>
              <a:rPr lang="zh-TW" sz="1800" b="0" i="0" u="none" strike="noStrike" cap="none" dirty="0">
                <a:solidFill>
                  <a:schemeClr val="dk1"/>
                </a:solidFill>
                <a:latin typeface="Microsoft JhengHei"/>
                <a:ea typeface="Microsoft JhengHei"/>
                <a:cs typeface="Microsoft JhengHei"/>
                <a:sym typeface="Microsoft JhengHei"/>
              </a:rPr>
              <a:t>可能為抓出舞弊業務員的變數</a:t>
            </a:r>
            <a:endParaRPr sz="1800" b="1" i="0" u="none" strike="noStrike" cap="none" dirty="0">
              <a:solidFill>
                <a:schemeClr val="dk1"/>
              </a:solidFill>
              <a:latin typeface="Microsoft JhengHei"/>
              <a:ea typeface="Microsoft JhengHei"/>
              <a:cs typeface="Microsoft JhengHei"/>
              <a:sym typeface="Microsoft JhengHei"/>
            </a:endParaRPr>
          </a:p>
        </p:txBody>
      </p:sp>
      <p:cxnSp>
        <p:nvCxnSpPr>
          <p:cNvPr id="221" name="Google Shape;221;gdbcf297a5f_0_0"/>
          <p:cNvCxnSpPr/>
          <p:nvPr/>
        </p:nvCxnSpPr>
        <p:spPr>
          <a:xfrm>
            <a:off x="157389" y="1274020"/>
            <a:ext cx="1224000" cy="0"/>
          </a:xfrm>
          <a:prstGeom prst="straightConnector1">
            <a:avLst/>
          </a:prstGeom>
          <a:noFill/>
          <a:ln w="15875" cap="rnd" cmpd="sng">
            <a:solidFill>
              <a:srgbClr val="21BFCA"/>
            </a:solidFill>
            <a:prstDash val="solid"/>
            <a:round/>
            <a:headEnd type="none" w="sm" len="sm"/>
            <a:tailEnd type="none" w="sm" len="sm"/>
          </a:ln>
        </p:spPr>
      </p:cxnSp>
      <p:sp>
        <p:nvSpPr>
          <p:cNvPr id="222" name="Google Shape;222;gdbcf297a5f_0_0"/>
          <p:cNvSpPr/>
          <p:nvPr/>
        </p:nvSpPr>
        <p:spPr>
          <a:xfrm>
            <a:off x="158593" y="812355"/>
            <a:ext cx="540600" cy="461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zh-TW" sz="2400" b="1" i="1" u="none" strike="noStrike" cap="none" dirty="0">
                <a:solidFill>
                  <a:srgbClr val="21BFCA"/>
                </a:solidFill>
                <a:latin typeface="Malgun Gothic"/>
                <a:ea typeface="Malgun Gothic"/>
                <a:cs typeface="Malgun Gothic"/>
                <a:sym typeface="Malgun Gothic"/>
              </a:rPr>
              <a:t>0</a:t>
            </a:r>
            <a:r>
              <a:rPr lang="en-US" altLang="zh-TW" sz="2400" b="1" i="1" dirty="0">
                <a:solidFill>
                  <a:srgbClr val="21BFCA"/>
                </a:solidFill>
                <a:latin typeface="Malgun Gothic"/>
                <a:ea typeface="Malgun Gothic"/>
                <a:cs typeface="Malgun Gothic"/>
                <a:sym typeface="Malgun Gothic"/>
              </a:rPr>
              <a:t>2</a:t>
            </a:r>
            <a:endParaRPr sz="2400" b="0" i="0" u="none" strike="noStrike" cap="none" dirty="0">
              <a:solidFill>
                <a:srgbClr val="21BFCA"/>
              </a:solidFill>
              <a:latin typeface="Malgun Gothic"/>
              <a:ea typeface="Malgun Gothic"/>
              <a:cs typeface="Malgun Gothic"/>
              <a:sym typeface="Malgun Gothic"/>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gd9279c01cd_0_5"/>
          <p:cNvSpPr/>
          <p:nvPr/>
        </p:nvSpPr>
        <p:spPr>
          <a:xfrm>
            <a:off x="1848142" y="329912"/>
            <a:ext cx="3194100" cy="387300"/>
          </a:xfrm>
          <a:prstGeom prst="parallelogram">
            <a:avLst>
              <a:gd name="adj" fmla="val 69898"/>
            </a:avLst>
          </a:prstGeom>
          <a:solidFill>
            <a:srgbClr val="21BFCA"/>
          </a:solidFill>
          <a:ln w="161925" cap="sq" cmpd="sng">
            <a:solidFill>
              <a:srgbClr val="1E868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228" name="Google Shape;228;gd9279c01cd_0_5"/>
          <p:cNvSpPr/>
          <p:nvPr/>
        </p:nvSpPr>
        <p:spPr>
          <a:xfrm>
            <a:off x="1833992" y="329256"/>
            <a:ext cx="3194100" cy="387300"/>
          </a:xfrm>
          <a:prstGeom prst="parallelogram">
            <a:avLst>
              <a:gd name="adj" fmla="val 69898"/>
            </a:avLst>
          </a:prstGeom>
          <a:solidFill>
            <a:srgbClr val="21BFCA"/>
          </a:solidFill>
          <a:ln w="161925" cap="sq" cmpd="sng">
            <a:solidFill>
              <a:srgbClr val="21BFC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229" name="Google Shape;229;gd9279c01cd_0_5"/>
          <p:cNvSpPr/>
          <p:nvPr/>
        </p:nvSpPr>
        <p:spPr>
          <a:xfrm>
            <a:off x="4581237" y="329912"/>
            <a:ext cx="7524900" cy="387300"/>
          </a:xfrm>
          <a:prstGeom prst="parallelogram">
            <a:avLst>
              <a:gd name="adj" fmla="val 0"/>
            </a:avLst>
          </a:prstGeom>
          <a:solidFill>
            <a:srgbClr val="21BFCA"/>
          </a:solidFill>
          <a:ln w="161925" cap="sq" cmpd="sng">
            <a:solidFill>
              <a:srgbClr val="21BFC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230" name="Google Shape;230;gd9279c01cd_0_5"/>
          <p:cNvSpPr/>
          <p:nvPr/>
        </p:nvSpPr>
        <p:spPr>
          <a:xfrm>
            <a:off x="2066647" y="271786"/>
            <a:ext cx="6678600" cy="523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zh-TW" sz="2800" b="0" i="0" u="none" strike="noStrike" cap="none" dirty="0">
                <a:solidFill>
                  <a:srgbClr val="FFFFFF"/>
                </a:solidFill>
                <a:latin typeface="Microsoft JhengHei"/>
                <a:ea typeface="Microsoft JhengHei"/>
                <a:cs typeface="Microsoft JhengHei"/>
                <a:sym typeface="Microsoft JhengHei"/>
              </a:rPr>
              <a:t>Tree Model</a:t>
            </a:r>
            <a:r>
              <a:rPr lang="zh-TW" altLang="en-US" sz="2800" b="0" i="0" u="none" strike="noStrike" cap="none" dirty="0">
                <a:solidFill>
                  <a:srgbClr val="FFFFFF"/>
                </a:solidFill>
                <a:latin typeface="Microsoft JhengHei"/>
                <a:ea typeface="Microsoft JhengHei"/>
                <a:cs typeface="Microsoft JhengHei"/>
                <a:sym typeface="Microsoft JhengHei"/>
              </a:rPr>
              <a:t> </a:t>
            </a:r>
            <a:endParaRPr sz="2800" b="0" i="0" u="none" strike="noStrike" cap="none" dirty="0">
              <a:solidFill>
                <a:srgbClr val="FFFFFF"/>
              </a:solidFill>
              <a:latin typeface="Microsoft JhengHei"/>
              <a:ea typeface="Microsoft JhengHei"/>
              <a:cs typeface="Microsoft JhengHei"/>
              <a:sym typeface="Microsoft JhengHei"/>
            </a:endParaRPr>
          </a:p>
        </p:txBody>
      </p:sp>
      <p:graphicFrame>
        <p:nvGraphicFramePr>
          <p:cNvPr id="231" name="Google Shape;231;gd9279c01cd_0_5"/>
          <p:cNvGraphicFramePr/>
          <p:nvPr>
            <p:extLst>
              <p:ext uri="{D42A27DB-BD31-4B8C-83A1-F6EECF244321}">
                <p14:modId xmlns:p14="http://schemas.microsoft.com/office/powerpoint/2010/main" val="2401488354"/>
              </p:ext>
            </p:extLst>
          </p:nvPr>
        </p:nvGraphicFramePr>
        <p:xfrm>
          <a:off x="298393" y="6487160"/>
          <a:ext cx="11096375" cy="370850"/>
        </p:xfrm>
        <a:graphic>
          <a:graphicData uri="http://schemas.openxmlformats.org/drawingml/2006/table">
            <a:tbl>
              <a:tblPr firstRow="1" bandRow="1">
                <a:noFill/>
                <a:tableStyleId>{72FCF9FF-86DD-4F90-83C7-D16C962093AE}</a:tableStyleId>
              </a:tblPr>
              <a:tblGrid>
                <a:gridCol w="11096375">
                  <a:extLst>
                    <a:ext uri="{9D8B030D-6E8A-4147-A177-3AD203B41FA5}">
                      <a16:colId xmlns:a16="http://schemas.microsoft.com/office/drawing/2014/main" val="20000"/>
                    </a:ext>
                  </a:extLst>
                </a:gridCol>
              </a:tblGrid>
              <a:tr h="370850">
                <a:tc>
                  <a:txBody>
                    <a:bodyPr/>
                    <a:lstStyle/>
                    <a:p>
                      <a:pPr marL="0" marR="0" lvl="0" indent="0" algn="ctr" rtl="0">
                        <a:lnSpc>
                          <a:spcPct val="150000"/>
                        </a:lnSpc>
                        <a:spcBef>
                          <a:spcPts val="0"/>
                        </a:spcBef>
                        <a:spcAft>
                          <a:spcPts val="0"/>
                        </a:spcAft>
                        <a:buClr>
                          <a:srgbClr val="BFBFBF"/>
                        </a:buClr>
                        <a:buSzPts val="700"/>
                        <a:buFont typeface="Malgun Gothic"/>
                        <a:buNone/>
                      </a:pPr>
                      <a:r>
                        <a:rPr lang="en-US" altLang="zh-TW" sz="700" b="0" i="0" u="none" strike="noStrike" cap="none" dirty="0">
                          <a:solidFill>
                            <a:srgbClr val="BFBFBF"/>
                          </a:solidFill>
                          <a:latin typeface="Malgun Gothic"/>
                          <a:ea typeface="Malgun Gothic"/>
                          <a:cs typeface="Malgun Gothic"/>
                          <a:sym typeface="Malgun Gothic"/>
                        </a:rPr>
                        <a:t> </a:t>
                      </a:r>
                      <a:endParaRPr sz="4800" b="0" i="0" u="none" strike="noStrike" cap="none" dirty="0">
                        <a:solidFill>
                          <a:srgbClr val="BFBFBF"/>
                        </a:solidFill>
                        <a:latin typeface="Malgun Gothic"/>
                        <a:ea typeface="Malgun Gothic"/>
                        <a:cs typeface="Malgun Gothic"/>
                        <a:sym typeface="Malgun Gothic"/>
                      </a:endParaRPr>
                    </a:p>
                  </a:txBody>
                  <a:tcPr marL="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3" name="Google Shape;233;gd9279c01cd_0_5"/>
          <p:cNvSpPr txBox="1"/>
          <p:nvPr/>
        </p:nvSpPr>
        <p:spPr>
          <a:xfrm>
            <a:off x="1381389" y="1274020"/>
            <a:ext cx="10153500" cy="2940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None/>
            </a:pPr>
            <a:r>
              <a:rPr lang="zh-TW" sz="2400" b="1" i="0" u="none" strike="noStrike" cap="none" dirty="0">
                <a:solidFill>
                  <a:srgbClr val="2F5496"/>
                </a:solidFill>
                <a:latin typeface="Microsoft JhengHei"/>
                <a:ea typeface="Microsoft JhengHei"/>
                <a:cs typeface="Microsoft JhengHei"/>
                <a:sym typeface="Microsoft JhengHei"/>
              </a:rPr>
              <a:t>Decision Tree方法說明</a:t>
            </a:r>
            <a:endParaRPr sz="2400" b="1" i="0" u="none" strike="noStrike" cap="none" dirty="0">
              <a:solidFill>
                <a:srgbClr val="2F5496"/>
              </a:solidFill>
              <a:latin typeface="Microsoft JhengHei"/>
              <a:ea typeface="Microsoft JhengHei"/>
              <a:cs typeface="Microsoft JhengHei"/>
              <a:sym typeface="Microsoft JhengHei"/>
            </a:endParaRPr>
          </a:p>
          <a:p>
            <a:pPr marL="0" marR="0" lvl="0" indent="0" algn="l" rtl="0">
              <a:lnSpc>
                <a:spcPct val="100000"/>
              </a:lnSpc>
              <a:spcBef>
                <a:spcPts val="0"/>
              </a:spcBef>
              <a:spcAft>
                <a:spcPts val="0"/>
              </a:spcAft>
              <a:buNone/>
            </a:pPr>
            <a:endParaRPr sz="2000" b="0" i="0" u="none" strike="noStrike" cap="none" dirty="0">
              <a:solidFill>
                <a:srgbClr val="1E4E79"/>
              </a:solidFill>
              <a:latin typeface="Microsoft JhengHei"/>
              <a:ea typeface="Microsoft JhengHei"/>
              <a:cs typeface="Microsoft JhengHei"/>
              <a:sym typeface="Microsoft JhengHei"/>
            </a:endParaRPr>
          </a:p>
          <a:p>
            <a:pPr marL="0" marR="0" lvl="0" indent="0" algn="l" rtl="0">
              <a:lnSpc>
                <a:spcPct val="100000"/>
              </a:lnSpc>
              <a:spcBef>
                <a:spcPts val="0"/>
              </a:spcBef>
              <a:spcAft>
                <a:spcPts val="0"/>
              </a:spcAft>
              <a:buNone/>
            </a:pPr>
            <a:r>
              <a:rPr lang="zh-TW" sz="2000" b="1" dirty="0">
                <a:solidFill>
                  <a:srgbClr val="1E4E79"/>
                </a:solidFill>
                <a:latin typeface="Microsoft JhengHei"/>
                <a:ea typeface="Microsoft JhengHei"/>
                <a:cs typeface="Microsoft JhengHei"/>
                <a:sym typeface="Microsoft JhengHei"/>
              </a:rPr>
              <a:t>方法</a:t>
            </a:r>
            <a:endParaRPr dirty="0"/>
          </a:p>
          <a:p>
            <a:pPr marL="457200" marR="0" lvl="0" indent="-342900" algn="l" rtl="0">
              <a:lnSpc>
                <a:spcPct val="100000"/>
              </a:lnSpc>
              <a:spcBef>
                <a:spcPts val="600"/>
              </a:spcBef>
              <a:spcAft>
                <a:spcPts val="0"/>
              </a:spcAft>
              <a:buClr>
                <a:schemeClr val="dk1"/>
              </a:buClr>
              <a:buSzPts val="1800"/>
              <a:buFont typeface="Microsoft JhengHei"/>
              <a:buAutoNum type="arabicPeriod"/>
            </a:pPr>
            <a:r>
              <a:rPr lang="zh-TW" altLang="en-US" sz="1800" dirty="0">
                <a:solidFill>
                  <a:schemeClr val="dk1"/>
                </a:solidFill>
                <a:latin typeface="Microsoft JhengHei"/>
                <a:ea typeface="Microsoft JhengHei"/>
                <a:cs typeface="Microsoft JhengHei"/>
                <a:sym typeface="Microsoft JhengHei"/>
              </a:rPr>
              <a:t>先將資料切 </a:t>
            </a:r>
            <a:r>
              <a:rPr lang="en-US" altLang="zh-TW" sz="1800" dirty="0">
                <a:solidFill>
                  <a:schemeClr val="dk1"/>
                </a:solidFill>
                <a:latin typeface="Microsoft JhengHei"/>
                <a:ea typeface="Microsoft JhengHei"/>
                <a:cs typeface="Microsoft JhengHei"/>
                <a:sym typeface="Microsoft JhengHei"/>
              </a:rPr>
              <a:t>training set </a:t>
            </a:r>
            <a:r>
              <a:rPr lang="zh-TW" altLang="en-US" sz="1800" dirty="0">
                <a:solidFill>
                  <a:schemeClr val="dk1"/>
                </a:solidFill>
                <a:latin typeface="Microsoft JhengHei"/>
                <a:ea typeface="Microsoft JhengHei"/>
                <a:cs typeface="Microsoft JhengHei"/>
                <a:sym typeface="Microsoft JhengHei"/>
              </a:rPr>
              <a:t>和 </a:t>
            </a:r>
            <a:r>
              <a:rPr lang="en-US" altLang="zh-TW" sz="1800" dirty="0">
                <a:solidFill>
                  <a:schemeClr val="dk1"/>
                </a:solidFill>
                <a:latin typeface="Microsoft JhengHei"/>
                <a:ea typeface="Microsoft JhengHei"/>
                <a:cs typeface="Microsoft JhengHei"/>
                <a:sym typeface="Microsoft JhengHei"/>
              </a:rPr>
              <a:t>validation set, </a:t>
            </a:r>
            <a:r>
              <a:rPr lang="zh-TW" altLang="en-US" sz="1800" dirty="0">
                <a:solidFill>
                  <a:schemeClr val="dk1"/>
                </a:solidFill>
                <a:latin typeface="Microsoft JhengHei"/>
                <a:ea typeface="Microsoft JhengHei"/>
                <a:cs typeface="Microsoft JhengHei"/>
                <a:sym typeface="Microsoft JhengHei"/>
              </a:rPr>
              <a:t>再將 </a:t>
            </a:r>
            <a:r>
              <a:rPr lang="zh-TW" sz="1800" dirty="0">
                <a:solidFill>
                  <a:schemeClr val="dk1"/>
                </a:solidFill>
                <a:latin typeface="Microsoft JhengHei"/>
                <a:ea typeface="Microsoft JhengHei"/>
                <a:cs typeface="Microsoft JhengHei"/>
                <a:sym typeface="Microsoft JhengHei"/>
              </a:rPr>
              <a:t>Over Sampling 後的資料倒入模型</a:t>
            </a:r>
            <a:endParaRPr sz="1800" dirty="0">
              <a:solidFill>
                <a:schemeClr val="dk1"/>
              </a:solidFill>
              <a:latin typeface="Microsoft JhengHei"/>
              <a:ea typeface="Microsoft JhengHei"/>
              <a:cs typeface="Microsoft JhengHei"/>
              <a:sym typeface="Microsoft JhengHei"/>
            </a:endParaRPr>
          </a:p>
          <a:p>
            <a:pPr marL="457200" marR="0" lvl="0" indent="0" algn="l" rtl="0">
              <a:lnSpc>
                <a:spcPct val="100000"/>
              </a:lnSpc>
              <a:spcBef>
                <a:spcPts val="600"/>
              </a:spcBef>
              <a:spcAft>
                <a:spcPts val="0"/>
              </a:spcAft>
              <a:buNone/>
            </a:pPr>
            <a:endParaRPr sz="1800" dirty="0">
              <a:solidFill>
                <a:schemeClr val="dk1"/>
              </a:solidFill>
              <a:latin typeface="Microsoft JhengHei"/>
              <a:ea typeface="Microsoft JhengHei"/>
              <a:cs typeface="Microsoft JhengHei"/>
              <a:sym typeface="Microsoft JhengHei"/>
            </a:endParaRPr>
          </a:p>
          <a:p>
            <a:pPr marL="114300" marR="0" lvl="0" algn="l" rtl="0">
              <a:lnSpc>
                <a:spcPct val="100000"/>
              </a:lnSpc>
              <a:spcBef>
                <a:spcPts val="600"/>
              </a:spcBef>
              <a:spcAft>
                <a:spcPts val="0"/>
              </a:spcAft>
              <a:buClr>
                <a:schemeClr val="dk1"/>
              </a:buClr>
              <a:buSzPts val="1800"/>
            </a:pPr>
            <a:r>
              <a:rPr lang="en-US" altLang="zh-TW" sz="1800" dirty="0">
                <a:solidFill>
                  <a:schemeClr val="dk1"/>
                </a:solidFill>
                <a:latin typeface="Microsoft JhengHei"/>
                <a:ea typeface="Microsoft JhengHei"/>
                <a:cs typeface="Microsoft JhengHei"/>
                <a:sym typeface="Microsoft JhengHei"/>
              </a:rPr>
              <a:t>2.   </a:t>
            </a:r>
            <a:r>
              <a:rPr lang="zh-TW" sz="1800" dirty="0">
                <a:solidFill>
                  <a:schemeClr val="dk1"/>
                </a:solidFill>
                <a:latin typeface="Microsoft JhengHei"/>
                <a:ea typeface="Microsoft JhengHei"/>
                <a:cs typeface="Microsoft JhengHei"/>
                <a:sym typeface="Microsoft JhengHei"/>
              </a:rPr>
              <a:t>不做 Over Sampling，直接將資料丟入模型，調整舞弊資料的權重</a:t>
            </a:r>
            <a:endParaRPr sz="2000" b="1" dirty="0">
              <a:solidFill>
                <a:srgbClr val="1E4E79"/>
              </a:solidFill>
              <a:latin typeface="Microsoft JhengHei"/>
              <a:ea typeface="Microsoft JhengHei"/>
              <a:cs typeface="Microsoft JhengHei"/>
              <a:sym typeface="Microsoft JhengHei"/>
            </a:endParaRPr>
          </a:p>
          <a:p>
            <a:pPr marL="0" marR="0" lvl="0" indent="0" algn="l" rtl="0">
              <a:lnSpc>
                <a:spcPct val="100000"/>
              </a:lnSpc>
              <a:spcBef>
                <a:spcPts val="600"/>
              </a:spcBef>
              <a:spcAft>
                <a:spcPts val="0"/>
              </a:spcAft>
              <a:buNone/>
            </a:pPr>
            <a:endParaRPr sz="1800" b="1" dirty="0">
              <a:solidFill>
                <a:schemeClr val="dk1"/>
              </a:solidFill>
              <a:latin typeface="Microsoft JhengHei"/>
              <a:ea typeface="Microsoft JhengHei"/>
              <a:cs typeface="Microsoft JhengHei"/>
              <a:sym typeface="Microsoft JhengHei"/>
            </a:endParaRPr>
          </a:p>
          <a:p>
            <a:pPr marL="0" marR="0" lvl="0" indent="0" algn="l" rtl="0">
              <a:lnSpc>
                <a:spcPct val="100000"/>
              </a:lnSpc>
              <a:spcBef>
                <a:spcPts val="600"/>
              </a:spcBef>
              <a:spcAft>
                <a:spcPts val="0"/>
              </a:spcAft>
              <a:buNone/>
            </a:pPr>
            <a:r>
              <a:rPr lang="zh-TW" sz="1800" dirty="0">
                <a:solidFill>
                  <a:schemeClr val="dk1"/>
                </a:solidFill>
                <a:latin typeface="Microsoft JhengHei"/>
                <a:ea typeface="Microsoft JhengHei"/>
                <a:cs typeface="Microsoft JhengHei"/>
                <a:sym typeface="Microsoft JhengHei"/>
              </a:rPr>
              <a:t>以 Cost Complexity 和 tree 的深度訓練資料，找在 Validation Set 表現最好的模型</a:t>
            </a:r>
            <a:endParaRPr sz="1800" b="1" dirty="0">
              <a:solidFill>
                <a:schemeClr val="dk1"/>
              </a:solidFill>
              <a:latin typeface="Microsoft JhengHei"/>
              <a:ea typeface="Microsoft JhengHei"/>
              <a:cs typeface="Microsoft JhengHei"/>
              <a:sym typeface="Microsoft JhengHei"/>
            </a:endParaRPr>
          </a:p>
        </p:txBody>
      </p:sp>
      <p:cxnSp>
        <p:nvCxnSpPr>
          <p:cNvPr id="234" name="Google Shape;234;gd9279c01cd_0_5"/>
          <p:cNvCxnSpPr/>
          <p:nvPr/>
        </p:nvCxnSpPr>
        <p:spPr>
          <a:xfrm>
            <a:off x="157389" y="1274020"/>
            <a:ext cx="1224000" cy="0"/>
          </a:xfrm>
          <a:prstGeom prst="straightConnector1">
            <a:avLst/>
          </a:prstGeom>
          <a:noFill/>
          <a:ln w="15875" cap="rnd" cmpd="sng">
            <a:solidFill>
              <a:srgbClr val="21BFCA"/>
            </a:solidFill>
            <a:prstDash val="solid"/>
            <a:round/>
            <a:headEnd type="none" w="sm" len="sm"/>
            <a:tailEnd type="none" w="sm" len="sm"/>
          </a:ln>
        </p:spPr>
      </p:cxnSp>
      <p:sp>
        <p:nvSpPr>
          <p:cNvPr id="235" name="Google Shape;235;gd9279c01cd_0_5"/>
          <p:cNvSpPr/>
          <p:nvPr/>
        </p:nvSpPr>
        <p:spPr>
          <a:xfrm>
            <a:off x="158593" y="812355"/>
            <a:ext cx="540600" cy="461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zh-TW" sz="2400" b="1" i="1" u="none" strike="noStrike" cap="none" dirty="0">
                <a:solidFill>
                  <a:srgbClr val="21BFCA"/>
                </a:solidFill>
                <a:latin typeface="Malgun Gothic"/>
                <a:ea typeface="Malgun Gothic"/>
                <a:cs typeface="Malgun Gothic"/>
                <a:sym typeface="Malgun Gothic"/>
              </a:rPr>
              <a:t>0</a:t>
            </a:r>
            <a:r>
              <a:rPr lang="en-US" altLang="zh-TW" sz="2400" b="1" i="1" dirty="0">
                <a:solidFill>
                  <a:srgbClr val="21BFCA"/>
                </a:solidFill>
                <a:latin typeface="Malgun Gothic"/>
                <a:ea typeface="Malgun Gothic"/>
                <a:cs typeface="Malgun Gothic"/>
                <a:sym typeface="Malgun Gothic"/>
              </a:rPr>
              <a:t>2</a:t>
            </a:r>
            <a:endParaRPr sz="2400" b="0" i="0" u="none" strike="noStrike" cap="none" dirty="0">
              <a:solidFill>
                <a:srgbClr val="21BFCA"/>
              </a:solidFill>
              <a:latin typeface="Malgun Gothic"/>
              <a:ea typeface="Malgun Gothic"/>
              <a:cs typeface="Malgun Gothic"/>
              <a:sym typeface="Malgun Gothic"/>
            </a:endParaRPr>
          </a:p>
        </p:txBody>
      </p:sp>
      <p:graphicFrame>
        <p:nvGraphicFramePr>
          <p:cNvPr id="11" name="Google Shape;218;gdbcf297a5f_0_0"/>
          <p:cNvGraphicFramePr/>
          <p:nvPr>
            <p:extLst>
              <p:ext uri="{D42A27DB-BD31-4B8C-83A1-F6EECF244321}">
                <p14:modId xmlns:p14="http://schemas.microsoft.com/office/powerpoint/2010/main" val="872601376"/>
              </p:ext>
            </p:extLst>
          </p:nvPr>
        </p:nvGraphicFramePr>
        <p:xfrm>
          <a:off x="298393" y="6487160"/>
          <a:ext cx="11096375" cy="371930"/>
        </p:xfrm>
        <a:graphic>
          <a:graphicData uri="http://schemas.openxmlformats.org/drawingml/2006/table">
            <a:tbl>
              <a:tblPr firstRow="1" bandRow="1">
                <a:noFill/>
                <a:tableStyleId>{72FCF9FF-86DD-4F90-83C7-D16C962093AE}</a:tableStyleId>
              </a:tblPr>
              <a:tblGrid>
                <a:gridCol w="11096375">
                  <a:extLst>
                    <a:ext uri="{9D8B030D-6E8A-4147-A177-3AD203B41FA5}">
                      <a16:colId xmlns:a16="http://schemas.microsoft.com/office/drawing/2014/main" val="20000"/>
                    </a:ext>
                  </a:extLst>
                </a:gridCol>
              </a:tblGrid>
              <a:tr h="370850">
                <a:tc>
                  <a:txBody>
                    <a:bodyPr/>
                    <a:lstStyle/>
                    <a:p>
                      <a:pPr marL="0" marR="0" lvl="0" indent="0" algn="ctr" rtl="0">
                        <a:lnSpc>
                          <a:spcPct val="150000"/>
                        </a:lnSpc>
                        <a:spcBef>
                          <a:spcPts val="0"/>
                        </a:spcBef>
                        <a:spcAft>
                          <a:spcPts val="0"/>
                        </a:spcAft>
                        <a:buClr>
                          <a:srgbClr val="BFBFBF"/>
                        </a:buClr>
                        <a:buSzPts val="700"/>
                        <a:buFont typeface="Malgun Gothic"/>
                        <a:buNone/>
                      </a:pPr>
                      <a:r>
                        <a:rPr lang="en-US" sz="1400" b="0" i="0" u="none" strike="noStrike" cap="none" dirty="0">
                          <a:solidFill>
                            <a:schemeClr val="bg1"/>
                          </a:solidFill>
                          <a:latin typeface="Cambria Math" panose="02040503050406030204" pitchFamily="18" charset="0"/>
                          <a:ea typeface="Cambria Math" panose="02040503050406030204" pitchFamily="18" charset="0"/>
                          <a:cs typeface="Malgun Gothic"/>
                          <a:sym typeface="Malgun Gothic"/>
                        </a:rPr>
                        <a:t>1</a:t>
                      </a:r>
                      <a:r>
                        <a:rPr lang="en-US" altLang="zh-TW" sz="1400" b="0" i="0" u="none" strike="noStrike" cap="none" dirty="0">
                          <a:solidFill>
                            <a:schemeClr val="bg1"/>
                          </a:solidFill>
                          <a:latin typeface="Cambria Math" panose="02040503050406030204" pitchFamily="18" charset="0"/>
                          <a:ea typeface="Cambria Math" panose="02040503050406030204" pitchFamily="18" charset="0"/>
                          <a:cs typeface="Malgun Gothic"/>
                          <a:sym typeface="Malgun Gothic"/>
                        </a:rPr>
                        <a:t>1</a:t>
                      </a:r>
                      <a:endParaRPr sz="1400" b="0" i="0" u="none" strike="noStrike" cap="none" dirty="0">
                        <a:solidFill>
                          <a:schemeClr val="bg1"/>
                        </a:solidFill>
                        <a:latin typeface="Cambria Math" panose="02040503050406030204" pitchFamily="18" charset="0"/>
                        <a:ea typeface="Cambria Math" panose="02040503050406030204" pitchFamily="18" charset="0"/>
                        <a:cs typeface="Malgun Gothic"/>
                        <a:sym typeface="Malgun Gothic"/>
                      </a:endParaRPr>
                    </a:p>
                  </a:txBody>
                  <a:tcPr marL="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gd9279c01cd_0_5"/>
          <p:cNvSpPr/>
          <p:nvPr/>
        </p:nvSpPr>
        <p:spPr>
          <a:xfrm>
            <a:off x="1848142" y="329912"/>
            <a:ext cx="3194100" cy="387300"/>
          </a:xfrm>
          <a:prstGeom prst="parallelogram">
            <a:avLst>
              <a:gd name="adj" fmla="val 69898"/>
            </a:avLst>
          </a:prstGeom>
          <a:solidFill>
            <a:srgbClr val="21BFCA"/>
          </a:solidFill>
          <a:ln w="161925" cap="sq" cmpd="sng">
            <a:solidFill>
              <a:srgbClr val="1E868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228" name="Google Shape;228;gd9279c01cd_0_5"/>
          <p:cNvSpPr/>
          <p:nvPr/>
        </p:nvSpPr>
        <p:spPr>
          <a:xfrm>
            <a:off x="1833992" y="329256"/>
            <a:ext cx="3194100" cy="387300"/>
          </a:xfrm>
          <a:prstGeom prst="parallelogram">
            <a:avLst>
              <a:gd name="adj" fmla="val 69898"/>
            </a:avLst>
          </a:prstGeom>
          <a:solidFill>
            <a:srgbClr val="21BFCA"/>
          </a:solidFill>
          <a:ln w="161925" cap="sq" cmpd="sng">
            <a:solidFill>
              <a:srgbClr val="21BFC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229" name="Google Shape;229;gd9279c01cd_0_5"/>
          <p:cNvSpPr/>
          <p:nvPr/>
        </p:nvSpPr>
        <p:spPr>
          <a:xfrm>
            <a:off x="4581237" y="329912"/>
            <a:ext cx="7524900" cy="387300"/>
          </a:xfrm>
          <a:prstGeom prst="parallelogram">
            <a:avLst>
              <a:gd name="adj" fmla="val 0"/>
            </a:avLst>
          </a:prstGeom>
          <a:solidFill>
            <a:srgbClr val="21BFCA"/>
          </a:solidFill>
          <a:ln w="161925" cap="sq" cmpd="sng">
            <a:solidFill>
              <a:srgbClr val="21BFC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230" name="Google Shape;230;gd9279c01cd_0_5"/>
          <p:cNvSpPr/>
          <p:nvPr/>
        </p:nvSpPr>
        <p:spPr>
          <a:xfrm>
            <a:off x="2066647" y="271786"/>
            <a:ext cx="6678600" cy="523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zh-TW" sz="2800" b="0" i="0" u="none" strike="noStrike" cap="none" dirty="0">
                <a:solidFill>
                  <a:srgbClr val="FFFFFF"/>
                </a:solidFill>
                <a:latin typeface="Microsoft JhengHei"/>
                <a:ea typeface="Microsoft JhengHei"/>
                <a:cs typeface="Microsoft JhengHei"/>
                <a:sym typeface="Microsoft JhengHei"/>
              </a:rPr>
              <a:t>Tree Model</a:t>
            </a:r>
            <a:r>
              <a:rPr lang="zh-TW" altLang="en-US" sz="2800" b="0" i="0" u="none" strike="noStrike" cap="none" dirty="0">
                <a:solidFill>
                  <a:srgbClr val="FFFFFF"/>
                </a:solidFill>
                <a:latin typeface="Microsoft JhengHei"/>
                <a:ea typeface="Microsoft JhengHei"/>
                <a:cs typeface="Microsoft JhengHei"/>
                <a:sym typeface="Microsoft JhengHei"/>
              </a:rPr>
              <a:t> </a:t>
            </a:r>
            <a:r>
              <a:rPr lang="en-US" altLang="zh-TW" sz="2800" dirty="0">
                <a:solidFill>
                  <a:srgbClr val="FFFFFF"/>
                </a:solidFill>
                <a:latin typeface="Microsoft JhengHei"/>
                <a:ea typeface="Microsoft JhengHei"/>
                <a:cs typeface="Microsoft JhengHei"/>
                <a:sym typeface="Microsoft JhengHei"/>
              </a:rPr>
              <a:t>1</a:t>
            </a:r>
            <a:endParaRPr sz="2800" b="0" i="0" u="none" strike="noStrike" cap="none" dirty="0">
              <a:solidFill>
                <a:srgbClr val="FFFFFF"/>
              </a:solidFill>
              <a:latin typeface="Microsoft JhengHei"/>
              <a:ea typeface="Microsoft JhengHei"/>
              <a:cs typeface="Microsoft JhengHei"/>
              <a:sym typeface="Microsoft JhengHei"/>
            </a:endParaRPr>
          </a:p>
        </p:txBody>
      </p:sp>
      <p:graphicFrame>
        <p:nvGraphicFramePr>
          <p:cNvPr id="231" name="Google Shape;231;gd9279c01cd_0_5"/>
          <p:cNvGraphicFramePr/>
          <p:nvPr>
            <p:extLst>
              <p:ext uri="{D42A27DB-BD31-4B8C-83A1-F6EECF244321}">
                <p14:modId xmlns:p14="http://schemas.microsoft.com/office/powerpoint/2010/main" val="2401488354"/>
              </p:ext>
            </p:extLst>
          </p:nvPr>
        </p:nvGraphicFramePr>
        <p:xfrm>
          <a:off x="298393" y="6487160"/>
          <a:ext cx="11096375" cy="370850"/>
        </p:xfrm>
        <a:graphic>
          <a:graphicData uri="http://schemas.openxmlformats.org/drawingml/2006/table">
            <a:tbl>
              <a:tblPr firstRow="1" bandRow="1">
                <a:noFill/>
                <a:tableStyleId>{72FCF9FF-86DD-4F90-83C7-D16C962093AE}</a:tableStyleId>
              </a:tblPr>
              <a:tblGrid>
                <a:gridCol w="11096375">
                  <a:extLst>
                    <a:ext uri="{9D8B030D-6E8A-4147-A177-3AD203B41FA5}">
                      <a16:colId xmlns:a16="http://schemas.microsoft.com/office/drawing/2014/main" val="20000"/>
                    </a:ext>
                  </a:extLst>
                </a:gridCol>
              </a:tblGrid>
              <a:tr h="370850">
                <a:tc>
                  <a:txBody>
                    <a:bodyPr/>
                    <a:lstStyle/>
                    <a:p>
                      <a:pPr marL="0" marR="0" lvl="0" indent="0" algn="ctr" rtl="0">
                        <a:lnSpc>
                          <a:spcPct val="150000"/>
                        </a:lnSpc>
                        <a:spcBef>
                          <a:spcPts val="0"/>
                        </a:spcBef>
                        <a:spcAft>
                          <a:spcPts val="0"/>
                        </a:spcAft>
                        <a:buClr>
                          <a:srgbClr val="BFBFBF"/>
                        </a:buClr>
                        <a:buSzPts val="700"/>
                        <a:buFont typeface="Malgun Gothic"/>
                        <a:buNone/>
                      </a:pPr>
                      <a:r>
                        <a:rPr lang="en-US" altLang="zh-TW" sz="700" b="0" i="0" u="none" strike="noStrike" cap="none" dirty="0">
                          <a:solidFill>
                            <a:srgbClr val="BFBFBF"/>
                          </a:solidFill>
                          <a:latin typeface="Malgun Gothic"/>
                          <a:ea typeface="Malgun Gothic"/>
                          <a:cs typeface="Malgun Gothic"/>
                          <a:sym typeface="Malgun Gothic"/>
                        </a:rPr>
                        <a:t> </a:t>
                      </a:r>
                      <a:endParaRPr sz="4800" b="0" i="0" u="none" strike="noStrike" cap="none" dirty="0">
                        <a:solidFill>
                          <a:srgbClr val="BFBFBF"/>
                        </a:solidFill>
                        <a:latin typeface="Malgun Gothic"/>
                        <a:ea typeface="Malgun Gothic"/>
                        <a:cs typeface="Malgun Gothic"/>
                        <a:sym typeface="Malgun Gothic"/>
                      </a:endParaRPr>
                    </a:p>
                  </a:txBody>
                  <a:tcPr marL="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3" name="Google Shape;233;gd9279c01cd_0_5"/>
          <p:cNvSpPr txBox="1"/>
          <p:nvPr/>
        </p:nvSpPr>
        <p:spPr>
          <a:xfrm>
            <a:off x="1381389" y="1273986"/>
            <a:ext cx="10153500" cy="3508623"/>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Aft>
                <a:spcPts val="600"/>
              </a:spcAft>
              <a:buNone/>
            </a:pPr>
            <a:r>
              <a:rPr lang="zh-TW" altLang="en-US" sz="2400" b="1" i="0" u="none" strike="noStrike" cap="none" dirty="0">
                <a:solidFill>
                  <a:srgbClr val="2F5496"/>
                </a:solidFill>
                <a:latin typeface="Microsoft JhengHei"/>
                <a:ea typeface="Microsoft JhengHei"/>
                <a:cs typeface="Microsoft JhengHei"/>
                <a:sym typeface="Microsoft JhengHei"/>
              </a:rPr>
              <a:t>第一次</a:t>
            </a:r>
            <a:r>
              <a:rPr lang="zh-TW" sz="2400" b="1" i="0" u="none" strike="noStrike" cap="none" dirty="0">
                <a:solidFill>
                  <a:srgbClr val="2F5496"/>
                </a:solidFill>
                <a:latin typeface="Microsoft JhengHei"/>
                <a:ea typeface="Microsoft JhengHei"/>
                <a:cs typeface="Microsoft JhengHei"/>
                <a:sym typeface="Microsoft JhengHei"/>
              </a:rPr>
              <a:t>Decision Tree</a:t>
            </a:r>
            <a:r>
              <a:rPr lang="zh-TW" altLang="en-US" sz="2400" b="1" i="0" u="none" strike="noStrike" cap="none" dirty="0">
                <a:solidFill>
                  <a:srgbClr val="2F5496"/>
                </a:solidFill>
                <a:latin typeface="Microsoft JhengHei"/>
                <a:ea typeface="Microsoft JhengHei"/>
                <a:cs typeface="Microsoft JhengHei"/>
                <a:sym typeface="Microsoft JhengHei"/>
              </a:rPr>
              <a:t>結果</a:t>
            </a:r>
            <a:endParaRPr lang="en-US" altLang="zh-TW" sz="2000" b="1" dirty="0">
              <a:solidFill>
                <a:srgbClr val="1E4E79"/>
              </a:solidFill>
              <a:latin typeface="Microsoft JhengHei"/>
              <a:ea typeface="Microsoft JhengHei"/>
              <a:cs typeface="Microsoft JhengHei"/>
              <a:sym typeface="Microsoft JhengHei"/>
            </a:endParaRPr>
          </a:p>
          <a:p>
            <a:pPr marL="285750" marR="0" lvl="0" indent="-285750" algn="l" rtl="0">
              <a:lnSpc>
                <a:spcPct val="100000"/>
              </a:lnSpc>
              <a:spcBef>
                <a:spcPts val="0"/>
              </a:spcBef>
              <a:spcAft>
                <a:spcPts val="600"/>
              </a:spcAft>
              <a:buFont typeface="Arial" panose="020B0604020202020204" pitchFamily="34" charset="0"/>
              <a:buChar char="•"/>
            </a:pPr>
            <a:r>
              <a:rPr lang="zh-TW" altLang="en-US" sz="1800" dirty="0">
                <a:solidFill>
                  <a:schemeClr val="tx1"/>
                </a:solidFill>
                <a:latin typeface="Microsoft JhengHei"/>
                <a:ea typeface="Microsoft JhengHei"/>
                <a:cs typeface="Microsoft JhengHei"/>
                <a:sym typeface="Microsoft JhengHei"/>
              </a:rPr>
              <a:t>訓練資料前</a:t>
            </a:r>
            <a:r>
              <a:rPr lang="en-US" altLang="zh-TW" sz="1800" dirty="0">
                <a:solidFill>
                  <a:schemeClr val="tx1"/>
                </a:solidFill>
                <a:latin typeface="Microsoft JhengHei"/>
                <a:ea typeface="Microsoft JhengHei"/>
                <a:cs typeface="Microsoft JhengHei"/>
                <a:sym typeface="Microsoft JhengHei"/>
              </a:rPr>
              <a:t>5%</a:t>
            </a:r>
            <a:r>
              <a:rPr lang="zh-TW" altLang="en-US" sz="1800" dirty="0">
                <a:solidFill>
                  <a:schemeClr val="tx1"/>
                </a:solidFill>
                <a:latin typeface="Microsoft JhengHei"/>
                <a:ea typeface="Microsoft JhengHei"/>
                <a:cs typeface="Microsoft JhengHei"/>
                <a:sym typeface="Microsoft JhengHei"/>
              </a:rPr>
              <a:t>捕捉率</a:t>
            </a:r>
            <a:r>
              <a:rPr lang="en-US" altLang="zh-TW" sz="1800" dirty="0">
                <a:solidFill>
                  <a:schemeClr val="tx1"/>
                </a:solidFill>
                <a:latin typeface="Microsoft JhengHei"/>
                <a:ea typeface="Microsoft JhengHei"/>
                <a:cs typeface="Microsoft JhengHei"/>
                <a:sym typeface="Microsoft JhengHei"/>
              </a:rPr>
              <a:t>40.00%</a:t>
            </a:r>
          </a:p>
          <a:p>
            <a:pPr marL="285750" lvl="0" indent="-285750">
              <a:spcAft>
                <a:spcPts val="600"/>
              </a:spcAft>
              <a:buFont typeface="Arial" panose="020B0604020202020204" pitchFamily="34" charset="0"/>
              <a:buChar char="•"/>
            </a:pPr>
            <a:r>
              <a:rPr lang="zh-TW" altLang="en-US" sz="1800" dirty="0">
                <a:solidFill>
                  <a:schemeClr val="tx1"/>
                </a:solidFill>
                <a:latin typeface="Microsoft JhengHei"/>
                <a:ea typeface="Microsoft JhengHei"/>
                <a:cs typeface="Microsoft JhengHei"/>
                <a:sym typeface="Microsoft JhengHei"/>
              </a:rPr>
              <a:t>測試資料前</a:t>
            </a:r>
            <a:r>
              <a:rPr lang="en-US" altLang="zh-TW" sz="1800" dirty="0">
                <a:solidFill>
                  <a:schemeClr val="tx1"/>
                </a:solidFill>
                <a:latin typeface="Microsoft JhengHei"/>
                <a:ea typeface="Microsoft JhengHei"/>
                <a:cs typeface="Microsoft JhengHei"/>
                <a:sym typeface="Microsoft JhengHei"/>
              </a:rPr>
              <a:t>5%</a:t>
            </a:r>
            <a:r>
              <a:rPr lang="zh-TW" altLang="en-US" sz="1800" dirty="0">
                <a:solidFill>
                  <a:schemeClr val="tx1"/>
                </a:solidFill>
                <a:latin typeface="Microsoft JhengHei"/>
                <a:ea typeface="Microsoft JhengHei"/>
                <a:cs typeface="Microsoft JhengHei"/>
                <a:sym typeface="Microsoft JhengHei"/>
              </a:rPr>
              <a:t>捕捉率</a:t>
            </a:r>
            <a:r>
              <a:rPr lang="en-US" altLang="zh-TW" sz="1800" dirty="0">
                <a:solidFill>
                  <a:schemeClr val="tx1"/>
                </a:solidFill>
                <a:latin typeface="Microsoft JhengHei"/>
                <a:ea typeface="Microsoft JhengHei"/>
                <a:cs typeface="Microsoft JhengHei"/>
                <a:sym typeface="Microsoft JhengHei"/>
              </a:rPr>
              <a:t>29.09%</a:t>
            </a:r>
          </a:p>
          <a:p>
            <a:pPr lvl="0">
              <a:spcAft>
                <a:spcPts val="600"/>
              </a:spcAft>
            </a:pPr>
            <a:endParaRPr lang="en-US" altLang="zh-TW" sz="1800" dirty="0">
              <a:solidFill>
                <a:srgbClr val="1E4E79"/>
              </a:solidFill>
              <a:latin typeface="Microsoft JhengHei"/>
              <a:ea typeface="Microsoft JhengHei"/>
              <a:cs typeface="Microsoft JhengHei"/>
              <a:sym typeface="Microsoft JhengHei"/>
            </a:endParaRPr>
          </a:p>
          <a:p>
            <a:pPr lvl="0">
              <a:spcAft>
                <a:spcPts val="600"/>
              </a:spcAft>
            </a:pPr>
            <a:r>
              <a:rPr lang="zh-TW" altLang="en-US" sz="1800" b="1" dirty="0">
                <a:solidFill>
                  <a:srgbClr val="1E4E79"/>
                </a:solidFill>
                <a:latin typeface="Microsoft JhengHei"/>
                <a:ea typeface="Microsoft JhengHei"/>
                <a:cs typeface="Microsoft JhengHei"/>
                <a:sym typeface="Microsoft JhengHei"/>
              </a:rPr>
              <a:t>                                                </a:t>
            </a:r>
            <a:r>
              <a:rPr lang="zh-TW" altLang="en-US" sz="1800" b="1" dirty="0">
                <a:solidFill>
                  <a:srgbClr val="00B0F0"/>
                </a:solidFill>
                <a:latin typeface="Microsoft JhengHei"/>
                <a:ea typeface="Microsoft JhengHei"/>
                <a:cs typeface="Microsoft JhengHei"/>
                <a:sym typeface="Microsoft JhengHei"/>
              </a:rPr>
              <a:t>捕捉變數→</a:t>
            </a:r>
            <a:endParaRPr lang="en-US" altLang="zh-TW" sz="1800" b="1" dirty="0">
              <a:solidFill>
                <a:srgbClr val="00B0F0"/>
              </a:solidFill>
              <a:latin typeface="Microsoft JhengHei"/>
              <a:ea typeface="Microsoft JhengHei"/>
              <a:cs typeface="Microsoft JhengHei"/>
              <a:sym typeface="Microsoft JhengHei"/>
            </a:endParaRPr>
          </a:p>
          <a:p>
            <a:pPr lvl="0">
              <a:spcAft>
                <a:spcPts val="600"/>
              </a:spcAft>
            </a:pPr>
            <a:endParaRPr lang="en-US" altLang="zh-TW" sz="2400" b="1" dirty="0">
              <a:solidFill>
                <a:srgbClr val="1E4E79"/>
              </a:solidFill>
              <a:latin typeface="Microsoft JhengHei"/>
              <a:ea typeface="Microsoft JhengHei"/>
              <a:cs typeface="Microsoft JhengHei"/>
              <a:sym typeface="Microsoft JhengHei"/>
            </a:endParaRPr>
          </a:p>
          <a:p>
            <a:pPr lvl="0">
              <a:spcAft>
                <a:spcPts val="600"/>
              </a:spcAft>
            </a:pPr>
            <a:endParaRPr lang="en-US" altLang="zh-TW" sz="1800" dirty="0">
              <a:solidFill>
                <a:srgbClr val="1E4E79"/>
              </a:solidFill>
              <a:latin typeface="Microsoft JhengHei"/>
              <a:ea typeface="Microsoft JhengHei"/>
              <a:cs typeface="Microsoft JhengHei"/>
              <a:sym typeface="Microsoft JhengHei"/>
            </a:endParaRPr>
          </a:p>
          <a:p>
            <a:pPr lvl="0">
              <a:spcAft>
                <a:spcPts val="600"/>
              </a:spcAft>
            </a:pPr>
            <a:endParaRPr lang="en-US" altLang="zh-TW" sz="1800" dirty="0">
              <a:solidFill>
                <a:srgbClr val="1E4E79"/>
              </a:solidFill>
              <a:latin typeface="Microsoft JhengHei"/>
              <a:ea typeface="Microsoft JhengHei"/>
              <a:cs typeface="Microsoft JhengHei"/>
              <a:sym typeface="Microsoft JhengHei"/>
            </a:endParaRPr>
          </a:p>
          <a:p>
            <a:pPr marL="0" marR="0" lvl="0" indent="0" algn="l" rtl="0">
              <a:lnSpc>
                <a:spcPct val="100000"/>
              </a:lnSpc>
              <a:spcBef>
                <a:spcPts val="0"/>
              </a:spcBef>
              <a:spcAft>
                <a:spcPts val="0"/>
              </a:spcAft>
              <a:buNone/>
            </a:pPr>
            <a:endParaRPr lang="en-US" altLang="zh-TW" sz="2000" b="1" dirty="0">
              <a:solidFill>
                <a:srgbClr val="1E4E79"/>
              </a:solidFill>
              <a:latin typeface="Microsoft JhengHei"/>
              <a:ea typeface="Microsoft JhengHei"/>
              <a:cs typeface="Microsoft JhengHei"/>
              <a:sym typeface="Microsoft JhengHei"/>
            </a:endParaRPr>
          </a:p>
        </p:txBody>
      </p:sp>
      <p:cxnSp>
        <p:nvCxnSpPr>
          <p:cNvPr id="234" name="Google Shape;234;gd9279c01cd_0_5"/>
          <p:cNvCxnSpPr/>
          <p:nvPr/>
        </p:nvCxnSpPr>
        <p:spPr>
          <a:xfrm>
            <a:off x="157389" y="1274020"/>
            <a:ext cx="1224000" cy="0"/>
          </a:xfrm>
          <a:prstGeom prst="straightConnector1">
            <a:avLst/>
          </a:prstGeom>
          <a:noFill/>
          <a:ln w="15875" cap="rnd" cmpd="sng">
            <a:solidFill>
              <a:srgbClr val="21BFCA"/>
            </a:solidFill>
            <a:prstDash val="solid"/>
            <a:round/>
            <a:headEnd type="none" w="sm" len="sm"/>
            <a:tailEnd type="none" w="sm" len="sm"/>
          </a:ln>
        </p:spPr>
      </p:cxnSp>
      <p:sp>
        <p:nvSpPr>
          <p:cNvPr id="235" name="Google Shape;235;gd9279c01cd_0_5"/>
          <p:cNvSpPr/>
          <p:nvPr/>
        </p:nvSpPr>
        <p:spPr>
          <a:xfrm>
            <a:off x="158593" y="812355"/>
            <a:ext cx="540600" cy="461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zh-TW" sz="2400" b="1" i="1" u="none" strike="noStrike" cap="none" dirty="0">
                <a:solidFill>
                  <a:srgbClr val="21BFCA"/>
                </a:solidFill>
                <a:latin typeface="Malgun Gothic"/>
                <a:ea typeface="Malgun Gothic"/>
                <a:cs typeface="Malgun Gothic"/>
                <a:sym typeface="Malgun Gothic"/>
              </a:rPr>
              <a:t>0</a:t>
            </a:r>
            <a:r>
              <a:rPr lang="en-US" altLang="zh-TW" sz="2400" b="1" i="1" dirty="0">
                <a:solidFill>
                  <a:srgbClr val="21BFCA"/>
                </a:solidFill>
                <a:latin typeface="Malgun Gothic"/>
                <a:ea typeface="Malgun Gothic"/>
                <a:cs typeface="Malgun Gothic"/>
                <a:sym typeface="Malgun Gothic"/>
              </a:rPr>
              <a:t>2</a:t>
            </a:r>
            <a:endParaRPr sz="2400" b="0" i="0" u="none" strike="noStrike" cap="none" dirty="0">
              <a:solidFill>
                <a:srgbClr val="21BFCA"/>
              </a:solidFill>
              <a:latin typeface="Malgun Gothic"/>
              <a:ea typeface="Malgun Gothic"/>
              <a:cs typeface="Malgun Gothic"/>
              <a:sym typeface="Malgun Gothic"/>
            </a:endParaRPr>
          </a:p>
        </p:txBody>
      </p:sp>
      <p:graphicFrame>
        <p:nvGraphicFramePr>
          <p:cNvPr id="10" name="Google Shape;218;gdbcf297a5f_0_0"/>
          <p:cNvGraphicFramePr/>
          <p:nvPr>
            <p:extLst>
              <p:ext uri="{D42A27DB-BD31-4B8C-83A1-F6EECF244321}">
                <p14:modId xmlns:p14="http://schemas.microsoft.com/office/powerpoint/2010/main" val="4151518995"/>
              </p:ext>
            </p:extLst>
          </p:nvPr>
        </p:nvGraphicFramePr>
        <p:xfrm>
          <a:off x="298393" y="6487160"/>
          <a:ext cx="11096375" cy="371930"/>
        </p:xfrm>
        <a:graphic>
          <a:graphicData uri="http://schemas.openxmlformats.org/drawingml/2006/table">
            <a:tbl>
              <a:tblPr firstRow="1" bandRow="1">
                <a:noFill/>
                <a:tableStyleId>{72FCF9FF-86DD-4F90-83C7-D16C962093AE}</a:tableStyleId>
              </a:tblPr>
              <a:tblGrid>
                <a:gridCol w="11096375">
                  <a:extLst>
                    <a:ext uri="{9D8B030D-6E8A-4147-A177-3AD203B41FA5}">
                      <a16:colId xmlns:a16="http://schemas.microsoft.com/office/drawing/2014/main" val="20000"/>
                    </a:ext>
                  </a:extLst>
                </a:gridCol>
              </a:tblGrid>
              <a:tr h="370850">
                <a:tc>
                  <a:txBody>
                    <a:bodyPr/>
                    <a:lstStyle/>
                    <a:p>
                      <a:pPr marL="0" marR="0" lvl="0" indent="0" algn="ctr" rtl="0">
                        <a:lnSpc>
                          <a:spcPct val="150000"/>
                        </a:lnSpc>
                        <a:spcBef>
                          <a:spcPts val="0"/>
                        </a:spcBef>
                        <a:spcAft>
                          <a:spcPts val="0"/>
                        </a:spcAft>
                        <a:buClr>
                          <a:srgbClr val="BFBFBF"/>
                        </a:buClr>
                        <a:buSzPts val="700"/>
                        <a:buFont typeface="Malgun Gothic"/>
                        <a:buNone/>
                      </a:pPr>
                      <a:r>
                        <a:rPr lang="en-US" sz="1400" b="0" i="0" u="none" strike="noStrike" cap="none" dirty="0">
                          <a:solidFill>
                            <a:schemeClr val="bg1"/>
                          </a:solidFill>
                          <a:latin typeface="Cambria Math" panose="02040503050406030204" pitchFamily="18" charset="0"/>
                          <a:ea typeface="Cambria Math" panose="02040503050406030204" pitchFamily="18" charset="0"/>
                          <a:cs typeface="Malgun Gothic"/>
                          <a:sym typeface="Malgun Gothic"/>
                        </a:rPr>
                        <a:t>1</a:t>
                      </a:r>
                      <a:r>
                        <a:rPr lang="en-US" altLang="zh-TW" sz="1400" b="0" i="0" u="none" strike="noStrike" cap="none" dirty="0">
                          <a:solidFill>
                            <a:schemeClr val="bg1"/>
                          </a:solidFill>
                          <a:latin typeface="Cambria Math" panose="02040503050406030204" pitchFamily="18" charset="0"/>
                          <a:ea typeface="Cambria Math" panose="02040503050406030204" pitchFamily="18" charset="0"/>
                          <a:cs typeface="Malgun Gothic"/>
                          <a:sym typeface="Malgun Gothic"/>
                        </a:rPr>
                        <a:t>2</a:t>
                      </a:r>
                      <a:endParaRPr sz="1400" b="0" i="0" u="none" strike="noStrike" cap="none" dirty="0">
                        <a:solidFill>
                          <a:schemeClr val="bg1"/>
                        </a:solidFill>
                        <a:latin typeface="Cambria Math" panose="02040503050406030204" pitchFamily="18" charset="0"/>
                        <a:ea typeface="Cambria Math" panose="02040503050406030204" pitchFamily="18" charset="0"/>
                        <a:cs typeface="Malgun Gothic"/>
                        <a:sym typeface="Malgun Gothic"/>
                      </a:endParaRPr>
                    </a:p>
                  </a:txBody>
                  <a:tcPr marL="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11" name="圖片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72720" y="952500"/>
            <a:ext cx="5814772" cy="5562600"/>
          </a:xfrm>
          <a:prstGeom prst="rect">
            <a:avLst/>
          </a:prstGeom>
        </p:spPr>
      </p:pic>
    </p:spTree>
    <p:extLst>
      <p:ext uri="{BB962C8B-B14F-4D97-AF65-F5344CB8AC3E}">
        <p14:creationId xmlns:p14="http://schemas.microsoft.com/office/powerpoint/2010/main" val="14668513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gdbb904855f_1_0"/>
          <p:cNvSpPr/>
          <p:nvPr/>
        </p:nvSpPr>
        <p:spPr>
          <a:xfrm>
            <a:off x="1848142" y="329912"/>
            <a:ext cx="3194100" cy="387300"/>
          </a:xfrm>
          <a:prstGeom prst="parallelogram">
            <a:avLst>
              <a:gd name="adj" fmla="val 69898"/>
            </a:avLst>
          </a:prstGeom>
          <a:solidFill>
            <a:srgbClr val="21BFCA"/>
          </a:solidFill>
          <a:ln w="161925" cap="sq" cmpd="sng">
            <a:solidFill>
              <a:srgbClr val="1E868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377" name="Google Shape;377;gdbb904855f_1_0"/>
          <p:cNvSpPr/>
          <p:nvPr/>
        </p:nvSpPr>
        <p:spPr>
          <a:xfrm>
            <a:off x="1833992" y="329256"/>
            <a:ext cx="3194100" cy="387300"/>
          </a:xfrm>
          <a:prstGeom prst="parallelogram">
            <a:avLst>
              <a:gd name="adj" fmla="val 69898"/>
            </a:avLst>
          </a:prstGeom>
          <a:solidFill>
            <a:srgbClr val="21BFCA"/>
          </a:solidFill>
          <a:ln w="161925" cap="sq" cmpd="sng">
            <a:solidFill>
              <a:srgbClr val="21BFC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378" name="Google Shape;378;gdbb904855f_1_0"/>
          <p:cNvSpPr/>
          <p:nvPr/>
        </p:nvSpPr>
        <p:spPr>
          <a:xfrm>
            <a:off x="4581237" y="329912"/>
            <a:ext cx="7524900" cy="387300"/>
          </a:xfrm>
          <a:prstGeom prst="parallelogram">
            <a:avLst>
              <a:gd name="adj" fmla="val 0"/>
            </a:avLst>
          </a:prstGeom>
          <a:solidFill>
            <a:srgbClr val="21BFCA"/>
          </a:solidFill>
          <a:ln w="161925" cap="sq" cmpd="sng">
            <a:solidFill>
              <a:srgbClr val="21BFC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379" name="Google Shape;379;gdbb904855f_1_0"/>
          <p:cNvSpPr/>
          <p:nvPr/>
        </p:nvSpPr>
        <p:spPr>
          <a:xfrm>
            <a:off x="2066647" y="271786"/>
            <a:ext cx="6678600" cy="523200"/>
          </a:xfrm>
          <a:prstGeom prst="rect">
            <a:avLst/>
          </a:prstGeom>
          <a:noFill/>
          <a:ln>
            <a:noFill/>
          </a:ln>
        </p:spPr>
        <p:txBody>
          <a:bodyPr spcFirstLastPara="1" wrap="square" lIns="91425" tIns="45700" rIns="91425" bIns="45700" anchor="t" anchorCtr="0">
            <a:noAutofit/>
          </a:bodyPr>
          <a:lstStyle/>
          <a:p>
            <a:pPr lvl="0">
              <a:buSzPts val="2800"/>
            </a:pPr>
            <a:r>
              <a:rPr lang="en-US" altLang="zh-TW" sz="2800" dirty="0">
                <a:solidFill>
                  <a:srgbClr val="FFFFFF"/>
                </a:solidFill>
                <a:latin typeface="Microsoft JhengHei"/>
                <a:ea typeface="Microsoft JhengHei"/>
                <a:cs typeface="Microsoft JhengHei"/>
                <a:sym typeface="Microsoft JhengHei"/>
              </a:rPr>
              <a:t>Tree Model 1</a:t>
            </a:r>
          </a:p>
        </p:txBody>
      </p:sp>
      <p:cxnSp>
        <p:nvCxnSpPr>
          <p:cNvPr id="380" name="Google Shape;380;gdbb904855f_1_0"/>
          <p:cNvCxnSpPr/>
          <p:nvPr/>
        </p:nvCxnSpPr>
        <p:spPr>
          <a:xfrm>
            <a:off x="157389" y="1269734"/>
            <a:ext cx="1224000" cy="0"/>
          </a:xfrm>
          <a:prstGeom prst="straightConnector1">
            <a:avLst/>
          </a:prstGeom>
          <a:noFill/>
          <a:ln w="15875" cap="rnd" cmpd="sng">
            <a:solidFill>
              <a:srgbClr val="21BFCA"/>
            </a:solidFill>
            <a:prstDash val="solid"/>
            <a:round/>
            <a:headEnd type="none" w="sm" len="sm"/>
            <a:tailEnd type="none" w="sm" len="sm"/>
          </a:ln>
        </p:spPr>
      </p:cxnSp>
      <p:graphicFrame>
        <p:nvGraphicFramePr>
          <p:cNvPr id="381" name="Google Shape;381;gdbb904855f_1_0"/>
          <p:cNvGraphicFramePr/>
          <p:nvPr/>
        </p:nvGraphicFramePr>
        <p:xfrm>
          <a:off x="298393" y="6487160"/>
          <a:ext cx="11096375" cy="370850"/>
        </p:xfrm>
        <a:graphic>
          <a:graphicData uri="http://schemas.openxmlformats.org/drawingml/2006/table">
            <a:tbl>
              <a:tblPr firstRow="1" bandRow="1">
                <a:noFill/>
                <a:tableStyleId>{72FCF9FF-86DD-4F90-83C7-D16C962093AE}</a:tableStyleId>
              </a:tblPr>
              <a:tblGrid>
                <a:gridCol w="11096375">
                  <a:extLst>
                    <a:ext uri="{9D8B030D-6E8A-4147-A177-3AD203B41FA5}">
                      <a16:colId xmlns:a16="http://schemas.microsoft.com/office/drawing/2014/main" val="20000"/>
                    </a:ext>
                  </a:extLst>
                </a:gridCol>
              </a:tblGrid>
              <a:tr h="370850">
                <a:tc>
                  <a:txBody>
                    <a:bodyPr/>
                    <a:lstStyle/>
                    <a:p>
                      <a:pPr marL="0" marR="0" lvl="0" indent="0" algn="ctr" rtl="0">
                        <a:lnSpc>
                          <a:spcPct val="150000"/>
                        </a:lnSpc>
                        <a:spcBef>
                          <a:spcPts val="0"/>
                        </a:spcBef>
                        <a:spcAft>
                          <a:spcPts val="0"/>
                        </a:spcAft>
                        <a:buClr>
                          <a:srgbClr val="BFBFBF"/>
                        </a:buClr>
                        <a:buSzPts val="700"/>
                        <a:buFont typeface="Malgun Gothic"/>
                        <a:buNone/>
                      </a:pPr>
                      <a:r>
                        <a:rPr lang="zh-TW" sz="700" b="0" i="0" u="none" strike="noStrike" cap="none" dirty="0">
                          <a:solidFill>
                            <a:srgbClr val="BFBFBF"/>
                          </a:solidFill>
                          <a:latin typeface="Malgun Gothic"/>
                          <a:ea typeface="Malgun Gothic"/>
                          <a:cs typeface="Malgun Gothic"/>
                          <a:sym typeface="Malgun Gothic"/>
                        </a:rPr>
                        <a:t>Enjoy your stylish business and campus life with BIZCAM</a:t>
                      </a:r>
                      <a:endParaRPr sz="4800" b="0" i="0" u="none" strike="noStrike" cap="none" dirty="0">
                        <a:solidFill>
                          <a:srgbClr val="BFBFBF"/>
                        </a:solidFill>
                        <a:latin typeface="Malgun Gothic"/>
                        <a:ea typeface="Malgun Gothic"/>
                        <a:cs typeface="Malgun Gothic"/>
                        <a:sym typeface="Malgun Gothic"/>
                      </a:endParaRPr>
                    </a:p>
                  </a:txBody>
                  <a:tcPr marL="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82" name="Google Shape;382;gdbb904855f_1_0"/>
          <p:cNvSpPr/>
          <p:nvPr/>
        </p:nvSpPr>
        <p:spPr>
          <a:xfrm>
            <a:off x="158593" y="808069"/>
            <a:ext cx="540600" cy="461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zh-TW" sz="2400" b="1" i="1" u="none" strike="noStrike" cap="none" dirty="0">
                <a:solidFill>
                  <a:srgbClr val="21BFCA"/>
                </a:solidFill>
                <a:latin typeface="Malgun Gothic"/>
                <a:ea typeface="Malgun Gothic"/>
                <a:cs typeface="Malgun Gothic"/>
                <a:sym typeface="Malgun Gothic"/>
              </a:rPr>
              <a:t>0</a:t>
            </a:r>
            <a:r>
              <a:rPr lang="en-US" altLang="zh-TW" sz="2400" b="1" i="1" dirty="0">
                <a:solidFill>
                  <a:srgbClr val="21BFCA"/>
                </a:solidFill>
                <a:latin typeface="Malgun Gothic"/>
                <a:ea typeface="Malgun Gothic"/>
                <a:cs typeface="Malgun Gothic"/>
                <a:sym typeface="Malgun Gothic"/>
              </a:rPr>
              <a:t>2</a:t>
            </a:r>
            <a:endParaRPr sz="2400" b="0" i="0" u="none" strike="noStrike" cap="none" dirty="0">
              <a:solidFill>
                <a:srgbClr val="21BFCA"/>
              </a:solidFill>
              <a:latin typeface="Malgun Gothic"/>
              <a:ea typeface="Malgun Gothic"/>
              <a:cs typeface="Malgun Gothic"/>
              <a:sym typeface="Malgun Gothic"/>
            </a:endParaRPr>
          </a:p>
        </p:txBody>
      </p:sp>
      <p:sp>
        <p:nvSpPr>
          <p:cNvPr id="383" name="Google Shape;383;gdbb904855f_1_0"/>
          <p:cNvSpPr txBox="1"/>
          <p:nvPr/>
        </p:nvSpPr>
        <p:spPr>
          <a:xfrm>
            <a:off x="1381388" y="1269700"/>
            <a:ext cx="6096372" cy="4247286"/>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600"/>
              </a:spcAft>
              <a:buClr>
                <a:srgbClr val="000000"/>
              </a:buClr>
              <a:buSzPts val="2000"/>
              <a:buFont typeface="Arial"/>
              <a:buNone/>
            </a:pPr>
            <a:r>
              <a:rPr lang="zh-TW" altLang="en-US" sz="2400" b="1" dirty="0">
                <a:solidFill>
                  <a:srgbClr val="002060"/>
                </a:solidFill>
                <a:latin typeface="Microsoft JhengHei"/>
                <a:ea typeface="Microsoft JhengHei"/>
                <a:cs typeface="Microsoft JhengHei"/>
                <a:sym typeface="Microsoft JhengHei"/>
              </a:rPr>
              <a:t>觀察結果</a:t>
            </a:r>
            <a:endParaRPr lang="en-US" altLang="zh-TW" sz="2400" b="1" dirty="0">
              <a:solidFill>
                <a:srgbClr val="002060"/>
              </a:solidFill>
              <a:latin typeface="Microsoft JhengHei"/>
              <a:ea typeface="Microsoft JhengHei"/>
              <a:cs typeface="Microsoft JhengHei"/>
              <a:sym typeface="Microsoft JhengHei"/>
            </a:endParaRPr>
          </a:p>
          <a:p>
            <a:pPr marL="285750" lvl="0" indent="-285750">
              <a:lnSpc>
                <a:spcPct val="150000"/>
              </a:lnSpc>
              <a:spcAft>
                <a:spcPts val="600"/>
              </a:spcAft>
              <a:buFont typeface="Arial" panose="020B0604020202020204" pitchFamily="34" charset="0"/>
              <a:buChar char="•"/>
            </a:pPr>
            <a:r>
              <a:rPr lang="zh-TW" altLang="en-US" sz="2000" dirty="0">
                <a:solidFill>
                  <a:schemeClr val="tx1"/>
                </a:solidFill>
                <a:latin typeface="Microsoft JhengHei"/>
                <a:ea typeface="Microsoft JhengHei"/>
                <a:cs typeface="Microsoft JhengHei"/>
                <a:sym typeface="Microsoft JhengHei"/>
              </a:rPr>
              <a:t>發生過往不當行為是很好的預測變數</a:t>
            </a:r>
            <a:endParaRPr lang="en-US" altLang="zh-TW" sz="2000" dirty="0">
              <a:solidFill>
                <a:schemeClr val="tx1"/>
              </a:solidFill>
              <a:latin typeface="Microsoft JhengHei"/>
              <a:ea typeface="Microsoft JhengHei"/>
              <a:cs typeface="Microsoft JhengHei"/>
              <a:sym typeface="Microsoft JhengHei"/>
            </a:endParaRPr>
          </a:p>
          <a:p>
            <a:pPr lvl="0">
              <a:lnSpc>
                <a:spcPct val="150000"/>
              </a:lnSpc>
              <a:spcAft>
                <a:spcPts val="600"/>
              </a:spcAft>
            </a:pPr>
            <a:r>
              <a:rPr lang="zh-TW" altLang="en-US" sz="2000" dirty="0">
                <a:solidFill>
                  <a:schemeClr val="tx1"/>
                </a:solidFill>
                <a:latin typeface="Microsoft JhengHei"/>
                <a:ea typeface="Microsoft JhengHei"/>
                <a:cs typeface="Microsoft JhengHei"/>
                <a:sym typeface="Microsoft JhengHei"/>
              </a:rPr>
              <a:t>　</a:t>
            </a:r>
            <a:r>
              <a:rPr lang="zh-TW" altLang="zh-TW" sz="2000" dirty="0">
                <a:latin typeface="Microsoft JhengHei"/>
                <a:ea typeface="Microsoft JhengHei"/>
                <a:cs typeface="Microsoft JhengHei"/>
                <a:sym typeface="Microsoft JhengHei"/>
              </a:rPr>
              <a:t>→</a:t>
            </a:r>
            <a:r>
              <a:rPr lang="zh-TW" altLang="en-US" sz="2000" dirty="0">
                <a:latin typeface="Microsoft JhengHei"/>
                <a:ea typeface="Microsoft JhengHei"/>
                <a:cs typeface="Microsoft JhengHei"/>
                <a:sym typeface="Microsoft JhengHei"/>
              </a:rPr>
              <a:t> 捕捉率達 </a:t>
            </a:r>
            <a:r>
              <a:rPr lang="en-US" altLang="zh-TW" sz="2000" dirty="0">
                <a:latin typeface="Microsoft JhengHei"/>
                <a:ea typeface="Microsoft JhengHei"/>
                <a:cs typeface="Microsoft JhengHei"/>
                <a:sym typeface="Microsoft JhengHei"/>
              </a:rPr>
              <a:t>25.13%</a:t>
            </a:r>
            <a:endParaRPr lang="en-US" altLang="zh-TW" sz="2000" dirty="0">
              <a:solidFill>
                <a:schemeClr val="tx1"/>
              </a:solidFill>
              <a:latin typeface="Microsoft JhengHei"/>
              <a:ea typeface="Microsoft JhengHei"/>
              <a:cs typeface="Microsoft JhengHei"/>
              <a:sym typeface="Microsoft JhengHei"/>
            </a:endParaRPr>
          </a:p>
          <a:p>
            <a:pPr marL="285750" lvl="0" indent="-285750">
              <a:lnSpc>
                <a:spcPct val="150000"/>
              </a:lnSpc>
              <a:spcAft>
                <a:spcPts val="600"/>
              </a:spcAft>
              <a:buFont typeface="Arial" panose="020B0604020202020204" pitchFamily="34" charset="0"/>
              <a:buChar char="•"/>
            </a:pPr>
            <a:r>
              <a:rPr lang="zh-TW" altLang="en-US" sz="2000" dirty="0">
                <a:solidFill>
                  <a:schemeClr val="tx1"/>
                </a:solidFill>
                <a:latin typeface="Microsoft JhengHei"/>
                <a:ea typeface="Microsoft JhengHei"/>
                <a:cs typeface="Microsoft JhengHei"/>
                <a:sym typeface="Microsoft JhengHei"/>
              </a:rPr>
              <a:t>拿掉發生不當行為</a:t>
            </a:r>
            <a:r>
              <a:rPr lang="en-US" altLang="zh-TW" sz="2000" dirty="0">
                <a:solidFill>
                  <a:schemeClr val="tx1"/>
                </a:solidFill>
                <a:latin typeface="Microsoft JhengHei"/>
                <a:ea typeface="Microsoft JhengHei"/>
                <a:cs typeface="Microsoft JhengHei"/>
                <a:sym typeface="Microsoft JhengHei"/>
              </a:rPr>
              <a:t>RECENCY</a:t>
            </a:r>
          </a:p>
          <a:p>
            <a:pPr lvl="0">
              <a:lnSpc>
                <a:spcPct val="150000"/>
              </a:lnSpc>
              <a:spcAft>
                <a:spcPts val="600"/>
              </a:spcAft>
            </a:pPr>
            <a:r>
              <a:rPr lang="zh-TW" altLang="en-US" sz="2000" dirty="0">
                <a:solidFill>
                  <a:schemeClr val="tx1"/>
                </a:solidFill>
                <a:latin typeface="Microsoft JhengHei"/>
                <a:ea typeface="Microsoft JhengHei"/>
                <a:cs typeface="Microsoft JhengHei"/>
                <a:sym typeface="Microsoft JhengHei"/>
              </a:rPr>
              <a:t>　</a:t>
            </a:r>
            <a:r>
              <a:rPr lang="zh-TW" altLang="zh-TW" sz="2000" dirty="0">
                <a:latin typeface="Microsoft JhengHei"/>
                <a:ea typeface="Microsoft JhengHei"/>
                <a:cs typeface="Microsoft JhengHei"/>
                <a:sym typeface="Microsoft JhengHei"/>
              </a:rPr>
              <a:t>→</a:t>
            </a:r>
            <a:r>
              <a:rPr lang="zh-TW" altLang="en-US" sz="2000" dirty="0">
                <a:solidFill>
                  <a:schemeClr val="tx1"/>
                </a:solidFill>
                <a:latin typeface="Microsoft JhengHei"/>
                <a:ea typeface="Microsoft JhengHei"/>
                <a:cs typeface="Microsoft JhengHei"/>
                <a:sym typeface="Microsoft JhengHei"/>
              </a:rPr>
              <a:t>重新訓練</a:t>
            </a:r>
            <a:r>
              <a:rPr lang="en-US" altLang="zh-TW" sz="2000" dirty="0">
                <a:solidFill>
                  <a:schemeClr val="tx1"/>
                </a:solidFill>
                <a:latin typeface="Microsoft JhengHei"/>
                <a:ea typeface="Microsoft JhengHei"/>
                <a:cs typeface="Microsoft JhengHei"/>
                <a:sym typeface="Microsoft JhengHei"/>
              </a:rPr>
              <a:t>Decision Tree</a:t>
            </a:r>
          </a:p>
          <a:p>
            <a:pPr lvl="0">
              <a:lnSpc>
                <a:spcPct val="150000"/>
              </a:lnSpc>
              <a:spcAft>
                <a:spcPts val="600"/>
              </a:spcAft>
            </a:pPr>
            <a:r>
              <a:rPr lang="zh-TW" altLang="en-US" sz="2000" dirty="0">
                <a:solidFill>
                  <a:schemeClr val="tx1"/>
                </a:solidFill>
                <a:latin typeface="Microsoft JhengHei"/>
                <a:ea typeface="Microsoft JhengHei"/>
                <a:cs typeface="Microsoft JhengHei"/>
                <a:sym typeface="Microsoft JhengHei"/>
              </a:rPr>
              <a:t>　</a:t>
            </a:r>
            <a:r>
              <a:rPr lang="zh-TW" altLang="zh-TW" sz="2000" dirty="0">
                <a:latin typeface="Microsoft JhengHei"/>
                <a:ea typeface="Microsoft JhengHei"/>
                <a:cs typeface="Microsoft JhengHei"/>
                <a:sym typeface="Microsoft JhengHei"/>
              </a:rPr>
              <a:t>→</a:t>
            </a:r>
            <a:r>
              <a:rPr lang="zh-TW" altLang="en-US" sz="2000" dirty="0">
                <a:latin typeface="Microsoft JhengHei"/>
                <a:ea typeface="Microsoft JhengHei"/>
                <a:cs typeface="Microsoft JhengHei"/>
                <a:sym typeface="Microsoft JhengHei"/>
              </a:rPr>
              <a:t>再</a:t>
            </a:r>
            <a:r>
              <a:rPr lang="zh-TW" altLang="en-US" sz="2000" dirty="0">
                <a:solidFill>
                  <a:schemeClr val="tx1"/>
                </a:solidFill>
                <a:latin typeface="Microsoft JhengHei"/>
                <a:ea typeface="Microsoft JhengHei"/>
                <a:cs typeface="Microsoft JhengHei"/>
                <a:sym typeface="Microsoft JhengHei"/>
              </a:rPr>
              <a:t>將</a:t>
            </a:r>
            <a:r>
              <a:rPr lang="en-US" altLang="zh-TW" sz="2000" dirty="0">
                <a:solidFill>
                  <a:schemeClr val="tx1"/>
                </a:solidFill>
                <a:latin typeface="Microsoft JhengHei"/>
                <a:ea typeface="Microsoft JhengHei"/>
                <a:cs typeface="Microsoft JhengHei"/>
                <a:sym typeface="Microsoft JhengHei"/>
              </a:rPr>
              <a:t>11</a:t>
            </a:r>
            <a:r>
              <a:rPr lang="zh-TW" altLang="en-US" sz="2000" dirty="0">
                <a:solidFill>
                  <a:schemeClr val="tx1"/>
                </a:solidFill>
                <a:latin typeface="Microsoft JhengHei"/>
                <a:ea typeface="Microsoft JhengHei"/>
                <a:cs typeface="Microsoft JhengHei"/>
                <a:sym typeface="Microsoft JhengHei"/>
              </a:rPr>
              <a:t>個月內發生不當行為的舞弊發生率 </a:t>
            </a:r>
            <a:r>
              <a:rPr lang="en-US" altLang="zh-TW" sz="2000" dirty="0">
                <a:solidFill>
                  <a:schemeClr val="tx1"/>
                </a:solidFill>
                <a:latin typeface="Microsoft JhengHei"/>
                <a:ea typeface="Microsoft JhengHei"/>
                <a:cs typeface="Microsoft JhengHei"/>
                <a:sym typeface="Microsoft JhengHei"/>
              </a:rPr>
              <a:t>100</a:t>
            </a:r>
            <a:r>
              <a:rPr lang="zh-TW" altLang="en-US" sz="2000" dirty="0">
                <a:solidFill>
                  <a:schemeClr val="tx1"/>
                </a:solidFill>
                <a:latin typeface="Microsoft JhengHei"/>
                <a:ea typeface="Microsoft JhengHei"/>
                <a:cs typeface="Microsoft JhengHei"/>
                <a:sym typeface="Microsoft JhengHei"/>
              </a:rPr>
              <a:t>％</a:t>
            </a:r>
            <a:endParaRPr lang="en-US" altLang="zh-TW" sz="2000" dirty="0">
              <a:latin typeface="Microsoft JhengHei"/>
              <a:ea typeface="Microsoft JhengHei"/>
              <a:cs typeface="Microsoft JhengHei"/>
              <a:sym typeface="Microsoft JhengHei"/>
            </a:endParaRPr>
          </a:p>
          <a:p>
            <a:pPr marL="342900" marR="0" lvl="0" indent="-342900" algn="l" rtl="0">
              <a:lnSpc>
                <a:spcPct val="150000"/>
              </a:lnSpc>
              <a:spcBef>
                <a:spcPts val="0"/>
              </a:spcBef>
              <a:spcAft>
                <a:spcPts val="0"/>
              </a:spcAft>
              <a:buClr>
                <a:srgbClr val="000000"/>
              </a:buClr>
              <a:buSzPts val="2000"/>
              <a:buFont typeface="Arial" panose="020B0604020202020204" pitchFamily="34" charset="0"/>
              <a:buChar char="•"/>
            </a:pPr>
            <a:r>
              <a:rPr lang="zh-TW" sz="2000" dirty="0">
                <a:latin typeface="Microsoft JhengHei"/>
                <a:ea typeface="Microsoft JhengHei"/>
                <a:cs typeface="Microsoft JhengHei"/>
                <a:sym typeface="Microsoft JhengHei"/>
              </a:rPr>
              <a:t>訓練模型時，為了避免 Overfit，Tree 分支少</a:t>
            </a:r>
            <a:r>
              <a:rPr lang="en-US" altLang="zh-TW" sz="2000" dirty="0">
                <a:latin typeface="Microsoft JhengHei"/>
                <a:ea typeface="Microsoft JhengHei"/>
                <a:cs typeface="Microsoft JhengHei"/>
                <a:sym typeface="Microsoft JhengHei"/>
              </a:rPr>
              <a:t> </a:t>
            </a:r>
          </a:p>
          <a:p>
            <a:pPr marR="0" lvl="0" algn="l" rtl="0">
              <a:lnSpc>
                <a:spcPct val="150000"/>
              </a:lnSpc>
              <a:spcBef>
                <a:spcPts val="0"/>
              </a:spcBef>
              <a:spcAft>
                <a:spcPts val="0"/>
              </a:spcAft>
              <a:buClr>
                <a:srgbClr val="000000"/>
              </a:buClr>
              <a:buSzPts val="2000"/>
            </a:pPr>
            <a:r>
              <a:rPr lang="zh-TW" altLang="en-US" sz="2000" dirty="0">
                <a:latin typeface="Microsoft JhengHei"/>
                <a:ea typeface="Microsoft JhengHei"/>
                <a:cs typeface="Microsoft JhengHei"/>
                <a:sym typeface="Microsoft JhengHei"/>
              </a:rPr>
              <a:t>　</a:t>
            </a:r>
            <a:r>
              <a:rPr lang="zh-TW" sz="2000" dirty="0">
                <a:latin typeface="Microsoft JhengHei"/>
                <a:ea typeface="Microsoft JhengHei"/>
                <a:cs typeface="Microsoft JhengHei"/>
                <a:sym typeface="Microsoft JhengHei"/>
              </a:rPr>
              <a:t>→</a:t>
            </a:r>
            <a:r>
              <a:rPr lang="en-US" altLang="zh-TW" sz="2000" dirty="0">
                <a:latin typeface="Microsoft JhengHei"/>
                <a:ea typeface="Microsoft JhengHei"/>
                <a:cs typeface="Microsoft JhengHei"/>
                <a:sym typeface="Microsoft JhengHei"/>
              </a:rPr>
              <a:t> </a:t>
            </a:r>
            <a:r>
              <a:rPr lang="zh-TW" sz="2000" dirty="0">
                <a:latin typeface="Microsoft JhengHei"/>
                <a:ea typeface="Microsoft JhengHei"/>
                <a:cs typeface="Microsoft JhengHei"/>
                <a:sym typeface="Microsoft JhengHei"/>
              </a:rPr>
              <a:t>模型預測相同機率的 Agent 多</a:t>
            </a:r>
            <a:endParaRPr lang="en-US" altLang="zh-TW" sz="2000" dirty="0">
              <a:latin typeface="Microsoft JhengHei"/>
              <a:ea typeface="Microsoft JhengHei"/>
              <a:cs typeface="Microsoft JhengHei"/>
              <a:sym typeface="Microsoft JhengHei"/>
            </a:endParaRPr>
          </a:p>
        </p:txBody>
      </p:sp>
      <p:pic>
        <p:nvPicPr>
          <p:cNvPr id="384" name="Google Shape;384;gdbb904855f_1_0"/>
          <p:cNvPicPr preferRelativeResize="0"/>
          <p:nvPr/>
        </p:nvPicPr>
        <p:blipFill>
          <a:blip r:embed="rId3">
            <a:alphaModFix/>
          </a:blip>
          <a:stretch>
            <a:fillRect/>
          </a:stretch>
        </p:blipFill>
        <p:spPr>
          <a:xfrm>
            <a:off x="7821355" y="1819288"/>
            <a:ext cx="3765594" cy="4556727"/>
          </a:xfrm>
          <a:prstGeom prst="rect">
            <a:avLst/>
          </a:prstGeom>
          <a:noFill/>
          <a:ln>
            <a:noFill/>
          </a:ln>
        </p:spPr>
      </p:pic>
      <p:sp>
        <p:nvSpPr>
          <p:cNvPr id="385" name="Google Shape;385;gdbb904855f_1_0"/>
          <p:cNvSpPr/>
          <p:nvPr/>
        </p:nvSpPr>
        <p:spPr>
          <a:xfrm rot="10800000">
            <a:off x="6921666" y="5626382"/>
            <a:ext cx="956100" cy="155626"/>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gdbb904855f_1_0"/>
          <p:cNvSpPr txBox="1"/>
          <p:nvPr/>
        </p:nvSpPr>
        <p:spPr>
          <a:xfrm>
            <a:off x="4359583" y="5491361"/>
            <a:ext cx="2538900" cy="40007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zh-TW" dirty="0">
                <a:latin typeface="Malgun Gothic"/>
                <a:ea typeface="Malgun Gothic"/>
                <a:cs typeface="Malgun Gothic"/>
                <a:sym typeface="Malgun Gothic"/>
              </a:rPr>
              <a:t>過往</a:t>
            </a:r>
            <a:r>
              <a:rPr lang="zh-TW" altLang="en-US" dirty="0">
                <a:latin typeface="Malgun Gothic"/>
                <a:ea typeface="Malgun Gothic"/>
                <a:cs typeface="Malgun Gothic"/>
                <a:sym typeface="Malgun Gothic"/>
              </a:rPr>
              <a:t>不當</a:t>
            </a:r>
            <a:r>
              <a:rPr lang="zh-TW" dirty="0">
                <a:latin typeface="Malgun Gothic"/>
                <a:ea typeface="Malgun Gothic"/>
                <a:cs typeface="Malgun Gothic"/>
                <a:sym typeface="Malgun Gothic"/>
              </a:rPr>
              <a:t>行為Recency  &lt; 12</a:t>
            </a:r>
            <a:endParaRPr dirty="0">
              <a:latin typeface="Malgun Gothic"/>
              <a:ea typeface="Malgun Gothic"/>
              <a:cs typeface="Malgun Gothic"/>
              <a:sym typeface="Malgun Gothic"/>
            </a:endParaRPr>
          </a:p>
        </p:txBody>
      </p:sp>
      <p:graphicFrame>
        <p:nvGraphicFramePr>
          <p:cNvPr id="14" name="Google Shape;218;gdbcf297a5f_0_0"/>
          <p:cNvGraphicFramePr/>
          <p:nvPr>
            <p:extLst>
              <p:ext uri="{D42A27DB-BD31-4B8C-83A1-F6EECF244321}">
                <p14:modId xmlns:p14="http://schemas.microsoft.com/office/powerpoint/2010/main" val="2638364974"/>
              </p:ext>
            </p:extLst>
          </p:nvPr>
        </p:nvGraphicFramePr>
        <p:xfrm>
          <a:off x="298393" y="6487160"/>
          <a:ext cx="11096375" cy="371930"/>
        </p:xfrm>
        <a:graphic>
          <a:graphicData uri="http://schemas.openxmlformats.org/drawingml/2006/table">
            <a:tbl>
              <a:tblPr firstRow="1" bandRow="1">
                <a:noFill/>
                <a:tableStyleId>{72FCF9FF-86DD-4F90-83C7-D16C962093AE}</a:tableStyleId>
              </a:tblPr>
              <a:tblGrid>
                <a:gridCol w="11096375">
                  <a:extLst>
                    <a:ext uri="{9D8B030D-6E8A-4147-A177-3AD203B41FA5}">
                      <a16:colId xmlns:a16="http://schemas.microsoft.com/office/drawing/2014/main" val="20000"/>
                    </a:ext>
                  </a:extLst>
                </a:gridCol>
              </a:tblGrid>
              <a:tr h="370850">
                <a:tc>
                  <a:txBody>
                    <a:bodyPr/>
                    <a:lstStyle/>
                    <a:p>
                      <a:pPr marL="0" marR="0" lvl="0" indent="0" algn="ctr" rtl="0">
                        <a:lnSpc>
                          <a:spcPct val="150000"/>
                        </a:lnSpc>
                        <a:spcBef>
                          <a:spcPts val="0"/>
                        </a:spcBef>
                        <a:spcAft>
                          <a:spcPts val="0"/>
                        </a:spcAft>
                        <a:buClr>
                          <a:srgbClr val="BFBFBF"/>
                        </a:buClr>
                        <a:buSzPts val="700"/>
                        <a:buFont typeface="Malgun Gothic"/>
                        <a:buNone/>
                      </a:pPr>
                      <a:r>
                        <a:rPr lang="en-US" sz="1400" b="0" i="0" u="none" strike="noStrike" cap="none" dirty="0">
                          <a:solidFill>
                            <a:schemeClr val="bg1"/>
                          </a:solidFill>
                          <a:latin typeface="Cambria Math" panose="02040503050406030204" pitchFamily="18" charset="0"/>
                          <a:ea typeface="Cambria Math" panose="02040503050406030204" pitchFamily="18" charset="0"/>
                          <a:cs typeface="Malgun Gothic"/>
                          <a:sym typeface="Malgun Gothic"/>
                        </a:rPr>
                        <a:t>1</a:t>
                      </a:r>
                      <a:r>
                        <a:rPr lang="en-US" altLang="zh-TW" sz="1400" b="0" i="0" u="none" strike="noStrike" cap="none" dirty="0">
                          <a:solidFill>
                            <a:schemeClr val="bg1"/>
                          </a:solidFill>
                          <a:latin typeface="Cambria Math" panose="02040503050406030204" pitchFamily="18" charset="0"/>
                          <a:ea typeface="Cambria Math" panose="02040503050406030204" pitchFamily="18" charset="0"/>
                          <a:cs typeface="Malgun Gothic"/>
                          <a:sym typeface="Malgun Gothic"/>
                        </a:rPr>
                        <a:t>3</a:t>
                      </a:r>
                      <a:endParaRPr sz="1400" b="0" i="0" u="none" strike="noStrike" cap="none" dirty="0">
                        <a:solidFill>
                          <a:schemeClr val="bg1"/>
                        </a:solidFill>
                        <a:latin typeface="Cambria Math" panose="02040503050406030204" pitchFamily="18" charset="0"/>
                        <a:ea typeface="Cambria Math" panose="02040503050406030204" pitchFamily="18" charset="0"/>
                        <a:cs typeface="Malgun Gothic"/>
                        <a:sym typeface="Malgun Gothic"/>
                      </a:endParaRPr>
                    </a:p>
                  </a:txBody>
                  <a:tcPr marL="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cxnSp>
        <p:nvCxnSpPr>
          <p:cNvPr id="4" name="直線接點 3">
            <a:extLst>
              <a:ext uri="{FF2B5EF4-FFF2-40B4-BE49-F238E27FC236}">
                <a16:creationId xmlns:a16="http://schemas.microsoft.com/office/drawing/2014/main" id="{C5651F90-81F4-4DDC-BE06-2828CC14F1EE}"/>
              </a:ext>
            </a:extLst>
          </p:cNvPr>
          <p:cNvCxnSpPr>
            <a:cxnSpLocks/>
          </p:cNvCxnSpPr>
          <p:nvPr/>
        </p:nvCxnSpPr>
        <p:spPr>
          <a:xfrm>
            <a:off x="2047352" y="3880202"/>
            <a:ext cx="5064491" cy="565620"/>
          </a:xfrm>
          <a:prstGeom prst="line">
            <a:avLst/>
          </a:prstGeom>
          <a:ln w="38100">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18" name="直線接點 17">
            <a:extLst>
              <a:ext uri="{FF2B5EF4-FFF2-40B4-BE49-F238E27FC236}">
                <a16:creationId xmlns:a16="http://schemas.microsoft.com/office/drawing/2014/main" id="{8DB0EE76-C353-42C0-A9A2-C1246578E387}"/>
              </a:ext>
            </a:extLst>
          </p:cNvPr>
          <p:cNvCxnSpPr>
            <a:cxnSpLocks/>
          </p:cNvCxnSpPr>
          <p:nvPr/>
        </p:nvCxnSpPr>
        <p:spPr>
          <a:xfrm flipV="1">
            <a:off x="2047352" y="3879122"/>
            <a:ext cx="5064491" cy="565885"/>
          </a:xfrm>
          <a:prstGeom prst="line">
            <a:avLst/>
          </a:prstGeom>
          <a:ln w="38100">
            <a:solidFill>
              <a:srgbClr val="FF0000"/>
            </a:solidFill>
          </a:ln>
        </p:spPr>
        <p:style>
          <a:lnRef idx="1">
            <a:schemeClr val="accent2"/>
          </a:lnRef>
          <a:fillRef idx="0">
            <a:schemeClr val="accent2"/>
          </a:fillRef>
          <a:effectRef idx="0">
            <a:schemeClr val="accent2"/>
          </a:effectRef>
          <a:fontRef idx="minor">
            <a:schemeClr val="tx1"/>
          </a:fontRef>
        </p:style>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24"/>
          <p:cNvSpPr/>
          <p:nvPr/>
        </p:nvSpPr>
        <p:spPr>
          <a:xfrm>
            <a:off x="1848142" y="329912"/>
            <a:ext cx="3194100" cy="387300"/>
          </a:xfrm>
          <a:prstGeom prst="parallelogram">
            <a:avLst>
              <a:gd name="adj" fmla="val 69898"/>
            </a:avLst>
          </a:prstGeom>
          <a:solidFill>
            <a:srgbClr val="21BFCA"/>
          </a:solidFill>
          <a:ln w="161925" cap="sq" cmpd="sng">
            <a:solidFill>
              <a:srgbClr val="1E868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241" name="Google Shape;241;p24"/>
          <p:cNvSpPr/>
          <p:nvPr/>
        </p:nvSpPr>
        <p:spPr>
          <a:xfrm>
            <a:off x="1833992" y="329256"/>
            <a:ext cx="3194100" cy="387300"/>
          </a:xfrm>
          <a:prstGeom prst="parallelogram">
            <a:avLst>
              <a:gd name="adj" fmla="val 69898"/>
            </a:avLst>
          </a:prstGeom>
          <a:solidFill>
            <a:srgbClr val="21BFCA"/>
          </a:solidFill>
          <a:ln w="161925" cap="sq" cmpd="sng">
            <a:solidFill>
              <a:srgbClr val="21BFC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242" name="Google Shape;242;p24"/>
          <p:cNvSpPr/>
          <p:nvPr/>
        </p:nvSpPr>
        <p:spPr>
          <a:xfrm>
            <a:off x="4581237" y="329912"/>
            <a:ext cx="7524900" cy="387300"/>
          </a:xfrm>
          <a:prstGeom prst="parallelogram">
            <a:avLst>
              <a:gd name="adj" fmla="val 0"/>
            </a:avLst>
          </a:prstGeom>
          <a:solidFill>
            <a:srgbClr val="21BFCA"/>
          </a:solidFill>
          <a:ln w="161925" cap="sq" cmpd="sng">
            <a:solidFill>
              <a:srgbClr val="21BFC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243" name="Google Shape;243;p24"/>
          <p:cNvSpPr/>
          <p:nvPr/>
        </p:nvSpPr>
        <p:spPr>
          <a:xfrm>
            <a:off x="2066647" y="271786"/>
            <a:ext cx="6678600" cy="523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zh-TW" sz="2800" b="0" i="0" u="none" strike="noStrike" cap="none" dirty="0">
                <a:solidFill>
                  <a:srgbClr val="FFFFFF"/>
                </a:solidFill>
                <a:latin typeface="Microsoft JhengHei"/>
                <a:ea typeface="Microsoft JhengHei"/>
                <a:cs typeface="Microsoft JhengHei"/>
                <a:sym typeface="Microsoft JhengHei"/>
              </a:rPr>
              <a:t>Tree Model</a:t>
            </a:r>
            <a:r>
              <a:rPr lang="zh-TW" altLang="en-US" sz="2800" b="0" i="0" u="none" strike="noStrike" cap="none" dirty="0">
                <a:solidFill>
                  <a:srgbClr val="FFFFFF"/>
                </a:solidFill>
                <a:latin typeface="Microsoft JhengHei"/>
                <a:ea typeface="Microsoft JhengHei"/>
                <a:cs typeface="Microsoft JhengHei"/>
                <a:sym typeface="Microsoft JhengHei"/>
              </a:rPr>
              <a:t> </a:t>
            </a:r>
            <a:r>
              <a:rPr lang="en-US" altLang="zh-TW" sz="2800" b="0" i="0" u="none" strike="noStrike" cap="none" dirty="0">
                <a:solidFill>
                  <a:srgbClr val="FFFFFF"/>
                </a:solidFill>
                <a:latin typeface="Microsoft JhengHei"/>
                <a:ea typeface="Microsoft JhengHei"/>
                <a:cs typeface="Microsoft JhengHei"/>
                <a:sym typeface="Microsoft JhengHei"/>
              </a:rPr>
              <a:t>2</a:t>
            </a:r>
            <a:endParaRPr sz="2800" b="0" i="0" u="none" strike="noStrike" cap="none" dirty="0">
              <a:solidFill>
                <a:srgbClr val="FFFFFF"/>
              </a:solidFill>
              <a:latin typeface="Microsoft JhengHei"/>
              <a:ea typeface="Microsoft JhengHei"/>
              <a:cs typeface="Microsoft JhengHei"/>
              <a:sym typeface="Microsoft JhengHei"/>
            </a:endParaRPr>
          </a:p>
        </p:txBody>
      </p:sp>
      <p:graphicFrame>
        <p:nvGraphicFramePr>
          <p:cNvPr id="244" name="Google Shape;244;p24"/>
          <p:cNvGraphicFramePr/>
          <p:nvPr/>
        </p:nvGraphicFramePr>
        <p:xfrm>
          <a:off x="298393" y="6487160"/>
          <a:ext cx="11096375" cy="370850"/>
        </p:xfrm>
        <a:graphic>
          <a:graphicData uri="http://schemas.openxmlformats.org/drawingml/2006/table">
            <a:tbl>
              <a:tblPr firstRow="1" bandRow="1">
                <a:noFill/>
                <a:tableStyleId>{72FCF9FF-86DD-4F90-83C7-D16C962093AE}</a:tableStyleId>
              </a:tblPr>
              <a:tblGrid>
                <a:gridCol w="11096375">
                  <a:extLst>
                    <a:ext uri="{9D8B030D-6E8A-4147-A177-3AD203B41FA5}">
                      <a16:colId xmlns:a16="http://schemas.microsoft.com/office/drawing/2014/main" val="20000"/>
                    </a:ext>
                  </a:extLst>
                </a:gridCol>
              </a:tblGrid>
              <a:tr h="370850">
                <a:tc>
                  <a:txBody>
                    <a:bodyPr/>
                    <a:lstStyle/>
                    <a:p>
                      <a:pPr marL="0" marR="0" lvl="0" indent="0" algn="ctr" rtl="0">
                        <a:lnSpc>
                          <a:spcPct val="150000"/>
                        </a:lnSpc>
                        <a:spcBef>
                          <a:spcPts val="0"/>
                        </a:spcBef>
                        <a:spcAft>
                          <a:spcPts val="0"/>
                        </a:spcAft>
                        <a:buClr>
                          <a:srgbClr val="BFBFBF"/>
                        </a:buClr>
                        <a:buSzPts val="700"/>
                        <a:buFont typeface="Malgun Gothic"/>
                        <a:buNone/>
                      </a:pPr>
                      <a:r>
                        <a:rPr lang="zh-TW" sz="700" b="0" i="0" u="none" strike="noStrike" cap="none" dirty="0">
                          <a:solidFill>
                            <a:srgbClr val="BFBFBF"/>
                          </a:solidFill>
                          <a:latin typeface="Malgun Gothic"/>
                          <a:ea typeface="Malgun Gothic"/>
                          <a:cs typeface="Malgun Gothic"/>
                          <a:sym typeface="Malgun Gothic"/>
                        </a:rPr>
                        <a:t>Enjoy your stylish business and campus life with BIZCAM</a:t>
                      </a:r>
                      <a:endParaRPr sz="4800" b="0" i="0" u="none" strike="noStrike" cap="none" dirty="0">
                        <a:solidFill>
                          <a:srgbClr val="BFBFBF"/>
                        </a:solidFill>
                        <a:latin typeface="Malgun Gothic"/>
                        <a:ea typeface="Malgun Gothic"/>
                        <a:cs typeface="Malgun Gothic"/>
                        <a:sym typeface="Malgun Gothic"/>
                      </a:endParaRPr>
                    </a:p>
                  </a:txBody>
                  <a:tcPr marL="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cxnSp>
        <p:nvCxnSpPr>
          <p:cNvPr id="245" name="Google Shape;245;p24"/>
          <p:cNvCxnSpPr/>
          <p:nvPr/>
        </p:nvCxnSpPr>
        <p:spPr>
          <a:xfrm>
            <a:off x="157389" y="1274020"/>
            <a:ext cx="1224000" cy="0"/>
          </a:xfrm>
          <a:prstGeom prst="straightConnector1">
            <a:avLst/>
          </a:prstGeom>
          <a:noFill/>
          <a:ln w="15875" cap="rnd" cmpd="sng">
            <a:solidFill>
              <a:srgbClr val="21BFCA"/>
            </a:solidFill>
            <a:prstDash val="solid"/>
            <a:round/>
            <a:headEnd type="none" w="sm" len="sm"/>
            <a:tailEnd type="none" w="sm" len="sm"/>
          </a:ln>
        </p:spPr>
      </p:cxnSp>
      <p:sp>
        <p:nvSpPr>
          <p:cNvPr id="246" name="Google Shape;246;p24"/>
          <p:cNvSpPr/>
          <p:nvPr/>
        </p:nvSpPr>
        <p:spPr>
          <a:xfrm>
            <a:off x="158593" y="812355"/>
            <a:ext cx="540600" cy="461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zh-TW" sz="2400" b="1" i="1" u="none" strike="noStrike" cap="none" dirty="0">
                <a:solidFill>
                  <a:srgbClr val="21BFCA"/>
                </a:solidFill>
                <a:latin typeface="Malgun Gothic"/>
                <a:ea typeface="Malgun Gothic"/>
                <a:cs typeface="Malgun Gothic"/>
                <a:sym typeface="Malgun Gothic"/>
              </a:rPr>
              <a:t>0</a:t>
            </a:r>
            <a:r>
              <a:rPr lang="en-US" altLang="zh-TW" sz="2400" b="1" i="1" dirty="0">
                <a:solidFill>
                  <a:srgbClr val="21BFCA"/>
                </a:solidFill>
                <a:latin typeface="Malgun Gothic"/>
                <a:ea typeface="Malgun Gothic"/>
                <a:cs typeface="Malgun Gothic"/>
                <a:sym typeface="Malgun Gothic"/>
              </a:rPr>
              <a:t>3</a:t>
            </a:r>
            <a:endParaRPr sz="2400" b="0" i="0" u="none" strike="noStrike" cap="none" dirty="0">
              <a:solidFill>
                <a:srgbClr val="21BFCA"/>
              </a:solidFill>
              <a:latin typeface="Malgun Gothic"/>
              <a:ea typeface="Malgun Gothic"/>
              <a:cs typeface="Malgun Gothic"/>
              <a:sym typeface="Malgun Gothic"/>
            </a:endParaRPr>
          </a:p>
        </p:txBody>
      </p:sp>
      <p:sp>
        <p:nvSpPr>
          <p:cNvPr id="247" name="Google Shape;247;p24"/>
          <p:cNvSpPr/>
          <p:nvPr/>
        </p:nvSpPr>
        <p:spPr>
          <a:xfrm>
            <a:off x="1944773" y="1377633"/>
            <a:ext cx="14062132" cy="503878"/>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8" name="Google Shape;248;p24"/>
          <p:cNvSpPr txBox="1"/>
          <p:nvPr/>
        </p:nvSpPr>
        <p:spPr>
          <a:xfrm>
            <a:off x="1381389" y="1273717"/>
            <a:ext cx="3675836" cy="18620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600"/>
              </a:spcAft>
              <a:buNone/>
            </a:pPr>
            <a:r>
              <a:rPr lang="zh-TW" sz="2400" b="1" i="0" u="none" strike="noStrike" cap="none" dirty="0">
                <a:solidFill>
                  <a:srgbClr val="1E4E79"/>
                </a:solidFill>
                <a:latin typeface="Microsoft JhengHei"/>
                <a:ea typeface="Microsoft JhengHei"/>
                <a:cs typeface="Microsoft JhengHei"/>
                <a:sym typeface="Microsoft JhengHei"/>
              </a:rPr>
              <a:t>Training 結果</a:t>
            </a:r>
            <a:endParaRPr lang="en-US" altLang="zh-TW" sz="2400" b="1" i="0" u="none" strike="noStrike" cap="none" dirty="0">
              <a:solidFill>
                <a:srgbClr val="1E4E79"/>
              </a:solidFill>
              <a:latin typeface="Microsoft JhengHei"/>
              <a:ea typeface="Microsoft JhengHei"/>
              <a:cs typeface="Microsoft JhengHei"/>
              <a:sym typeface="Microsoft JhengHei"/>
            </a:endParaRPr>
          </a:p>
          <a:p>
            <a:r>
              <a:rPr lang="zh-TW" altLang="en-US" sz="1800" dirty="0">
                <a:solidFill>
                  <a:schemeClr val="tx1"/>
                </a:solidFill>
                <a:latin typeface="Microsoft JhengHei"/>
                <a:ea typeface="Microsoft JhengHei"/>
                <a:cs typeface="Microsoft JhengHei"/>
                <a:sym typeface="Microsoft JhengHei"/>
              </a:rPr>
              <a:t>訓練資料前</a:t>
            </a:r>
            <a:r>
              <a:rPr lang="en-US" altLang="zh-TW" sz="1800" dirty="0">
                <a:solidFill>
                  <a:schemeClr val="tx1"/>
                </a:solidFill>
                <a:latin typeface="Microsoft JhengHei"/>
                <a:ea typeface="Microsoft JhengHei"/>
                <a:cs typeface="Microsoft JhengHei"/>
                <a:sym typeface="Microsoft JhengHei"/>
              </a:rPr>
              <a:t>5%</a:t>
            </a:r>
            <a:r>
              <a:rPr lang="zh-TW" altLang="en-US" sz="1800" dirty="0">
                <a:solidFill>
                  <a:schemeClr val="tx1"/>
                </a:solidFill>
                <a:latin typeface="Microsoft JhengHei"/>
                <a:ea typeface="Microsoft JhengHei"/>
                <a:cs typeface="Microsoft JhengHei"/>
                <a:sym typeface="Microsoft JhengHei"/>
              </a:rPr>
              <a:t>捕捉率</a:t>
            </a:r>
            <a:r>
              <a:rPr lang="en-US" altLang="zh-TW" sz="1800" dirty="0">
                <a:solidFill>
                  <a:schemeClr val="tx1"/>
                </a:solidFill>
                <a:latin typeface="Microsoft JhengHei"/>
                <a:ea typeface="Microsoft JhengHei"/>
                <a:cs typeface="Microsoft JhengHei"/>
                <a:sym typeface="Microsoft JhengHei"/>
              </a:rPr>
              <a:t>40.51%</a:t>
            </a:r>
          </a:p>
          <a:p>
            <a:pPr marL="0" marR="0" lvl="0" indent="0" algn="l" rtl="0">
              <a:lnSpc>
                <a:spcPct val="100000"/>
              </a:lnSpc>
              <a:spcBef>
                <a:spcPts val="0"/>
              </a:spcBef>
              <a:spcAft>
                <a:spcPts val="0"/>
              </a:spcAft>
              <a:buNone/>
            </a:pPr>
            <a:endParaRPr lang="en-US" altLang="zh-TW" sz="2400" b="1" i="0" u="none" strike="noStrike" cap="none" dirty="0">
              <a:solidFill>
                <a:srgbClr val="1E4E79"/>
              </a:solidFill>
              <a:latin typeface="Microsoft JhengHei"/>
              <a:ea typeface="Microsoft JhengHei"/>
              <a:cs typeface="Microsoft JhengHei"/>
              <a:sym typeface="Microsoft JhengHei"/>
            </a:endParaRPr>
          </a:p>
          <a:p>
            <a:pPr marL="0" marR="0" lvl="0" indent="0" algn="l" rtl="0">
              <a:lnSpc>
                <a:spcPct val="100000"/>
              </a:lnSpc>
              <a:spcBef>
                <a:spcPts val="0"/>
              </a:spcBef>
              <a:spcAft>
                <a:spcPts val="0"/>
              </a:spcAft>
              <a:buNone/>
            </a:pPr>
            <a:endParaRPr lang="en-US" altLang="zh-TW" sz="2000" b="1" i="0" u="none" strike="noStrike" cap="none" dirty="0">
              <a:solidFill>
                <a:srgbClr val="1E4E79"/>
              </a:solidFill>
              <a:latin typeface="Microsoft JhengHei"/>
              <a:ea typeface="Microsoft JhengHei"/>
              <a:cs typeface="Microsoft JhengHei"/>
              <a:sym typeface="Microsoft JhengHei"/>
            </a:endParaRPr>
          </a:p>
          <a:p>
            <a:pPr marL="0" marR="0" lvl="0" indent="0" algn="l" rtl="0">
              <a:lnSpc>
                <a:spcPct val="100000"/>
              </a:lnSpc>
              <a:spcBef>
                <a:spcPts val="0"/>
              </a:spcBef>
              <a:spcAft>
                <a:spcPts val="0"/>
              </a:spcAft>
              <a:buNone/>
            </a:pPr>
            <a:endParaRPr sz="2400" b="0" i="0" u="none" strike="noStrike" cap="none" dirty="0">
              <a:solidFill>
                <a:srgbClr val="1E4E79"/>
              </a:solidFill>
              <a:latin typeface="Microsoft JhengHei"/>
              <a:ea typeface="Microsoft JhengHei"/>
              <a:cs typeface="Microsoft JhengHei"/>
              <a:sym typeface="Microsoft JhengHei"/>
            </a:endParaRPr>
          </a:p>
        </p:txBody>
      </p:sp>
      <p:graphicFrame>
        <p:nvGraphicFramePr>
          <p:cNvPr id="249" name="Google Shape;249;p24"/>
          <p:cNvGraphicFramePr/>
          <p:nvPr>
            <p:extLst>
              <p:ext uri="{D42A27DB-BD31-4B8C-83A1-F6EECF244321}">
                <p14:modId xmlns:p14="http://schemas.microsoft.com/office/powerpoint/2010/main" val="529371018"/>
              </p:ext>
            </p:extLst>
          </p:nvPr>
        </p:nvGraphicFramePr>
        <p:xfrm>
          <a:off x="4938503" y="1464522"/>
          <a:ext cx="6420500" cy="4767885"/>
        </p:xfrm>
        <a:graphic>
          <a:graphicData uri="http://schemas.openxmlformats.org/drawingml/2006/table">
            <a:tbl>
              <a:tblPr>
                <a:noFill/>
                <a:tableStyleId>{23EA8F4A-E16B-4139-BFD6-0EAB617C4CEA}</a:tableStyleId>
              </a:tblPr>
              <a:tblGrid>
                <a:gridCol w="1284100">
                  <a:extLst>
                    <a:ext uri="{9D8B030D-6E8A-4147-A177-3AD203B41FA5}">
                      <a16:colId xmlns:a16="http://schemas.microsoft.com/office/drawing/2014/main" val="20000"/>
                    </a:ext>
                  </a:extLst>
                </a:gridCol>
                <a:gridCol w="1284100">
                  <a:extLst>
                    <a:ext uri="{9D8B030D-6E8A-4147-A177-3AD203B41FA5}">
                      <a16:colId xmlns:a16="http://schemas.microsoft.com/office/drawing/2014/main" val="20001"/>
                    </a:ext>
                  </a:extLst>
                </a:gridCol>
                <a:gridCol w="1284100">
                  <a:extLst>
                    <a:ext uri="{9D8B030D-6E8A-4147-A177-3AD203B41FA5}">
                      <a16:colId xmlns:a16="http://schemas.microsoft.com/office/drawing/2014/main" val="20002"/>
                    </a:ext>
                  </a:extLst>
                </a:gridCol>
                <a:gridCol w="1284100">
                  <a:extLst>
                    <a:ext uri="{9D8B030D-6E8A-4147-A177-3AD203B41FA5}">
                      <a16:colId xmlns:a16="http://schemas.microsoft.com/office/drawing/2014/main" val="20003"/>
                    </a:ext>
                  </a:extLst>
                </a:gridCol>
                <a:gridCol w="1284100">
                  <a:extLst>
                    <a:ext uri="{9D8B030D-6E8A-4147-A177-3AD203B41FA5}">
                      <a16:colId xmlns:a16="http://schemas.microsoft.com/office/drawing/2014/main" val="20004"/>
                    </a:ext>
                  </a:extLst>
                </a:gridCol>
              </a:tblGrid>
              <a:tr h="409575">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r>
                        <a:rPr lang="zh-TW"/>
                        <a:t>Bad 滲透度</a:t>
                      </a:r>
                      <a:endParaRPr/>
                    </a:p>
                  </a:txBody>
                  <a:tcPr marL="91425" marR="91425" marT="91425" marB="91425"/>
                </a:tc>
                <a:tc>
                  <a:txBody>
                    <a:bodyPr/>
                    <a:lstStyle/>
                    <a:p>
                      <a:pPr marL="0" lvl="0" indent="0" algn="l" rtl="0">
                        <a:spcBef>
                          <a:spcPts val="0"/>
                        </a:spcBef>
                        <a:spcAft>
                          <a:spcPts val="0"/>
                        </a:spcAft>
                        <a:buNone/>
                      </a:pPr>
                      <a:r>
                        <a:rPr lang="zh-TW"/>
                        <a:t>倍數</a:t>
                      </a:r>
                      <a:endParaRPr/>
                    </a:p>
                  </a:txBody>
                  <a:tcPr marL="91425" marR="91425" marT="91425" marB="91425"/>
                </a:tc>
                <a:tc>
                  <a:txBody>
                    <a:bodyPr/>
                    <a:lstStyle/>
                    <a:p>
                      <a:pPr marL="0" lvl="0" indent="0" algn="l" rtl="0">
                        <a:spcBef>
                          <a:spcPts val="0"/>
                        </a:spcBef>
                        <a:spcAft>
                          <a:spcPts val="0"/>
                        </a:spcAft>
                        <a:buNone/>
                      </a:pPr>
                      <a:r>
                        <a:rPr lang="zh-TW"/>
                        <a:t>Bad 占比</a:t>
                      </a:r>
                      <a:endParaRPr/>
                    </a:p>
                  </a:txBody>
                  <a:tcPr marL="91425" marR="91425" marT="91425" marB="91425"/>
                </a:tc>
                <a:tc>
                  <a:txBody>
                    <a:bodyPr/>
                    <a:lstStyle/>
                    <a:p>
                      <a:pPr marL="0" lvl="0" indent="0" algn="l" rtl="0">
                        <a:spcBef>
                          <a:spcPts val="0"/>
                        </a:spcBef>
                        <a:spcAft>
                          <a:spcPts val="0"/>
                        </a:spcAft>
                        <a:buNone/>
                      </a:pPr>
                      <a:r>
                        <a:rPr lang="zh-TW"/>
                        <a:t>Bad 累積占比</a:t>
                      </a:r>
                      <a:endParaRPr/>
                    </a:p>
                  </a:txBody>
                  <a:tcPr marL="91425" marR="91425" marT="91425" marB="91425"/>
                </a:tc>
                <a:extLst>
                  <a:ext uri="{0D108BD9-81ED-4DB2-BD59-A6C34878D82A}">
                    <a16:rowId xmlns:a16="http://schemas.microsoft.com/office/drawing/2014/main" val="10000"/>
                  </a:ext>
                </a:extLst>
              </a:tr>
              <a:tr h="219075">
                <a:tc>
                  <a:txBody>
                    <a:bodyPr/>
                    <a:lstStyle/>
                    <a:p>
                      <a:pPr marL="0" lvl="0" indent="0" algn="l" rtl="0">
                        <a:spcBef>
                          <a:spcPts val="0"/>
                        </a:spcBef>
                        <a:spcAft>
                          <a:spcPts val="0"/>
                        </a:spcAft>
                        <a:buNone/>
                      </a:pPr>
                      <a:r>
                        <a:rPr lang="zh-TW"/>
                        <a:t>5%</a:t>
                      </a:r>
                      <a:endParaRPr/>
                    </a:p>
                  </a:txBody>
                  <a:tcPr marL="91425" marR="91425" marT="91425" marB="91425"/>
                </a:tc>
                <a:tc>
                  <a:txBody>
                    <a:bodyPr/>
                    <a:lstStyle/>
                    <a:p>
                      <a:pPr marL="0" lvl="0" indent="0" algn="l" rtl="0">
                        <a:spcBef>
                          <a:spcPts val="0"/>
                        </a:spcBef>
                        <a:spcAft>
                          <a:spcPts val="0"/>
                        </a:spcAft>
                        <a:buNone/>
                      </a:pPr>
                      <a:r>
                        <a:rPr lang="zh-TW"/>
                        <a:t>5.27%</a:t>
                      </a:r>
                      <a:endParaRPr/>
                    </a:p>
                  </a:txBody>
                  <a:tcPr marL="91425" marR="91425" marT="91425" marB="91425"/>
                </a:tc>
                <a:tc>
                  <a:txBody>
                    <a:bodyPr/>
                    <a:lstStyle/>
                    <a:p>
                      <a:pPr marL="0" lvl="0" indent="0" algn="l" rtl="0">
                        <a:spcBef>
                          <a:spcPts val="0"/>
                        </a:spcBef>
                        <a:spcAft>
                          <a:spcPts val="0"/>
                        </a:spcAft>
                        <a:buNone/>
                      </a:pPr>
                      <a:r>
                        <a:rPr lang="zh-TW"/>
                        <a:t>8.1</a:t>
                      </a:r>
                      <a:endParaRPr/>
                    </a:p>
                  </a:txBody>
                  <a:tcPr marL="91425" marR="91425" marT="91425" marB="91425"/>
                </a:tc>
                <a:tc>
                  <a:txBody>
                    <a:bodyPr/>
                    <a:lstStyle/>
                    <a:p>
                      <a:pPr marL="0" lvl="0" indent="0" algn="l" rtl="0">
                        <a:spcBef>
                          <a:spcPts val="0"/>
                        </a:spcBef>
                        <a:spcAft>
                          <a:spcPts val="0"/>
                        </a:spcAft>
                        <a:buNone/>
                      </a:pPr>
                      <a:r>
                        <a:rPr lang="zh-TW"/>
                        <a:t>40.51%</a:t>
                      </a:r>
                      <a:endParaRPr/>
                    </a:p>
                  </a:txBody>
                  <a:tcPr marL="91425" marR="91425" marT="91425" marB="91425"/>
                </a:tc>
                <a:tc>
                  <a:txBody>
                    <a:bodyPr/>
                    <a:lstStyle/>
                    <a:p>
                      <a:pPr marL="0" lvl="0" indent="0" algn="l" rtl="0">
                        <a:spcBef>
                          <a:spcPts val="0"/>
                        </a:spcBef>
                        <a:spcAft>
                          <a:spcPts val="0"/>
                        </a:spcAft>
                        <a:buNone/>
                      </a:pPr>
                      <a:r>
                        <a:rPr lang="zh-TW"/>
                        <a:t>40.51%</a:t>
                      </a:r>
                      <a:endParaRPr/>
                    </a:p>
                  </a:txBody>
                  <a:tcPr marL="91425" marR="91425" marT="91425" marB="91425"/>
                </a:tc>
                <a:extLst>
                  <a:ext uri="{0D108BD9-81ED-4DB2-BD59-A6C34878D82A}">
                    <a16:rowId xmlns:a16="http://schemas.microsoft.com/office/drawing/2014/main" val="10001"/>
                  </a:ext>
                </a:extLst>
              </a:tr>
              <a:tr h="219075">
                <a:tc>
                  <a:txBody>
                    <a:bodyPr/>
                    <a:lstStyle/>
                    <a:p>
                      <a:pPr marL="0" lvl="0" indent="0" algn="l" rtl="0">
                        <a:spcBef>
                          <a:spcPts val="0"/>
                        </a:spcBef>
                        <a:spcAft>
                          <a:spcPts val="0"/>
                        </a:spcAft>
                        <a:buNone/>
                      </a:pPr>
                      <a:r>
                        <a:rPr lang="zh-TW"/>
                        <a:t>10%</a:t>
                      </a:r>
                      <a:endParaRPr/>
                    </a:p>
                  </a:txBody>
                  <a:tcPr marL="91425" marR="91425" marT="91425" marB="91425"/>
                </a:tc>
                <a:tc>
                  <a:txBody>
                    <a:bodyPr/>
                    <a:lstStyle/>
                    <a:p>
                      <a:pPr marL="0" lvl="0" indent="0" algn="l" rtl="0">
                        <a:spcBef>
                          <a:spcPts val="0"/>
                        </a:spcBef>
                        <a:spcAft>
                          <a:spcPts val="0"/>
                        </a:spcAft>
                        <a:buNone/>
                      </a:pPr>
                      <a:r>
                        <a:rPr lang="zh-TW"/>
                        <a:t>1.80%</a:t>
                      </a:r>
                      <a:endParaRPr/>
                    </a:p>
                  </a:txBody>
                  <a:tcPr marL="91425" marR="91425" marT="91425" marB="91425"/>
                </a:tc>
                <a:tc>
                  <a:txBody>
                    <a:bodyPr/>
                    <a:lstStyle/>
                    <a:p>
                      <a:pPr marL="0" lvl="0" indent="0" algn="l" rtl="0">
                        <a:spcBef>
                          <a:spcPts val="0"/>
                        </a:spcBef>
                        <a:spcAft>
                          <a:spcPts val="0"/>
                        </a:spcAft>
                        <a:buNone/>
                      </a:pPr>
                      <a:r>
                        <a:rPr lang="zh-TW"/>
                        <a:t>2.77</a:t>
                      </a:r>
                      <a:endParaRPr/>
                    </a:p>
                  </a:txBody>
                  <a:tcPr marL="91425" marR="91425" marT="91425" marB="91425"/>
                </a:tc>
                <a:tc>
                  <a:txBody>
                    <a:bodyPr/>
                    <a:lstStyle/>
                    <a:p>
                      <a:pPr marL="0" lvl="0" indent="0" algn="l" rtl="0">
                        <a:spcBef>
                          <a:spcPts val="0"/>
                        </a:spcBef>
                        <a:spcAft>
                          <a:spcPts val="0"/>
                        </a:spcAft>
                        <a:buNone/>
                      </a:pPr>
                      <a:r>
                        <a:rPr lang="zh-TW"/>
                        <a:t>13.85%</a:t>
                      </a:r>
                      <a:endParaRPr/>
                    </a:p>
                  </a:txBody>
                  <a:tcPr marL="91425" marR="91425" marT="91425" marB="91425"/>
                </a:tc>
                <a:tc>
                  <a:txBody>
                    <a:bodyPr/>
                    <a:lstStyle/>
                    <a:p>
                      <a:pPr marL="0" lvl="0" indent="0" algn="l" rtl="0">
                        <a:spcBef>
                          <a:spcPts val="0"/>
                        </a:spcBef>
                        <a:spcAft>
                          <a:spcPts val="0"/>
                        </a:spcAft>
                        <a:buNone/>
                      </a:pPr>
                      <a:r>
                        <a:rPr lang="zh-TW"/>
                        <a:t>54.36%</a:t>
                      </a:r>
                      <a:endParaRPr/>
                    </a:p>
                  </a:txBody>
                  <a:tcPr marL="91425" marR="91425" marT="91425" marB="91425"/>
                </a:tc>
                <a:extLst>
                  <a:ext uri="{0D108BD9-81ED-4DB2-BD59-A6C34878D82A}">
                    <a16:rowId xmlns:a16="http://schemas.microsoft.com/office/drawing/2014/main" val="10002"/>
                  </a:ext>
                </a:extLst>
              </a:tr>
              <a:tr h="219075">
                <a:tc>
                  <a:txBody>
                    <a:bodyPr/>
                    <a:lstStyle/>
                    <a:p>
                      <a:pPr marL="0" lvl="0" indent="0" algn="l" rtl="0">
                        <a:spcBef>
                          <a:spcPts val="0"/>
                        </a:spcBef>
                        <a:spcAft>
                          <a:spcPts val="0"/>
                        </a:spcAft>
                        <a:buNone/>
                      </a:pPr>
                      <a:r>
                        <a:rPr lang="zh-TW"/>
                        <a:t>20%</a:t>
                      </a:r>
                      <a:endParaRPr/>
                    </a:p>
                  </a:txBody>
                  <a:tcPr marL="91425" marR="91425" marT="91425" marB="91425"/>
                </a:tc>
                <a:tc>
                  <a:txBody>
                    <a:bodyPr/>
                    <a:lstStyle/>
                    <a:p>
                      <a:pPr marL="0" lvl="0" indent="0" algn="l" rtl="0">
                        <a:spcBef>
                          <a:spcPts val="0"/>
                        </a:spcBef>
                        <a:spcAft>
                          <a:spcPts val="0"/>
                        </a:spcAft>
                        <a:buNone/>
                      </a:pPr>
                      <a:r>
                        <a:rPr lang="zh-TW"/>
                        <a:t>1.37%</a:t>
                      </a:r>
                      <a:endParaRPr/>
                    </a:p>
                  </a:txBody>
                  <a:tcPr marL="91425" marR="91425" marT="91425" marB="91425"/>
                </a:tc>
                <a:tc>
                  <a:txBody>
                    <a:bodyPr/>
                    <a:lstStyle/>
                    <a:p>
                      <a:pPr marL="0" lvl="0" indent="0" algn="l" rtl="0">
                        <a:spcBef>
                          <a:spcPts val="0"/>
                        </a:spcBef>
                        <a:spcAft>
                          <a:spcPts val="0"/>
                        </a:spcAft>
                        <a:buNone/>
                      </a:pPr>
                      <a:r>
                        <a:rPr lang="zh-TW"/>
                        <a:t>2.1</a:t>
                      </a:r>
                      <a:endParaRPr/>
                    </a:p>
                  </a:txBody>
                  <a:tcPr marL="91425" marR="91425" marT="91425" marB="91425"/>
                </a:tc>
                <a:tc>
                  <a:txBody>
                    <a:bodyPr/>
                    <a:lstStyle/>
                    <a:p>
                      <a:pPr marL="0" lvl="0" indent="0" algn="l" rtl="0">
                        <a:spcBef>
                          <a:spcPts val="0"/>
                        </a:spcBef>
                        <a:spcAft>
                          <a:spcPts val="0"/>
                        </a:spcAft>
                        <a:buNone/>
                      </a:pPr>
                      <a:r>
                        <a:rPr lang="zh-TW"/>
                        <a:t>21.03%</a:t>
                      </a:r>
                      <a:endParaRPr/>
                    </a:p>
                  </a:txBody>
                  <a:tcPr marL="91425" marR="91425" marT="91425" marB="91425"/>
                </a:tc>
                <a:tc>
                  <a:txBody>
                    <a:bodyPr/>
                    <a:lstStyle/>
                    <a:p>
                      <a:pPr marL="0" lvl="0" indent="0" algn="l" rtl="0">
                        <a:spcBef>
                          <a:spcPts val="0"/>
                        </a:spcBef>
                        <a:spcAft>
                          <a:spcPts val="0"/>
                        </a:spcAft>
                        <a:buNone/>
                      </a:pPr>
                      <a:r>
                        <a:rPr lang="zh-TW"/>
                        <a:t>75.38%</a:t>
                      </a:r>
                      <a:endParaRPr/>
                    </a:p>
                  </a:txBody>
                  <a:tcPr marL="91425" marR="91425" marT="91425" marB="91425"/>
                </a:tc>
                <a:extLst>
                  <a:ext uri="{0D108BD9-81ED-4DB2-BD59-A6C34878D82A}">
                    <a16:rowId xmlns:a16="http://schemas.microsoft.com/office/drawing/2014/main" val="10003"/>
                  </a:ext>
                </a:extLst>
              </a:tr>
              <a:tr h="219075">
                <a:tc>
                  <a:txBody>
                    <a:bodyPr/>
                    <a:lstStyle/>
                    <a:p>
                      <a:pPr marL="0" lvl="0" indent="0" algn="l" rtl="0">
                        <a:spcBef>
                          <a:spcPts val="0"/>
                        </a:spcBef>
                        <a:spcAft>
                          <a:spcPts val="0"/>
                        </a:spcAft>
                        <a:buNone/>
                      </a:pPr>
                      <a:r>
                        <a:rPr lang="zh-TW"/>
                        <a:t>30%</a:t>
                      </a:r>
                      <a:endParaRPr/>
                    </a:p>
                  </a:txBody>
                  <a:tcPr marL="91425" marR="91425" marT="91425" marB="91425"/>
                </a:tc>
                <a:tc>
                  <a:txBody>
                    <a:bodyPr/>
                    <a:lstStyle/>
                    <a:p>
                      <a:pPr marL="0" lvl="0" indent="0" algn="l" rtl="0">
                        <a:spcBef>
                          <a:spcPts val="0"/>
                        </a:spcBef>
                        <a:spcAft>
                          <a:spcPts val="0"/>
                        </a:spcAft>
                        <a:buNone/>
                      </a:pPr>
                      <a:r>
                        <a:rPr lang="zh-TW"/>
                        <a:t>0.63%</a:t>
                      </a:r>
                      <a:endParaRPr/>
                    </a:p>
                  </a:txBody>
                  <a:tcPr marL="91425" marR="91425" marT="91425" marB="91425"/>
                </a:tc>
                <a:tc>
                  <a:txBody>
                    <a:bodyPr/>
                    <a:lstStyle/>
                    <a:p>
                      <a:pPr marL="0" lvl="0" indent="0" algn="l" rtl="0">
                        <a:spcBef>
                          <a:spcPts val="0"/>
                        </a:spcBef>
                        <a:spcAft>
                          <a:spcPts val="0"/>
                        </a:spcAft>
                        <a:buNone/>
                      </a:pPr>
                      <a:r>
                        <a:rPr lang="zh-TW"/>
                        <a:t>0.97</a:t>
                      </a:r>
                      <a:endParaRPr/>
                    </a:p>
                  </a:txBody>
                  <a:tcPr marL="91425" marR="91425" marT="91425" marB="91425"/>
                </a:tc>
                <a:tc>
                  <a:txBody>
                    <a:bodyPr/>
                    <a:lstStyle/>
                    <a:p>
                      <a:pPr marL="0" lvl="0" indent="0" algn="l" rtl="0">
                        <a:spcBef>
                          <a:spcPts val="0"/>
                        </a:spcBef>
                        <a:spcAft>
                          <a:spcPts val="0"/>
                        </a:spcAft>
                        <a:buNone/>
                      </a:pPr>
                      <a:r>
                        <a:rPr lang="zh-TW"/>
                        <a:t>9.74%</a:t>
                      </a:r>
                      <a:endParaRPr/>
                    </a:p>
                  </a:txBody>
                  <a:tcPr marL="91425" marR="91425" marT="91425" marB="91425"/>
                </a:tc>
                <a:tc>
                  <a:txBody>
                    <a:bodyPr/>
                    <a:lstStyle/>
                    <a:p>
                      <a:pPr marL="0" lvl="0" indent="0" algn="l" rtl="0">
                        <a:spcBef>
                          <a:spcPts val="0"/>
                        </a:spcBef>
                        <a:spcAft>
                          <a:spcPts val="0"/>
                        </a:spcAft>
                        <a:buNone/>
                      </a:pPr>
                      <a:r>
                        <a:rPr lang="zh-TW"/>
                        <a:t>85.13%</a:t>
                      </a:r>
                      <a:endParaRPr/>
                    </a:p>
                  </a:txBody>
                  <a:tcPr marL="91425" marR="91425" marT="91425" marB="91425"/>
                </a:tc>
                <a:extLst>
                  <a:ext uri="{0D108BD9-81ED-4DB2-BD59-A6C34878D82A}">
                    <a16:rowId xmlns:a16="http://schemas.microsoft.com/office/drawing/2014/main" val="10004"/>
                  </a:ext>
                </a:extLst>
              </a:tr>
              <a:tr h="219075">
                <a:tc>
                  <a:txBody>
                    <a:bodyPr/>
                    <a:lstStyle/>
                    <a:p>
                      <a:pPr marL="0" lvl="0" indent="0" algn="l" rtl="0">
                        <a:spcBef>
                          <a:spcPts val="0"/>
                        </a:spcBef>
                        <a:spcAft>
                          <a:spcPts val="0"/>
                        </a:spcAft>
                        <a:buNone/>
                      </a:pPr>
                      <a:r>
                        <a:rPr lang="zh-TW"/>
                        <a:t>40%</a:t>
                      </a:r>
                      <a:endParaRPr/>
                    </a:p>
                  </a:txBody>
                  <a:tcPr marL="91425" marR="91425" marT="91425" marB="91425"/>
                </a:tc>
                <a:tc>
                  <a:txBody>
                    <a:bodyPr/>
                    <a:lstStyle/>
                    <a:p>
                      <a:pPr marL="0" lvl="0" indent="0" algn="l" rtl="0">
                        <a:spcBef>
                          <a:spcPts val="0"/>
                        </a:spcBef>
                        <a:spcAft>
                          <a:spcPts val="0"/>
                        </a:spcAft>
                        <a:buNone/>
                      </a:pPr>
                      <a:r>
                        <a:rPr lang="zh-TW"/>
                        <a:t>0.47%</a:t>
                      </a:r>
                      <a:endParaRPr/>
                    </a:p>
                  </a:txBody>
                  <a:tcPr marL="91425" marR="91425" marT="91425" marB="91425"/>
                </a:tc>
                <a:tc>
                  <a:txBody>
                    <a:bodyPr/>
                    <a:lstStyle/>
                    <a:p>
                      <a:pPr marL="0" lvl="0" indent="0" algn="l" rtl="0">
                        <a:spcBef>
                          <a:spcPts val="0"/>
                        </a:spcBef>
                        <a:spcAft>
                          <a:spcPts val="0"/>
                        </a:spcAft>
                        <a:buNone/>
                      </a:pPr>
                      <a:r>
                        <a:rPr lang="zh-TW"/>
                        <a:t>0.72</a:t>
                      </a:r>
                      <a:endParaRPr/>
                    </a:p>
                  </a:txBody>
                  <a:tcPr marL="91425" marR="91425" marT="91425" marB="91425"/>
                </a:tc>
                <a:tc>
                  <a:txBody>
                    <a:bodyPr/>
                    <a:lstStyle/>
                    <a:p>
                      <a:pPr marL="0" lvl="0" indent="0" algn="l" rtl="0">
                        <a:spcBef>
                          <a:spcPts val="0"/>
                        </a:spcBef>
                        <a:spcAft>
                          <a:spcPts val="0"/>
                        </a:spcAft>
                        <a:buNone/>
                      </a:pPr>
                      <a:r>
                        <a:rPr lang="zh-TW"/>
                        <a:t>7.18%</a:t>
                      </a:r>
                      <a:endParaRPr/>
                    </a:p>
                  </a:txBody>
                  <a:tcPr marL="91425" marR="91425" marT="91425" marB="91425"/>
                </a:tc>
                <a:tc>
                  <a:txBody>
                    <a:bodyPr/>
                    <a:lstStyle/>
                    <a:p>
                      <a:pPr marL="0" lvl="0" indent="0" algn="l" rtl="0">
                        <a:spcBef>
                          <a:spcPts val="0"/>
                        </a:spcBef>
                        <a:spcAft>
                          <a:spcPts val="0"/>
                        </a:spcAft>
                        <a:buNone/>
                      </a:pPr>
                      <a:r>
                        <a:rPr lang="zh-TW"/>
                        <a:t>92.31%</a:t>
                      </a:r>
                      <a:endParaRPr/>
                    </a:p>
                  </a:txBody>
                  <a:tcPr marL="91425" marR="91425" marT="91425" marB="91425"/>
                </a:tc>
                <a:extLst>
                  <a:ext uri="{0D108BD9-81ED-4DB2-BD59-A6C34878D82A}">
                    <a16:rowId xmlns:a16="http://schemas.microsoft.com/office/drawing/2014/main" val="10005"/>
                  </a:ext>
                </a:extLst>
              </a:tr>
              <a:tr h="219075">
                <a:tc>
                  <a:txBody>
                    <a:bodyPr/>
                    <a:lstStyle/>
                    <a:p>
                      <a:pPr marL="0" lvl="0" indent="0" algn="l" rtl="0">
                        <a:spcBef>
                          <a:spcPts val="0"/>
                        </a:spcBef>
                        <a:spcAft>
                          <a:spcPts val="0"/>
                        </a:spcAft>
                        <a:buNone/>
                      </a:pPr>
                      <a:r>
                        <a:rPr lang="zh-TW"/>
                        <a:t>50%</a:t>
                      </a:r>
                      <a:endParaRPr/>
                    </a:p>
                  </a:txBody>
                  <a:tcPr marL="91425" marR="91425" marT="91425" marB="91425"/>
                </a:tc>
                <a:tc>
                  <a:txBody>
                    <a:bodyPr/>
                    <a:lstStyle/>
                    <a:p>
                      <a:pPr marL="0" lvl="0" indent="0" algn="l" rtl="0">
                        <a:spcBef>
                          <a:spcPts val="0"/>
                        </a:spcBef>
                        <a:spcAft>
                          <a:spcPts val="0"/>
                        </a:spcAft>
                        <a:buNone/>
                      </a:pPr>
                      <a:r>
                        <a:rPr lang="zh-TW"/>
                        <a:t>0.37%</a:t>
                      </a:r>
                      <a:endParaRPr/>
                    </a:p>
                  </a:txBody>
                  <a:tcPr marL="91425" marR="91425" marT="91425" marB="91425"/>
                </a:tc>
                <a:tc>
                  <a:txBody>
                    <a:bodyPr/>
                    <a:lstStyle/>
                    <a:p>
                      <a:pPr marL="0" lvl="0" indent="0" algn="l" rtl="0">
                        <a:spcBef>
                          <a:spcPts val="0"/>
                        </a:spcBef>
                        <a:spcAft>
                          <a:spcPts val="0"/>
                        </a:spcAft>
                        <a:buNone/>
                      </a:pPr>
                      <a:r>
                        <a:rPr lang="zh-TW"/>
                        <a:t>0.56</a:t>
                      </a:r>
                      <a:endParaRPr/>
                    </a:p>
                  </a:txBody>
                  <a:tcPr marL="91425" marR="91425" marT="91425" marB="91425"/>
                </a:tc>
                <a:tc>
                  <a:txBody>
                    <a:bodyPr/>
                    <a:lstStyle/>
                    <a:p>
                      <a:pPr marL="0" lvl="0" indent="0" algn="l" rtl="0">
                        <a:spcBef>
                          <a:spcPts val="0"/>
                        </a:spcBef>
                        <a:spcAft>
                          <a:spcPts val="0"/>
                        </a:spcAft>
                        <a:buNone/>
                      </a:pPr>
                      <a:r>
                        <a:rPr lang="zh-TW"/>
                        <a:t>5.64%</a:t>
                      </a:r>
                      <a:endParaRPr/>
                    </a:p>
                  </a:txBody>
                  <a:tcPr marL="91425" marR="91425" marT="91425" marB="91425"/>
                </a:tc>
                <a:tc>
                  <a:txBody>
                    <a:bodyPr/>
                    <a:lstStyle/>
                    <a:p>
                      <a:pPr marL="0" lvl="0" indent="0" algn="l" rtl="0">
                        <a:spcBef>
                          <a:spcPts val="0"/>
                        </a:spcBef>
                        <a:spcAft>
                          <a:spcPts val="0"/>
                        </a:spcAft>
                        <a:buNone/>
                      </a:pPr>
                      <a:r>
                        <a:rPr lang="zh-TW"/>
                        <a:t>97.95%</a:t>
                      </a:r>
                      <a:endParaRPr/>
                    </a:p>
                  </a:txBody>
                  <a:tcPr marL="91425" marR="91425" marT="91425" marB="91425"/>
                </a:tc>
                <a:extLst>
                  <a:ext uri="{0D108BD9-81ED-4DB2-BD59-A6C34878D82A}">
                    <a16:rowId xmlns:a16="http://schemas.microsoft.com/office/drawing/2014/main" val="10006"/>
                  </a:ext>
                </a:extLst>
              </a:tr>
              <a:tr h="219075">
                <a:tc>
                  <a:txBody>
                    <a:bodyPr/>
                    <a:lstStyle/>
                    <a:p>
                      <a:pPr marL="0" lvl="0" indent="0" algn="l" rtl="0">
                        <a:spcBef>
                          <a:spcPts val="0"/>
                        </a:spcBef>
                        <a:spcAft>
                          <a:spcPts val="0"/>
                        </a:spcAft>
                        <a:buNone/>
                      </a:pPr>
                      <a:r>
                        <a:rPr lang="zh-TW"/>
                        <a:t>60%</a:t>
                      </a:r>
                      <a:endParaRPr/>
                    </a:p>
                  </a:txBody>
                  <a:tcPr marL="91425" marR="91425" marT="91425" marB="91425"/>
                </a:tc>
                <a:tc>
                  <a:txBody>
                    <a:bodyPr/>
                    <a:lstStyle/>
                    <a:p>
                      <a:pPr marL="0" lvl="0" indent="0" algn="l" rtl="0">
                        <a:spcBef>
                          <a:spcPts val="0"/>
                        </a:spcBef>
                        <a:spcAft>
                          <a:spcPts val="0"/>
                        </a:spcAft>
                        <a:buNone/>
                      </a:pPr>
                      <a:r>
                        <a:rPr lang="zh-TW"/>
                        <a:t>0.10%</a:t>
                      </a:r>
                      <a:endParaRPr/>
                    </a:p>
                  </a:txBody>
                  <a:tcPr marL="91425" marR="91425" marT="91425" marB="91425"/>
                </a:tc>
                <a:tc>
                  <a:txBody>
                    <a:bodyPr/>
                    <a:lstStyle/>
                    <a:p>
                      <a:pPr marL="0" lvl="0" indent="0" algn="l" rtl="0">
                        <a:spcBef>
                          <a:spcPts val="0"/>
                        </a:spcBef>
                        <a:spcAft>
                          <a:spcPts val="0"/>
                        </a:spcAft>
                        <a:buNone/>
                      </a:pPr>
                      <a:r>
                        <a:rPr lang="zh-TW"/>
                        <a:t>0.15</a:t>
                      </a:r>
                      <a:endParaRPr/>
                    </a:p>
                  </a:txBody>
                  <a:tcPr marL="91425" marR="91425" marT="91425" marB="91425"/>
                </a:tc>
                <a:tc>
                  <a:txBody>
                    <a:bodyPr/>
                    <a:lstStyle/>
                    <a:p>
                      <a:pPr marL="0" lvl="0" indent="0" algn="l" rtl="0">
                        <a:spcBef>
                          <a:spcPts val="0"/>
                        </a:spcBef>
                        <a:spcAft>
                          <a:spcPts val="0"/>
                        </a:spcAft>
                        <a:buNone/>
                      </a:pPr>
                      <a:r>
                        <a:rPr lang="zh-TW"/>
                        <a:t>1.54%</a:t>
                      </a:r>
                      <a:endParaRPr/>
                    </a:p>
                  </a:txBody>
                  <a:tcPr marL="91425" marR="91425" marT="91425" marB="91425"/>
                </a:tc>
                <a:tc>
                  <a:txBody>
                    <a:bodyPr/>
                    <a:lstStyle/>
                    <a:p>
                      <a:pPr marL="0" lvl="0" indent="0" algn="l" rtl="0">
                        <a:spcBef>
                          <a:spcPts val="0"/>
                        </a:spcBef>
                        <a:spcAft>
                          <a:spcPts val="0"/>
                        </a:spcAft>
                        <a:buNone/>
                      </a:pPr>
                      <a:r>
                        <a:rPr lang="zh-TW"/>
                        <a:t>99.49%</a:t>
                      </a:r>
                      <a:endParaRPr/>
                    </a:p>
                  </a:txBody>
                  <a:tcPr marL="91425" marR="91425" marT="91425" marB="91425"/>
                </a:tc>
                <a:extLst>
                  <a:ext uri="{0D108BD9-81ED-4DB2-BD59-A6C34878D82A}">
                    <a16:rowId xmlns:a16="http://schemas.microsoft.com/office/drawing/2014/main" val="10007"/>
                  </a:ext>
                </a:extLst>
              </a:tr>
              <a:tr h="219075">
                <a:tc>
                  <a:txBody>
                    <a:bodyPr/>
                    <a:lstStyle/>
                    <a:p>
                      <a:pPr marL="0" lvl="0" indent="0" algn="l" rtl="0">
                        <a:spcBef>
                          <a:spcPts val="0"/>
                        </a:spcBef>
                        <a:spcAft>
                          <a:spcPts val="0"/>
                        </a:spcAft>
                        <a:buNone/>
                      </a:pPr>
                      <a:r>
                        <a:rPr lang="zh-TW"/>
                        <a:t>70%</a:t>
                      </a:r>
                      <a:endParaRPr/>
                    </a:p>
                  </a:txBody>
                  <a:tcPr marL="91425" marR="91425" marT="91425" marB="91425"/>
                </a:tc>
                <a:tc>
                  <a:txBody>
                    <a:bodyPr/>
                    <a:lstStyle/>
                    <a:p>
                      <a:pPr marL="0" lvl="0" indent="0" algn="l" rtl="0">
                        <a:spcBef>
                          <a:spcPts val="0"/>
                        </a:spcBef>
                        <a:spcAft>
                          <a:spcPts val="0"/>
                        </a:spcAft>
                        <a:buNone/>
                      </a:pPr>
                      <a:r>
                        <a:rPr lang="zh-TW"/>
                        <a:t>0.03%</a:t>
                      </a:r>
                      <a:endParaRPr/>
                    </a:p>
                  </a:txBody>
                  <a:tcPr marL="91425" marR="91425" marT="91425" marB="91425"/>
                </a:tc>
                <a:tc>
                  <a:txBody>
                    <a:bodyPr/>
                    <a:lstStyle/>
                    <a:p>
                      <a:pPr marL="0" lvl="0" indent="0" algn="l" rtl="0">
                        <a:spcBef>
                          <a:spcPts val="0"/>
                        </a:spcBef>
                        <a:spcAft>
                          <a:spcPts val="0"/>
                        </a:spcAft>
                        <a:buNone/>
                      </a:pPr>
                      <a:r>
                        <a:rPr lang="zh-TW"/>
                        <a:t>0.05</a:t>
                      </a:r>
                      <a:endParaRPr/>
                    </a:p>
                  </a:txBody>
                  <a:tcPr marL="91425" marR="91425" marT="91425" marB="91425"/>
                </a:tc>
                <a:tc>
                  <a:txBody>
                    <a:bodyPr/>
                    <a:lstStyle/>
                    <a:p>
                      <a:pPr marL="0" lvl="0" indent="0" algn="l" rtl="0">
                        <a:spcBef>
                          <a:spcPts val="0"/>
                        </a:spcBef>
                        <a:spcAft>
                          <a:spcPts val="0"/>
                        </a:spcAft>
                        <a:buNone/>
                      </a:pPr>
                      <a:r>
                        <a:rPr lang="zh-TW"/>
                        <a:t>0.51%</a:t>
                      </a:r>
                      <a:endParaRPr/>
                    </a:p>
                  </a:txBody>
                  <a:tcPr marL="91425" marR="91425" marT="91425" marB="91425"/>
                </a:tc>
                <a:tc>
                  <a:txBody>
                    <a:bodyPr/>
                    <a:lstStyle/>
                    <a:p>
                      <a:pPr marL="0" lvl="0" indent="0" algn="l" rtl="0">
                        <a:spcBef>
                          <a:spcPts val="0"/>
                        </a:spcBef>
                        <a:spcAft>
                          <a:spcPts val="0"/>
                        </a:spcAft>
                        <a:buNone/>
                      </a:pPr>
                      <a:r>
                        <a:rPr lang="zh-TW"/>
                        <a:t>100.00%</a:t>
                      </a:r>
                      <a:endParaRPr/>
                    </a:p>
                  </a:txBody>
                  <a:tcPr marL="91425" marR="91425" marT="91425" marB="91425"/>
                </a:tc>
                <a:extLst>
                  <a:ext uri="{0D108BD9-81ED-4DB2-BD59-A6C34878D82A}">
                    <a16:rowId xmlns:a16="http://schemas.microsoft.com/office/drawing/2014/main" val="10008"/>
                  </a:ext>
                </a:extLst>
              </a:tr>
              <a:tr h="219075">
                <a:tc>
                  <a:txBody>
                    <a:bodyPr/>
                    <a:lstStyle/>
                    <a:p>
                      <a:pPr marL="0" lvl="0" indent="0" algn="l" rtl="0">
                        <a:spcBef>
                          <a:spcPts val="0"/>
                        </a:spcBef>
                        <a:spcAft>
                          <a:spcPts val="0"/>
                        </a:spcAft>
                        <a:buNone/>
                      </a:pPr>
                      <a:r>
                        <a:rPr lang="zh-TW"/>
                        <a:t>80%</a:t>
                      </a:r>
                      <a:endParaRPr/>
                    </a:p>
                  </a:txBody>
                  <a:tcPr marL="91425" marR="91425" marT="91425" marB="91425"/>
                </a:tc>
                <a:tc>
                  <a:txBody>
                    <a:bodyPr/>
                    <a:lstStyle/>
                    <a:p>
                      <a:pPr marL="0" lvl="0" indent="0" algn="l" rtl="0">
                        <a:spcBef>
                          <a:spcPts val="0"/>
                        </a:spcBef>
                        <a:spcAft>
                          <a:spcPts val="0"/>
                        </a:spcAft>
                        <a:buNone/>
                      </a:pPr>
                      <a:r>
                        <a:rPr lang="zh-TW"/>
                        <a:t>0.00%</a:t>
                      </a:r>
                      <a:endParaRPr/>
                    </a:p>
                  </a:txBody>
                  <a:tcPr marL="91425" marR="91425" marT="91425" marB="91425"/>
                </a:tc>
                <a:tc>
                  <a:txBody>
                    <a:bodyPr/>
                    <a:lstStyle/>
                    <a:p>
                      <a:pPr marL="0" lvl="0" indent="0" algn="l" rtl="0">
                        <a:spcBef>
                          <a:spcPts val="0"/>
                        </a:spcBef>
                        <a:spcAft>
                          <a:spcPts val="0"/>
                        </a:spcAft>
                        <a:buNone/>
                      </a:pPr>
                      <a:r>
                        <a:rPr lang="zh-TW"/>
                        <a:t>0</a:t>
                      </a:r>
                      <a:endParaRPr/>
                    </a:p>
                  </a:txBody>
                  <a:tcPr marL="91425" marR="91425" marT="91425" marB="91425"/>
                </a:tc>
                <a:tc>
                  <a:txBody>
                    <a:bodyPr/>
                    <a:lstStyle/>
                    <a:p>
                      <a:pPr marL="0" lvl="0" indent="0" algn="l" rtl="0">
                        <a:spcBef>
                          <a:spcPts val="0"/>
                        </a:spcBef>
                        <a:spcAft>
                          <a:spcPts val="0"/>
                        </a:spcAft>
                        <a:buNone/>
                      </a:pPr>
                      <a:r>
                        <a:rPr lang="zh-TW"/>
                        <a:t>0.00%</a:t>
                      </a:r>
                      <a:endParaRPr/>
                    </a:p>
                  </a:txBody>
                  <a:tcPr marL="91425" marR="91425" marT="91425" marB="91425"/>
                </a:tc>
                <a:tc>
                  <a:txBody>
                    <a:bodyPr/>
                    <a:lstStyle/>
                    <a:p>
                      <a:pPr marL="0" lvl="0" indent="0" algn="l" rtl="0">
                        <a:spcBef>
                          <a:spcPts val="0"/>
                        </a:spcBef>
                        <a:spcAft>
                          <a:spcPts val="0"/>
                        </a:spcAft>
                        <a:buNone/>
                      </a:pPr>
                      <a:r>
                        <a:rPr lang="zh-TW"/>
                        <a:t>100.00%</a:t>
                      </a:r>
                      <a:endParaRPr/>
                    </a:p>
                  </a:txBody>
                  <a:tcPr marL="91425" marR="91425" marT="91425" marB="91425"/>
                </a:tc>
                <a:extLst>
                  <a:ext uri="{0D108BD9-81ED-4DB2-BD59-A6C34878D82A}">
                    <a16:rowId xmlns:a16="http://schemas.microsoft.com/office/drawing/2014/main" val="10009"/>
                  </a:ext>
                </a:extLst>
              </a:tr>
              <a:tr h="219075">
                <a:tc>
                  <a:txBody>
                    <a:bodyPr/>
                    <a:lstStyle/>
                    <a:p>
                      <a:pPr marL="0" lvl="0" indent="0" algn="l" rtl="0">
                        <a:spcBef>
                          <a:spcPts val="0"/>
                        </a:spcBef>
                        <a:spcAft>
                          <a:spcPts val="0"/>
                        </a:spcAft>
                        <a:buNone/>
                      </a:pPr>
                      <a:r>
                        <a:rPr lang="zh-TW"/>
                        <a:t>90%</a:t>
                      </a:r>
                      <a:endParaRPr/>
                    </a:p>
                  </a:txBody>
                  <a:tcPr marL="91425" marR="91425" marT="91425" marB="91425"/>
                </a:tc>
                <a:tc>
                  <a:txBody>
                    <a:bodyPr/>
                    <a:lstStyle/>
                    <a:p>
                      <a:pPr marL="0" lvl="0" indent="0" algn="l" rtl="0">
                        <a:spcBef>
                          <a:spcPts val="0"/>
                        </a:spcBef>
                        <a:spcAft>
                          <a:spcPts val="0"/>
                        </a:spcAft>
                        <a:buNone/>
                      </a:pPr>
                      <a:r>
                        <a:rPr lang="zh-TW"/>
                        <a:t>0.00%</a:t>
                      </a:r>
                      <a:endParaRPr/>
                    </a:p>
                  </a:txBody>
                  <a:tcPr marL="91425" marR="91425" marT="91425" marB="91425"/>
                </a:tc>
                <a:tc>
                  <a:txBody>
                    <a:bodyPr/>
                    <a:lstStyle/>
                    <a:p>
                      <a:pPr marL="0" lvl="0" indent="0" algn="l" rtl="0">
                        <a:spcBef>
                          <a:spcPts val="0"/>
                        </a:spcBef>
                        <a:spcAft>
                          <a:spcPts val="0"/>
                        </a:spcAft>
                        <a:buNone/>
                      </a:pPr>
                      <a:r>
                        <a:rPr lang="zh-TW"/>
                        <a:t>0</a:t>
                      </a:r>
                      <a:endParaRPr/>
                    </a:p>
                  </a:txBody>
                  <a:tcPr marL="91425" marR="91425" marT="91425" marB="91425"/>
                </a:tc>
                <a:tc>
                  <a:txBody>
                    <a:bodyPr/>
                    <a:lstStyle/>
                    <a:p>
                      <a:pPr marL="0" lvl="0" indent="0" algn="l" rtl="0">
                        <a:spcBef>
                          <a:spcPts val="0"/>
                        </a:spcBef>
                        <a:spcAft>
                          <a:spcPts val="0"/>
                        </a:spcAft>
                        <a:buNone/>
                      </a:pPr>
                      <a:r>
                        <a:rPr lang="zh-TW"/>
                        <a:t>0.00%</a:t>
                      </a:r>
                      <a:endParaRPr/>
                    </a:p>
                  </a:txBody>
                  <a:tcPr marL="91425" marR="91425" marT="91425" marB="91425"/>
                </a:tc>
                <a:tc>
                  <a:txBody>
                    <a:bodyPr/>
                    <a:lstStyle/>
                    <a:p>
                      <a:pPr marL="0" lvl="0" indent="0" algn="l" rtl="0">
                        <a:spcBef>
                          <a:spcPts val="0"/>
                        </a:spcBef>
                        <a:spcAft>
                          <a:spcPts val="0"/>
                        </a:spcAft>
                        <a:buNone/>
                      </a:pPr>
                      <a:r>
                        <a:rPr lang="zh-TW"/>
                        <a:t>100.00%</a:t>
                      </a:r>
                      <a:endParaRPr/>
                    </a:p>
                  </a:txBody>
                  <a:tcPr marL="91425" marR="91425" marT="91425" marB="91425"/>
                </a:tc>
                <a:extLst>
                  <a:ext uri="{0D108BD9-81ED-4DB2-BD59-A6C34878D82A}">
                    <a16:rowId xmlns:a16="http://schemas.microsoft.com/office/drawing/2014/main" val="10010"/>
                  </a:ext>
                </a:extLst>
              </a:tr>
              <a:tr h="219075">
                <a:tc>
                  <a:txBody>
                    <a:bodyPr/>
                    <a:lstStyle/>
                    <a:p>
                      <a:pPr marL="0" lvl="0" indent="0" algn="l" rtl="0">
                        <a:spcBef>
                          <a:spcPts val="0"/>
                        </a:spcBef>
                        <a:spcAft>
                          <a:spcPts val="0"/>
                        </a:spcAft>
                        <a:buNone/>
                      </a:pPr>
                      <a:r>
                        <a:rPr lang="zh-TW"/>
                        <a:t>100%</a:t>
                      </a:r>
                      <a:endParaRPr/>
                    </a:p>
                  </a:txBody>
                  <a:tcPr marL="91425" marR="91425" marT="91425" marB="91425"/>
                </a:tc>
                <a:tc>
                  <a:txBody>
                    <a:bodyPr/>
                    <a:lstStyle/>
                    <a:p>
                      <a:pPr marL="0" lvl="0" indent="0" algn="l" rtl="0">
                        <a:spcBef>
                          <a:spcPts val="0"/>
                        </a:spcBef>
                        <a:spcAft>
                          <a:spcPts val="0"/>
                        </a:spcAft>
                        <a:buNone/>
                      </a:pPr>
                      <a:r>
                        <a:rPr lang="zh-TW"/>
                        <a:t>0.00%</a:t>
                      </a:r>
                      <a:endParaRPr/>
                    </a:p>
                  </a:txBody>
                  <a:tcPr marL="91425" marR="91425" marT="91425" marB="91425"/>
                </a:tc>
                <a:tc>
                  <a:txBody>
                    <a:bodyPr/>
                    <a:lstStyle/>
                    <a:p>
                      <a:pPr marL="0" lvl="0" indent="0" algn="l" rtl="0">
                        <a:spcBef>
                          <a:spcPts val="0"/>
                        </a:spcBef>
                        <a:spcAft>
                          <a:spcPts val="0"/>
                        </a:spcAft>
                        <a:buNone/>
                      </a:pPr>
                      <a:r>
                        <a:rPr lang="zh-TW"/>
                        <a:t>0</a:t>
                      </a:r>
                      <a:endParaRPr/>
                    </a:p>
                  </a:txBody>
                  <a:tcPr marL="91425" marR="91425" marT="91425" marB="91425"/>
                </a:tc>
                <a:tc>
                  <a:txBody>
                    <a:bodyPr/>
                    <a:lstStyle/>
                    <a:p>
                      <a:pPr marL="0" lvl="0" indent="0" algn="l" rtl="0">
                        <a:spcBef>
                          <a:spcPts val="0"/>
                        </a:spcBef>
                        <a:spcAft>
                          <a:spcPts val="0"/>
                        </a:spcAft>
                        <a:buNone/>
                      </a:pPr>
                      <a:r>
                        <a:rPr lang="zh-TW"/>
                        <a:t>0.00%</a:t>
                      </a:r>
                      <a:endParaRPr/>
                    </a:p>
                  </a:txBody>
                  <a:tcPr marL="91425" marR="91425" marT="91425" marB="91425"/>
                </a:tc>
                <a:tc>
                  <a:txBody>
                    <a:bodyPr/>
                    <a:lstStyle/>
                    <a:p>
                      <a:pPr marL="0" lvl="0" indent="0" algn="l" rtl="0">
                        <a:spcBef>
                          <a:spcPts val="0"/>
                        </a:spcBef>
                        <a:spcAft>
                          <a:spcPts val="0"/>
                        </a:spcAft>
                        <a:buNone/>
                      </a:pPr>
                      <a:r>
                        <a:rPr lang="zh-TW" dirty="0"/>
                        <a:t>100.00%</a:t>
                      </a:r>
                      <a:endParaRPr dirty="0"/>
                    </a:p>
                  </a:txBody>
                  <a:tcPr marL="91425" marR="91425" marT="91425" marB="91425"/>
                </a:tc>
                <a:extLst>
                  <a:ext uri="{0D108BD9-81ED-4DB2-BD59-A6C34878D82A}">
                    <a16:rowId xmlns:a16="http://schemas.microsoft.com/office/drawing/2014/main" val="10011"/>
                  </a:ext>
                </a:extLst>
              </a:tr>
            </a:tbl>
          </a:graphicData>
        </a:graphic>
      </p:graphicFrame>
      <p:graphicFrame>
        <p:nvGraphicFramePr>
          <p:cNvPr id="12" name="Google Shape;218;gdbcf297a5f_0_0"/>
          <p:cNvGraphicFramePr/>
          <p:nvPr>
            <p:extLst>
              <p:ext uri="{D42A27DB-BD31-4B8C-83A1-F6EECF244321}">
                <p14:modId xmlns:p14="http://schemas.microsoft.com/office/powerpoint/2010/main" val="870778202"/>
              </p:ext>
            </p:extLst>
          </p:nvPr>
        </p:nvGraphicFramePr>
        <p:xfrm>
          <a:off x="298393" y="6487160"/>
          <a:ext cx="11096375" cy="371930"/>
        </p:xfrm>
        <a:graphic>
          <a:graphicData uri="http://schemas.openxmlformats.org/drawingml/2006/table">
            <a:tbl>
              <a:tblPr firstRow="1" bandRow="1">
                <a:noFill/>
                <a:tableStyleId>{72FCF9FF-86DD-4F90-83C7-D16C962093AE}</a:tableStyleId>
              </a:tblPr>
              <a:tblGrid>
                <a:gridCol w="11096375">
                  <a:extLst>
                    <a:ext uri="{9D8B030D-6E8A-4147-A177-3AD203B41FA5}">
                      <a16:colId xmlns:a16="http://schemas.microsoft.com/office/drawing/2014/main" val="20000"/>
                    </a:ext>
                  </a:extLst>
                </a:gridCol>
              </a:tblGrid>
              <a:tr h="370850">
                <a:tc>
                  <a:txBody>
                    <a:bodyPr/>
                    <a:lstStyle/>
                    <a:p>
                      <a:pPr marL="0" marR="0" lvl="0" indent="0" algn="ctr" rtl="0">
                        <a:lnSpc>
                          <a:spcPct val="150000"/>
                        </a:lnSpc>
                        <a:spcBef>
                          <a:spcPts val="0"/>
                        </a:spcBef>
                        <a:spcAft>
                          <a:spcPts val="0"/>
                        </a:spcAft>
                        <a:buClr>
                          <a:srgbClr val="BFBFBF"/>
                        </a:buClr>
                        <a:buSzPts val="700"/>
                        <a:buFont typeface="Malgun Gothic"/>
                        <a:buNone/>
                      </a:pPr>
                      <a:r>
                        <a:rPr lang="en-US" sz="1400" b="0" i="0" u="none" strike="noStrike" cap="none" dirty="0">
                          <a:solidFill>
                            <a:schemeClr val="bg1"/>
                          </a:solidFill>
                          <a:latin typeface="Cambria Math" panose="02040503050406030204" pitchFamily="18" charset="0"/>
                          <a:ea typeface="Cambria Math" panose="02040503050406030204" pitchFamily="18" charset="0"/>
                          <a:cs typeface="Malgun Gothic"/>
                          <a:sym typeface="Malgun Gothic"/>
                        </a:rPr>
                        <a:t>1</a:t>
                      </a:r>
                      <a:r>
                        <a:rPr lang="en-US" altLang="zh-TW" sz="1400" b="0" i="0" u="none" strike="noStrike" cap="none" dirty="0">
                          <a:solidFill>
                            <a:schemeClr val="bg1"/>
                          </a:solidFill>
                          <a:latin typeface="Cambria Math" panose="02040503050406030204" pitchFamily="18" charset="0"/>
                          <a:ea typeface="Cambria Math" panose="02040503050406030204" pitchFamily="18" charset="0"/>
                          <a:cs typeface="Malgun Gothic"/>
                          <a:sym typeface="Malgun Gothic"/>
                        </a:rPr>
                        <a:t>4</a:t>
                      </a:r>
                      <a:endParaRPr sz="1400" b="0" i="0" u="none" strike="noStrike" cap="none" dirty="0">
                        <a:solidFill>
                          <a:schemeClr val="bg1"/>
                        </a:solidFill>
                        <a:latin typeface="Cambria Math" panose="02040503050406030204" pitchFamily="18" charset="0"/>
                        <a:ea typeface="Cambria Math" panose="02040503050406030204" pitchFamily="18" charset="0"/>
                        <a:cs typeface="Malgun Gothic"/>
                        <a:sym typeface="Malgun Gothic"/>
                      </a:endParaRPr>
                    </a:p>
                  </a:txBody>
                  <a:tcPr marL="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25"/>
          <p:cNvSpPr/>
          <p:nvPr/>
        </p:nvSpPr>
        <p:spPr>
          <a:xfrm>
            <a:off x="1848142" y="329912"/>
            <a:ext cx="3194100" cy="387300"/>
          </a:xfrm>
          <a:prstGeom prst="parallelogram">
            <a:avLst>
              <a:gd name="adj" fmla="val 69898"/>
            </a:avLst>
          </a:prstGeom>
          <a:solidFill>
            <a:srgbClr val="21BFCA"/>
          </a:solidFill>
          <a:ln w="161925" cap="sq" cmpd="sng">
            <a:solidFill>
              <a:srgbClr val="1E868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255" name="Google Shape;255;p25"/>
          <p:cNvSpPr/>
          <p:nvPr/>
        </p:nvSpPr>
        <p:spPr>
          <a:xfrm>
            <a:off x="1833992" y="329256"/>
            <a:ext cx="3194100" cy="387300"/>
          </a:xfrm>
          <a:prstGeom prst="parallelogram">
            <a:avLst>
              <a:gd name="adj" fmla="val 69898"/>
            </a:avLst>
          </a:prstGeom>
          <a:solidFill>
            <a:srgbClr val="21BFCA"/>
          </a:solidFill>
          <a:ln w="161925" cap="sq" cmpd="sng">
            <a:solidFill>
              <a:srgbClr val="21BFC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256" name="Google Shape;256;p25"/>
          <p:cNvSpPr/>
          <p:nvPr/>
        </p:nvSpPr>
        <p:spPr>
          <a:xfrm>
            <a:off x="4581237" y="329912"/>
            <a:ext cx="7524900" cy="387300"/>
          </a:xfrm>
          <a:prstGeom prst="parallelogram">
            <a:avLst>
              <a:gd name="adj" fmla="val 0"/>
            </a:avLst>
          </a:prstGeom>
          <a:solidFill>
            <a:srgbClr val="21BFCA"/>
          </a:solidFill>
          <a:ln w="161925" cap="sq" cmpd="sng">
            <a:solidFill>
              <a:srgbClr val="21BFC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257" name="Google Shape;257;p25"/>
          <p:cNvSpPr/>
          <p:nvPr/>
        </p:nvSpPr>
        <p:spPr>
          <a:xfrm>
            <a:off x="2066647" y="271786"/>
            <a:ext cx="6678600" cy="523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zh-TW" sz="2800" b="0" i="0" u="none" strike="noStrike" cap="none" dirty="0">
                <a:solidFill>
                  <a:srgbClr val="FFFFFF"/>
                </a:solidFill>
                <a:latin typeface="Microsoft JhengHei"/>
                <a:ea typeface="Microsoft JhengHei"/>
                <a:cs typeface="Microsoft JhengHei"/>
                <a:sym typeface="Microsoft JhengHei"/>
              </a:rPr>
              <a:t>Tree Model</a:t>
            </a:r>
            <a:r>
              <a:rPr lang="zh-TW" altLang="en-US" sz="2800" b="0" i="0" u="none" strike="noStrike" cap="none" dirty="0">
                <a:solidFill>
                  <a:srgbClr val="FFFFFF"/>
                </a:solidFill>
                <a:latin typeface="Microsoft JhengHei"/>
                <a:ea typeface="Microsoft JhengHei"/>
                <a:cs typeface="Microsoft JhengHei"/>
                <a:sym typeface="Microsoft JhengHei"/>
              </a:rPr>
              <a:t> </a:t>
            </a:r>
            <a:r>
              <a:rPr lang="en-US" altLang="zh-TW" sz="2800" b="0" i="0" u="none" strike="noStrike" cap="none" dirty="0">
                <a:solidFill>
                  <a:srgbClr val="FFFFFF"/>
                </a:solidFill>
                <a:latin typeface="Microsoft JhengHei"/>
                <a:ea typeface="Microsoft JhengHei"/>
                <a:cs typeface="Microsoft JhengHei"/>
                <a:sym typeface="Microsoft JhengHei"/>
              </a:rPr>
              <a:t>2</a:t>
            </a:r>
            <a:endParaRPr sz="2800" b="0" i="0" u="none" strike="noStrike" cap="none" dirty="0">
              <a:solidFill>
                <a:srgbClr val="FFFFFF"/>
              </a:solidFill>
              <a:latin typeface="Microsoft JhengHei"/>
              <a:ea typeface="Microsoft JhengHei"/>
              <a:cs typeface="Microsoft JhengHei"/>
              <a:sym typeface="Microsoft JhengHei"/>
            </a:endParaRPr>
          </a:p>
        </p:txBody>
      </p:sp>
      <p:graphicFrame>
        <p:nvGraphicFramePr>
          <p:cNvPr id="258" name="Google Shape;258;p25"/>
          <p:cNvGraphicFramePr/>
          <p:nvPr/>
        </p:nvGraphicFramePr>
        <p:xfrm>
          <a:off x="298393" y="6487160"/>
          <a:ext cx="11096375" cy="370850"/>
        </p:xfrm>
        <a:graphic>
          <a:graphicData uri="http://schemas.openxmlformats.org/drawingml/2006/table">
            <a:tbl>
              <a:tblPr firstRow="1" bandRow="1">
                <a:noFill/>
                <a:tableStyleId>{72FCF9FF-86DD-4F90-83C7-D16C962093AE}</a:tableStyleId>
              </a:tblPr>
              <a:tblGrid>
                <a:gridCol w="11096375">
                  <a:extLst>
                    <a:ext uri="{9D8B030D-6E8A-4147-A177-3AD203B41FA5}">
                      <a16:colId xmlns:a16="http://schemas.microsoft.com/office/drawing/2014/main" val="20000"/>
                    </a:ext>
                  </a:extLst>
                </a:gridCol>
              </a:tblGrid>
              <a:tr h="370850">
                <a:tc>
                  <a:txBody>
                    <a:bodyPr/>
                    <a:lstStyle/>
                    <a:p>
                      <a:pPr marL="0" marR="0" lvl="0" indent="0" algn="ctr" rtl="0">
                        <a:lnSpc>
                          <a:spcPct val="150000"/>
                        </a:lnSpc>
                        <a:spcBef>
                          <a:spcPts val="0"/>
                        </a:spcBef>
                        <a:spcAft>
                          <a:spcPts val="0"/>
                        </a:spcAft>
                        <a:buClr>
                          <a:srgbClr val="BFBFBF"/>
                        </a:buClr>
                        <a:buSzPts val="700"/>
                        <a:buFont typeface="Malgun Gothic"/>
                        <a:buNone/>
                      </a:pPr>
                      <a:r>
                        <a:rPr lang="zh-TW" sz="700" b="0" i="0" u="none" strike="noStrike" cap="none" dirty="0">
                          <a:solidFill>
                            <a:srgbClr val="BFBFBF"/>
                          </a:solidFill>
                          <a:latin typeface="Malgun Gothic"/>
                          <a:ea typeface="Malgun Gothic"/>
                          <a:cs typeface="Malgun Gothic"/>
                          <a:sym typeface="Malgun Gothic"/>
                        </a:rPr>
                        <a:t>Enjoy your stylish business and campus life with BIZCAM</a:t>
                      </a:r>
                      <a:endParaRPr sz="4800" b="0" i="0" u="none" strike="noStrike" cap="none" dirty="0">
                        <a:solidFill>
                          <a:srgbClr val="BFBFBF"/>
                        </a:solidFill>
                        <a:latin typeface="Malgun Gothic"/>
                        <a:ea typeface="Malgun Gothic"/>
                        <a:cs typeface="Malgun Gothic"/>
                        <a:sym typeface="Malgun Gothic"/>
                      </a:endParaRPr>
                    </a:p>
                  </a:txBody>
                  <a:tcPr marL="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cxnSp>
        <p:nvCxnSpPr>
          <p:cNvPr id="260" name="Google Shape;260;p25"/>
          <p:cNvCxnSpPr/>
          <p:nvPr/>
        </p:nvCxnSpPr>
        <p:spPr>
          <a:xfrm>
            <a:off x="157389" y="1274020"/>
            <a:ext cx="1224000" cy="0"/>
          </a:xfrm>
          <a:prstGeom prst="straightConnector1">
            <a:avLst/>
          </a:prstGeom>
          <a:noFill/>
          <a:ln w="15875" cap="rnd" cmpd="sng">
            <a:solidFill>
              <a:srgbClr val="21BFCA"/>
            </a:solidFill>
            <a:prstDash val="solid"/>
            <a:round/>
            <a:headEnd type="none" w="sm" len="sm"/>
            <a:tailEnd type="none" w="sm" len="sm"/>
          </a:ln>
        </p:spPr>
      </p:cxnSp>
      <p:sp>
        <p:nvSpPr>
          <p:cNvPr id="261" name="Google Shape;261;p25"/>
          <p:cNvSpPr/>
          <p:nvPr/>
        </p:nvSpPr>
        <p:spPr>
          <a:xfrm>
            <a:off x="158593" y="812355"/>
            <a:ext cx="540600" cy="461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zh-TW" sz="2400" b="1" i="1" u="none" strike="noStrike" cap="none" dirty="0">
                <a:solidFill>
                  <a:srgbClr val="21BFCA"/>
                </a:solidFill>
                <a:latin typeface="Malgun Gothic"/>
                <a:ea typeface="Malgun Gothic"/>
                <a:cs typeface="Malgun Gothic"/>
                <a:sym typeface="Malgun Gothic"/>
              </a:rPr>
              <a:t>0</a:t>
            </a:r>
            <a:r>
              <a:rPr lang="en-US" altLang="zh-TW" sz="2400" b="1" i="1" dirty="0">
                <a:solidFill>
                  <a:srgbClr val="21BFCA"/>
                </a:solidFill>
                <a:latin typeface="Malgun Gothic"/>
                <a:ea typeface="Malgun Gothic"/>
                <a:cs typeface="Malgun Gothic"/>
                <a:sym typeface="Malgun Gothic"/>
              </a:rPr>
              <a:t>3</a:t>
            </a:r>
            <a:endParaRPr sz="2400" b="0" i="0" u="none" strike="noStrike" cap="none" dirty="0">
              <a:solidFill>
                <a:srgbClr val="21BFCA"/>
              </a:solidFill>
              <a:latin typeface="Malgun Gothic"/>
              <a:ea typeface="Malgun Gothic"/>
              <a:cs typeface="Malgun Gothic"/>
              <a:sym typeface="Malgun Gothic"/>
            </a:endParaRPr>
          </a:p>
        </p:txBody>
      </p:sp>
      <p:sp>
        <p:nvSpPr>
          <p:cNvPr id="262" name="Google Shape;262;p25"/>
          <p:cNvSpPr/>
          <p:nvPr/>
        </p:nvSpPr>
        <p:spPr>
          <a:xfrm>
            <a:off x="1944773" y="1377633"/>
            <a:ext cx="14062132" cy="503878"/>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63" name="Google Shape;263;p25"/>
          <p:cNvSpPr txBox="1"/>
          <p:nvPr/>
        </p:nvSpPr>
        <p:spPr>
          <a:xfrm>
            <a:off x="1381389" y="1274020"/>
            <a:ext cx="3521351" cy="14003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600"/>
              </a:spcAft>
              <a:buNone/>
            </a:pPr>
            <a:r>
              <a:rPr lang="zh-TW" sz="2400" b="1" i="0" u="none" strike="noStrike" cap="none" dirty="0">
                <a:solidFill>
                  <a:srgbClr val="1E4E79"/>
                </a:solidFill>
                <a:latin typeface="Microsoft JhengHei"/>
                <a:ea typeface="Microsoft JhengHei"/>
                <a:cs typeface="Microsoft JhengHei"/>
                <a:sym typeface="Microsoft JhengHei"/>
              </a:rPr>
              <a:t>Test 結果</a:t>
            </a:r>
            <a:endParaRPr lang="en-US" altLang="zh-TW" sz="2400" b="1" i="0" u="none" strike="noStrike" cap="none" dirty="0">
              <a:solidFill>
                <a:srgbClr val="1E4E79"/>
              </a:solidFill>
              <a:latin typeface="Microsoft JhengHei"/>
              <a:ea typeface="Microsoft JhengHei"/>
              <a:cs typeface="Microsoft JhengHei"/>
              <a:sym typeface="Microsoft JhengHei"/>
            </a:endParaRPr>
          </a:p>
          <a:p>
            <a:r>
              <a:rPr lang="zh-TW" altLang="en-US" sz="1800" dirty="0">
                <a:solidFill>
                  <a:schemeClr val="tx1"/>
                </a:solidFill>
                <a:latin typeface="Microsoft JhengHei"/>
                <a:ea typeface="Microsoft JhengHei"/>
                <a:cs typeface="Microsoft JhengHei"/>
                <a:sym typeface="Microsoft JhengHei"/>
              </a:rPr>
              <a:t>測試資料前</a:t>
            </a:r>
            <a:r>
              <a:rPr lang="en-US" altLang="zh-TW" sz="1800" dirty="0">
                <a:solidFill>
                  <a:schemeClr val="tx1"/>
                </a:solidFill>
                <a:latin typeface="Microsoft JhengHei"/>
                <a:ea typeface="Microsoft JhengHei"/>
                <a:cs typeface="Microsoft JhengHei"/>
                <a:sym typeface="Microsoft JhengHei"/>
              </a:rPr>
              <a:t>5%</a:t>
            </a:r>
            <a:r>
              <a:rPr lang="zh-TW" altLang="en-US" sz="1800" dirty="0">
                <a:solidFill>
                  <a:schemeClr val="tx1"/>
                </a:solidFill>
                <a:latin typeface="Microsoft JhengHei"/>
                <a:ea typeface="Microsoft JhengHei"/>
                <a:cs typeface="Microsoft JhengHei"/>
                <a:sym typeface="Microsoft JhengHei"/>
              </a:rPr>
              <a:t>捕捉率</a:t>
            </a:r>
            <a:r>
              <a:rPr lang="en-US" altLang="zh-TW" sz="1800" dirty="0">
                <a:solidFill>
                  <a:schemeClr val="tx1"/>
                </a:solidFill>
                <a:latin typeface="Microsoft JhengHei"/>
                <a:ea typeface="Microsoft JhengHei"/>
                <a:cs typeface="Microsoft JhengHei"/>
                <a:sym typeface="Microsoft JhengHei"/>
              </a:rPr>
              <a:t>32.73%</a:t>
            </a:r>
          </a:p>
          <a:p>
            <a:r>
              <a:rPr lang="zh-TW" altLang="en-US" sz="1800" dirty="0">
                <a:solidFill>
                  <a:schemeClr val="tx1"/>
                </a:solidFill>
                <a:latin typeface="Microsoft JhengHei"/>
                <a:ea typeface="Microsoft JhengHei"/>
                <a:cs typeface="Microsoft JhengHei"/>
                <a:sym typeface="Microsoft JhengHei"/>
              </a:rPr>
              <a:t>增加</a:t>
            </a:r>
            <a:r>
              <a:rPr lang="en-US" altLang="zh-TW" sz="1800" dirty="0">
                <a:solidFill>
                  <a:schemeClr val="tx1"/>
                </a:solidFill>
                <a:latin typeface="Microsoft JhengHei"/>
                <a:ea typeface="Microsoft JhengHei"/>
                <a:cs typeface="Microsoft JhengHei"/>
                <a:sym typeface="Microsoft JhengHei"/>
              </a:rPr>
              <a:t>3.64%</a:t>
            </a:r>
            <a:r>
              <a:rPr lang="zh-TW" altLang="en-US" sz="1800" dirty="0">
                <a:solidFill>
                  <a:schemeClr val="tx1"/>
                </a:solidFill>
                <a:latin typeface="Microsoft JhengHei"/>
                <a:ea typeface="Microsoft JhengHei"/>
                <a:cs typeface="Microsoft JhengHei"/>
                <a:sym typeface="Microsoft JhengHei"/>
              </a:rPr>
              <a:t>捕捉率</a:t>
            </a:r>
            <a:endParaRPr lang="en-US" altLang="zh-TW" sz="1800" dirty="0">
              <a:solidFill>
                <a:schemeClr val="tx1"/>
              </a:solidFill>
              <a:latin typeface="Microsoft JhengHei"/>
              <a:ea typeface="Microsoft JhengHei"/>
              <a:cs typeface="Microsoft JhengHei"/>
              <a:sym typeface="Microsoft JhengHei"/>
            </a:endParaRPr>
          </a:p>
          <a:p>
            <a:pPr marL="0" marR="0" lvl="0" indent="0" algn="l" rtl="0">
              <a:lnSpc>
                <a:spcPct val="100000"/>
              </a:lnSpc>
              <a:spcBef>
                <a:spcPts val="0"/>
              </a:spcBef>
              <a:spcAft>
                <a:spcPts val="0"/>
              </a:spcAft>
              <a:buNone/>
            </a:pPr>
            <a:endParaRPr sz="2000" b="0" i="0" u="none" strike="noStrike" cap="none" dirty="0">
              <a:solidFill>
                <a:srgbClr val="002060"/>
              </a:solidFill>
              <a:latin typeface="Microsoft JhengHei"/>
              <a:ea typeface="Microsoft JhengHei"/>
              <a:cs typeface="Microsoft JhengHei"/>
              <a:sym typeface="Microsoft JhengHei"/>
            </a:endParaRPr>
          </a:p>
        </p:txBody>
      </p:sp>
      <p:sp>
        <p:nvSpPr>
          <p:cNvPr id="264" name="Google Shape;264;p25"/>
          <p:cNvSpPr/>
          <p:nvPr/>
        </p:nvSpPr>
        <p:spPr>
          <a:xfrm>
            <a:off x="3116722" y="1377633"/>
            <a:ext cx="13023873" cy="478286"/>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aphicFrame>
        <p:nvGraphicFramePr>
          <p:cNvPr id="265" name="Google Shape;265;p25"/>
          <p:cNvGraphicFramePr/>
          <p:nvPr>
            <p:extLst>
              <p:ext uri="{D42A27DB-BD31-4B8C-83A1-F6EECF244321}">
                <p14:modId xmlns:p14="http://schemas.microsoft.com/office/powerpoint/2010/main" val="3797782075"/>
              </p:ext>
            </p:extLst>
          </p:nvPr>
        </p:nvGraphicFramePr>
        <p:xfrm>
          <a:off x="4902742" y="1294310"/>
          <a:ext cx="6468620" cy="4767885"/>
        </p:xfrm>
        <a:graphic>
          <a:graphicData uri="http://schemas.openxmlformats.org/drawingml/2006/table">
            <a:tbl>
              <a:tblPr>
                <a:noFill/>
                <a:tableStyleId>{23EA8F4A-E16B-4139-BFD6-0EAB617C4CEA}</a:tableStyleId>
              </a:tblPr>
              <a:tblGrid>
                <a:gridCol w="1293724">
                  <a:extLst>
                    <a:ext uri="{9D8B030D-6E8A-4147-A177-3AD203B41FA5}">
                      <a16:colId xmlns:a16="http://schemas.microsoft.com/office/drawing/2014/main" val="20000"/>
                    </a:ext>
                  </a:extLst>
                </a:gridCol>
                <a:gridCol w="1293724">
                  <a:extLst>
                    <a:ext uri="{9D8B030D-6E8A-4147-A177-3AD203B41FA5}">
                      <a16:colId xmlns:a16="http://schemas.microsoft.com/office/drawing/2014/main" val="20001"/>
                    </a:ext>
                  </a:extLst>
                </a:gridCol>
                <a:gridCol w="1293724">
                  <a:extLst>
                    <a:ext uri="{9D8B030D-6E8A-4147-A177-3AD203B41FA5}">
                      <a16:colId xmlns:a16="http://schemas.microsoft.com/office/drawing/2014/main" val="20002"/>
                    </a:ext>
                  </a:extLst>
                </a:gridCol>
                <a:gridCol w="1293724">
                  <a:extLst>
                    <a:ext uri="{9D8B030D-6E8A-4147-A177-3AD203B41FA5}">
                      <a16:colId xmlns:a16="http://schemas.microsoft.com/office/drawing/2014/main" val="20003"/>
                    </a:ext>
                  </a:extLst>
                </a:gridCol>
                <a:gridCol w="1293724">
                  <a:extLst>
                    <a:ext uri="{9D8B030D-6E8A-4147-A177-3AD203B41FA5}">
                      <a16:colId xmlns:a16="http://schemas.microsoft.com/office/drawing/2014/main" val="20004"/>
                    </a:ext>
                  </a:extLst>
                </a:gridCol>
              </a:tblGrid>
              <a:tr h="409575">
                <a:tc>
                  <a:txBody>
                    <a:bodyPr/>
                    <a:lstStyle/>
                    <a:p>
                      <a:pPr marL="0" lvl="0" indent="0" algn="l" rtl="0">
                        <a:spcBef>
                          <a:spcPts val="0"/>
                        </a:spcBef>
                        <a:spcAft>
                          <a:spcPts val="0"/>
                        </a:spcAft>
                        <a:buNone/>
                      </a:pPr>
                      <a:endParaRPr dirty="0"/>
                    </a:p>
                  </a:txBody>
                  <a:tcPr marL="91425" marR="91425" marT="91425" marB="91425"/>
                </a:tc>
                <a:tc>
                  <a:txBody>
                    <a:bodyPr/>
                    <a:lstStyle/>
                    <a:p>
                      <a:pPr marL="0" lvl="0" indent="0" algn="l" rtl="0">
                        <a:spcBef>
                          <a:spcPts val="0"/>
                        </a:spcBef>
                        <a:spcAft>
                          <a:spcPts val="0"/>
                        </a:spcAft>
                        <a:buNone/>
                      </a:pPr>
                      <a:r>
                        <a:rPr lang="zh-TW" dirty="0"/>
                        <a:t>Bad 滲透度</a:t>
                      </a:r>
                      <a:endParaRPr dirty="0"/>
                    </a:p>
                  </a:txBody>
                  <a:tcPr marL="91425" marR="91425" marT="91425" marB="91425"/>
                </a:tc>
                <a:tc>
                  <a:txBody>
                    <a:bodyPr/>
                    <a:lstStyle/>
                    <a:p>
                      <a:pPr marL="0" lvl="0" indent="0" algn="l" rtl="0">
                        <a:spcBef>
                          <a:spcPts val="0"/>
                        </a:spcBef>
                        <a:spcAft>
                          <a:spcPts val="0"/>
                        </a:spcAft>
                        <a:buNone/>
                      </a:pPr>
                      <a:r>
                        <a:rPr lang="zh-TW"/>
                        <a:t>倍數</a:t>
                      </a:r>
                      <a:endParaRPr/>
                    </a:p>
                  </a:txBody>
                  <a:tcPr marL="91425" marR="91425" marT="91425" marB="91425"/>
                </a:tc>
                <a:tc>
                  <a:txBody>
                    <a:bodyPr/>
                    <a:lstStyle/>
                    <a:p>
                      <a:pPr marL="0" lvl="0" indent="0" algn="l" rtl="0">
                        <a:spcBef>
                          <a:spcPts val="0"/>
                        </a:spcBef>
                        <a:spcAft>
                          <a:spcPts val="0"/>
                        </a:spcAft>
                        <a:buNone/>
                      </a:pPr>
                      <a:r>
                        <a:rPr lang="zh-TW"/>
                        <a:t>Bad 占比</a:t>
                      </a:r>
                      <a:endParaRPr/>
                    </a:p>
                  </a:txBody>
                  <a:tcPr marL="91425" marR="91425" marT="91425" marB="91425"/>
                </a:tc>
                <a:tc>
                  <a:txBody>
                    <a:bodyPr/>
                    <a:lstStyle/>
                    <a:p>
                      <a:pPr marL="0" lvl="0" indent="0" algn="l" rtl="0">
                        <a:spcBef>
                          <a:spcPts val="0"/>
                        </a:spcBef>
                        <a:spcAft>
                          <a:spcPts val="0"/>
                        </a:spcAft>
                        <a:buNone/>
                      </a:pPr>
                      <a:r>
                        <a:rPr lang="zh-TW"/>
                        <a:t>Bad 累積占比</a:t>
                      </a:r>
                      <a:endParaRPr/>
                    </a:p>
                  </a:txBody>
                  <a:tcPr marL="91425" marR="91425" marT="91425" marB="91425"/>
                </a:tc>
                <a:extLst>
                  <a:ext uri="{0D108BD9-81ED-4DB2-BD59-A6C34878D82A}">
                    <a16:rowId xmlns:a16="http://schemas.microsoft.com/office/drawing/2014/main" val="10000"/>
                  </a:ext>
                </a:extLst>
              </a:tr>
              <a:tr h="219075">
                <a:tc>
                  <a:txBody>
                    <a:bodyPr/>
                    <a:lstStyle/>
                    <a:p>
                      <a:pPr marL="0" lvl="0" indent="0" algn="l" rtl="0">
                        <a:spcBef>
                          <a:spcPts val="0"/>
                        </a:spcBef>
                        <a:spcAft>
                          <a:spcPts val="0"/>
                        </a:spcAft>
                        <a:buNone/>
                      </a:pPr>
                      <a:r>
                        <a:rPr lang="zh-TW"/>
                        <a:t>5%</a:t>
                      </a:r>
                      <a:endParaRPr/>
                    </a:p>
                  </a:txBody>
                  <a:tcPr marL="91425" marR="91425" marT="91425" marB="91425"/>
                </a:tc>
                <a:tc>
                  <a:txBody>
                    <a:bodyPr/>
                    <a:lstStyle/>
                    <a:p>
                      <a:pPr marL="0" lvl="0" indent="0" algn="l" rtl="0">
                        <a:spcBef>
                          <a:spcPts val="0"/>
                        </a:spcBef>
                        <a:spcAft>
                          <a:spcPts val="0"/>
                        </a:spcAft>
                        <a:buNone/>
                      </a:pPr>
                      <a:r>
                        <a:rPr lang="zh-TW"/>
                        <a:t>1.20%</a:t>
                      </a:r>
                      <a:endParaRPr/>
                    </a:p>
                  </a:txBody>
                  <a:tcPr marL="91425" marR="91425" marT="91425" marB="91425"/>
                </a:tc>
                <a:tc>
                  <a:txBody>
                    <a:bodyPr/>
                    <a:lstStyle/>
                    <a:p>
                      <a:pPr marL="0" lvl="0" indent="0" algn="l" rtl="0">
                        <a:spcBef>
                          <a:spcPts val="0"/>
                        </a:spcBef>
                        <a:spcAft>
                          <a:spcPts val="0"/>
                        </a:spcAft>
                        <a:buNone/>
                      </a:pPr>
                      <a:r>
                        <a:rPr lang="zh-TW"/>
                        <a:t>6.55</a:t>
                      </a:r>
                      <a:endParaRPr/>
                    </a:p>
                  </a:txBody>
                  <a:tcPr marL="91425" marR="91425" marT="91425" marB="91425"/>
                </a:tc>
                <a:tc>
                  <a:txBody>
                    <a:bodyPr/>
                    <a:lstStyle/>
                    <a:p>
                      <a:pPr marL="0" lvl="0" indent="0" algn="l" rtl="0">
                        <a:spcBef>
                          <a:spcPts val="0"/>
                        </a:spcBef>
                        <a:spcAft>
                          <a:spcPts val="0"/>
                        </a:spcAft>
                        <a:buNone/>
                      </a:pPr>
                      <a:r>
                        <a:rPr lang="zh-TW"/>
                        <a:t>32.73%</a:t>
                      </a:r>
                      <a:endParaRPr/>
                    </a:p>
                  </a:txBody>
                  <a:tcPr marL="91425" marR="91425" marT="91425" marB="91425"/>
                </a:tc>
                <a:tc>
                  <a:txBody>
                    <a:bodyPr/>
                    <a:lstStyle/>
                    <a:p>
                      <a:pPr marL="0" lvl="0" indent="0" algn="l" rtl="0">
                        <a:spcBef>
                          <a:spcPts val="0"/>
                        </a:spcBef>
                        <a:spcAft>
                          <a:spcPts val="0"/>
                        </a:spcAft>
                        <a:buNone/>
                      </a:pPr>
                      <a:r>
                        <a:rPr lang="zh-TW"/>
                        <a:t>32.73%</a:t>
                      </a:r>
                      <a:endParaRPr/>
                    </a:p>
                  </a:txBody>
                  <a:tcPr marL="91425" marR="91425" marT="91425" marB="91425"/>
                </a:tc>
                <a:extLst>
                  <a:ext uri="{0D108BD9-81ED-4DB2-BD59-A6C34878D82A}">
                    <a16:rowId xmlns:a16="http://schemas.microsoft.com/office/drawing/2014/main" val="10001"/>
                  </a:ext>
                </a:extLst>
              </a:tr>
              <a:tr h="219075">
                <a:tc>
                  <a:txBody>
                    <a:bodyPr/>
                    <a:lstStyle/>
                    <a:p>
                      <a:pPr marL="0" lvl="0" indent="0" algn="l" rtl="0">
                        <a:spcBef>
                          <a:spcPts val="0"/>
                        </a:spcBef>
                        <a:spcAft>
                          <a:spcPts val="0"/>
                        </a:spcAft>
                        <a:buNone/>
                      </a:pPr>
                      <a:r>
                        <a:rPr lang="zh-TW"/>
                        <a:t>10%</a:t>
                      </a:r>
                      <a:endParaRPr/>
                    </a:p>
                  </a:txBody>
                  <a:tcPr marL="91425" marR="91425" marT="91425" marB="91425"/>
                </a:tc>
                <a:tc>
                  <a:txBody>
                    <a:bodyPr/>
                    <a:lstStyle/>
                    <a:p>
                      <a:pPr marL="0" lvl="0" indent="0" algn="l" rtl="0">
                        <a:spcBef>
                          <a:spcPts val="0"/>
                        </a:spcBef>
                        <a:spcAft>
                          <a:spcPts val="0"/>
                        </a:spcAft>
                        <a:buNone/>
                      </a:pPr>
                      <a:r>
                        <a:rPr lang="zh-TW"/>
                        <a:t>0.20%</a:t>
                      </a:r>
                      <a:endParaRPr/>
                    </a:p>
                  </a:txBody>
                  <a:tcPr marL="91425" marR="91425" marT="91425" marB="91425"/>
                </a:tc>
                <a:tc>
                  <a:txBody>
                    <a:bodyPr/>
                    <a:lstStyle/>
                    <a:p>
                      <a:pPr marL="0" lvl="0" indent="0" algn="l" rtl="0">
                        <a:spcBef>
                          <a:spcPts val="0"/>
                        </a:spcBef>
                        <a:spcAft>
                          <a:spcPts val="0"/>
                        </a:spcAft>
                        <a:buNone/>
                      </a:pPr>
                      <a:r>
                        <a:rPr lang="zh-TW"/>
                        <a:t>1.09</a:t>
                      </a:r>
                      <a:endParaRPr/>
                    </a:p>
                  </a:txBody>
                  <a:tcPr marL="91425" marR="91425" marT="91425" marB="91425"/>
                </a:tc>
                <a:tc>
                  <a:txBody>
                    <a:bodyPr/>
                    <a:lstStyle/>
                    <a:p>
                      <a:pPr marL="0" lvl="0" indent="0" algn="l" rtl="0">
                        <a:spcBef>
                          <a:spcPts val="0"/>
                        </a:spcBef>
                        <a:spcAft>
                          <a:spcPts val="0"/>
                        </a:spcAft>
                        <a:buNone/>
                      </a:pPr>
                      <a:r>
                        <a:rPr lang="zh-TW"/>
                        <a:t>5.45%</a:t>
                      </a:r>
                      <a:endParaRPr/>
                    </a:p>
                  </a:txBody>
                  <a:tcPr marL="91425" marR="91425" marT="91425" marB="91425"/>
                </a:tc>
                <a:tc>
                  <a:txBody>
                    <a:bodyPr/>
                    <a:lstStyle/>
                    <a:p>
                      <a:pPr marL="0" lvl="0" indent="0" algn="l" rtl="0">
                        <a:spcBef>
                          <a:spcPts val="0"/>
                        </a:spcBef>
                        <a:spcAft>
                          <a:spcPts val="0"/>
                        </a:spcAft>
                        <a:buNone/>
                      </a:pPr>
                      <a:r>
                        <a:rPr lang="zh-TW"/>
                        <a:t>38.18%</a:t>
                      </a:r>
                      <a:endParaRPr/>
                    </a:p>
                  </a:txBody>
                  <a:tcPr marL="91425" marR="91425" marT="91425" marB="91425"/>
                </a:tc>
                <a:extLst>
                  <a:ext uri="{0D108BD9-81ED-4DB2-BD59-A6C34878D82A}">
                    <a16:rowId xmlns:a16="http://schemas.microsoft.com/office/drawing/2014/main" val="10002"/>
                  </a:ext>
                </a:extLst>
              </a:tr>
              <a:tr h="219075">
                <a:tc>
                  <a:txBody>
                    <a:bodyPr/>
                    <a:lstStyle/>
                    <a:p>
                      <a:pPr marL="0" lvl="0" indent="0" algn="l" rtl="0">
                        <a:spcBef>
                          <a:spcPts val="0"/>
                        </a:spcBef>
                        <a:spcAft>
                          <a:spcPts val="0"/>
                        </a:spcAft>
                        <a:buNone/>
                      </a:pPr>
                      <a:r>
                        <a:rPr lang="zh-TW"/>
                        <a:t>20%</a:t>
                      </a:r>
                      <a:endParaRPr/>
                    </a:p>
                  </a:txBody>
                  <a:tcPr marL="91425" marR="91425" marT="91425" marB="91425"/>
                </a:tc>
                <a:tc>
                  <a:txBody>
                    <a:bodyPr/>
                    <a:lstStyle/>
                    <a:p>
                      <a:pPr marL="0" lvl="0" indent="0" algn="l" rtl="0">
                        <a:spcBef>
                          <a:spcPts val="0"/>
                        </a:spcBef>
                        <a:spcAft>
                          <a:spcPts val="0"/>
                        </a:spcAft>
                        <a:buNone/>
                      </a:pPr>
                      <a:r>
                        <a:rPr lang="zh-TW"/>
                        <a:t>0.10%</a:t>
                      </a:r>
                      <a:endParaRPr/>
                    </a:p>
                  </a:txBody>
                  <a:tcPr marL="91425" marR="91425" marT="91425" marB="91425"/>
                </a:tc>
                <a:tc>
                  <a:txBody>
                    <a:bodyPr/>
                    <a:lstStyle/>
                    <a:p>
                      <a:pPr marL="0" lvl="0" indent="0" algn="l" rtl="0">
                        <a:spcBef>
                          <a:spcPts val="0"/>
                        </a:spcBef>
                        <a:spcAft>
                          <a:spcPts val="0"/>
                        </a:spcAft>
                        <a:buNone/>
                      </a:pPr>
                      <a:r>
                        <a:rPr lang="zh-TW"/>
                        <a:t>0.55</a:t>
                      </a:r>
                      <a:endParaRPr/>
                    </a:p>
                  </a:txBody>
                  <a:tcPr marL="91425" marR="91425" marT="91425" marB="91425"/>
                </a:tc>
                <a:tc>
                  <a:txBody>
                    <a:bodyPr/>
                    <a:lstStyle/>
                    <a:p>
                      <a:pPr marL="0" lvl="0" indent="0" algn="l" rtl="0">
                        <a:spcBef>
                          <a:spcPts val="0"/>
                        </a:spcBef>
                        <a:spcAft>
                          <a:spcPts val="0"/>
                        </a:spcAft>
                        <a:buNone/>
                      </a:pPr>
                      <a:r>
                        <a:rPr lang="zh-TW"/>
                        <a:t>5.45%</a:t>
                      </a:r>
                      <a:endParaRPr/>
                    </a:p>
                  </a:txBody>
                  <a:tcPr marL="91425" marR="91425" marT="91425" marB="91425"/>
                </a:tc>
                <a:tc>
                  <a:txBody>
                    <a:bodyPr/>
                    <a:lstStyle/>
                    <a:p>
                      <a:pPr marL="0" lvl="0" indent="0" algn="l" rtl="0">
                        <a:spcBef>
                          <a:spcPts val="0"/>
                        </a:spcBef>
                        <a:spcAft>
                          <a:spcPts val="0"/>
                        </a:spcAft>
                        <a:buNone/>
                      </a:pPr>
                      <a:r>
                        <a:rPr lang="zh-TW"/>
                        <a:t>43.64%</a:t>
                      </a:r>
                      <a:endParaRPr/>
                    </a:p>
                  </a:txBody>
                  <a:tcPr marL="91425" marR="91425" marT="91425" marB="91425"/>
                </a:tc>
                <a:extLst>
                  <a:ext uri="{0D108BD9-81ED-4DB2-BD59-A6C34878D82A}">
                    <a16:rowId xmlns:a16="http://schemas.microsoft.com/office/drawing/2014/main" val="10003"/>
                  </a:ext>
                </a:extLst>
              </a:tr>
              <a:tr h="219075">
                <a:tc>
                  <a:txBody>
                    <a:bodyPr/>
                    <a:lstStyle/>
                    <a:p>
                      <a:pPr marL="0" lvl="0" indent="0" algn="l" rtl="0">
                        <a:spcBef>
                          <a:spcPts val="0"/>
                        </a:spcBef>
                        <a:spcAft>
                          <a:spcPts val="0"/>
                        </a:spcAft>
                        <a:buNone/>
                      </a:pPr>
                      <a:r>
                        <a:rPr lang="zh-TW"/>
                        <a:t>30%</a:t>
                      </a:r>
                      <a:endParaRPr/>
                    </a:p>
                  </a:txBody>
                  <a:tcPr marL="91425" marR="91425" marT="91425" marB="91425"/>
                </a:tc>
                <a:tc>
                  <a:txBody>
                    <a:bodyPr/>
                    <a:lstStyle/>
                    <a:p>
                      <a:pPr marL="0" lvl="0" indent="0" algn="l" rtl="0">
                        <a:spcBef>
                          <a:spcPts val="0"/>
                        </a:spcBef>
                        <a:spcAft>
                          <a:spcPts val="0"/>
                        </a:spcAft>
                        <a:buNone/>
                      </a:pPr>
                      <a:r>
                        <a:rPr lang="zh-TW"/>
                        <a:t>0.20%</a:t>
                      </a:r>
                      <a:endParaRPr/>
                    </a:p>
                  </a:txBody>
                  <a:tcPr marL="91425" marR="91425" marT="91425" marB="91425"/>
                </a:tc>
                <a:tc>
                  <a:txBody>
                    <a:bodyPr/>
                    <a:lstStyle/>
                    <a:p>
                      <a:pPr marL="0" lvl="0" indent="0" algn="l" rtl="0">
                        <a:spcBef>
                          <a:spcPts val="0"/>
                        </a:spcBef>
                        <a:spcAft>
                          <a:spcPts val="0"/>
                        </a:spcAft>
                        <a:buNone/>
                      </a:pPr>
                      <a:r>
                        <a:rPr lang="zh-TW"/>
                        <a:t>1.09</a:t>
                      </a:r>
                      <a:endParaRPr/>
                    </a:p>
                  </a:txBody>
                  <a:tcPr marL="91425" marR="91425" marT="91425" marB="91425"/>
                </a:tc>
                <a:tc>
                  <a:txBody>
                    <a:bodyPr/>
                    <a:lstStyle/>
                    <a:p>
                      <a:pPr marL="0" lvl="0" indent="0" algn="l" rtl="0">
                        <a:spcBef>
                          <a:spcPts val="0"/>
                        </a:spcBef>
                        <a:spcAft>
                          <a:spcPts val="0"/>
                        </a:spcAft>
                        <a:buNone/>
                      </a:pPr>
                      <a:r>
                        <a:rPr lang="zh-TW"/>
                        <a:t>10.91%</a:t>
                      </a:r>
                      <a:endParaRPr/>
                    </a:p>
                  </a:txBody>
                  <a:tcPr marL="91425" marR="91425" marT="91425" marB="91425"/>
                </a:tc>
                <a:tc>
                  <a:txBody>
                    <a:bodyPr/>
                    <a:lstStyle/>
                    <a:p>
                      <a:pPr marL="0" lvl="0" indent="0" algn="l" rtl="0">
                        <a:spcBef>
                          <a:spcPts val="0"/>
                        </a:spcBef>
                        <a:spcAft>
                          <a:spcPts val="0"/>
                        </a:spcAft>
                        <a:buNone/>
                      </a:pPr>
                      <a:r>
                        <a:rPr lang="zh-TW"/>
                        <a:t>54.55%</a:t>
                      </a:r>
                      <a:endParaRPr/>
                    </a:p>
                  </a:txBody>
                  <a:tcPr marL="91425" marR="91425" marT="91425" marB="91425"/>
                </a:tc>
                <a:extLst>
                  <a:ext uri="{0D108BD9-81ED-4DB2-BD59-A6C34878D82A}">
                    <a16:rowId xmlns:a16="http://schemas.microsoft.com/office/drawing/2014/main" val="10004"/>
                  </a:ext>
                </a:extLst>
              </a:tr>
              <a:tr h="219075">
                <a:tc>
                  <a:txBody>
                    <a:bodyPr/>
                    <a:lstStyle/>
                    <a:p>
                      <a:pPr marL="0" lvl="0" indent="0" algn="l" rtl="0">
                        <a:spcBef>
                          <a:spcPts val="0"/>
                        </a:spcBef>
                        <a:spcAft>
                          <a:spcPts val="0"/>
                        </a:spcAft>
                        <a:buNone/>
                      </a:pPr>
                      <a:r>
                        <a:rPr lang="zh-TW"/>
                        <a:t>40%</a:t>
                      </a:r>
                      <a:endParaRPr/>
                    </a:p>
                  </a:txBody>
                  <a:tcPr marL="91425" marR="91425" marT="91425" marB="91425"/>
                </a:tc>
                <a:tc>
                  <a:txBody>
                    <a:bodyPr/>
                    <a:lstStyle/>
                    <a:p>
                      <a:pPr marL="0" lvl="0" indent="0" algn="l" rtl="0">
                        <a:spcBef>
                          <a:spcPts val="0"/>
                        </a:spcBef>
                        <a:spcAft>
                          <a:spcPts val="0"/>
                        </a:spcAft>
                        <a:buNone/>
                      </a:pPr>
                      <a:r>
                        <a:rPr lang="zh-TW"/>
                        <a:t>0.23%</a:t>
                      </a:r>
                      <a:endParaRPr/>
                    </a:p>
                  </a:txBody>
                  <a:tcPr marL="91425" marR="91425" marT="91425" marB="91425"/>
                </a:tc>
                <a:tc>
                  <a:txBody>
                    <a:bodyPr/>
                    <a:lstStyle/>
                    <a:p>
                      <a:pPr marL="0" lvl="0" indent="0" algn="l" rtl="0">
                        <a:spcBef>
                          <a:spcPts val="0"/>
                        </a:spcBef>
                        <a:spcAft>
                          <a:spcPts val="0"/>
                        </a:spcAft>
                        <a:buNone/>
                      </a:pPr>
                      <a:r>
                        <a:rPr lang="zh-TW"/>
                        <a:t>1.27</a:t>
                      </a:r>
                      <a:endParaRPr/>
                    </a:p>
                  </a:txBody>
                  <a:tcPr marL="91425" marR="91425" marT="91425" marB="91425"/>
                </a:tc>
                <a:tc>
                  <a:txBody>
                    <a:bodyPr/>
                    <a:lstStyle/>
                    <a:p>
                      <a:pPr marL="0" lvl="0" indent="0" algn="l" rtl="0">
                        <a:spcBef>
                          <a:spcPts val="0"/>
                        </a:spcBef>
                        <a:spcAft>
                          <a:spcPts val="0"/>
                        </a:spcAft>
                        <a:buNone/>
                      </a:pPr>
                      <a:r>
                        <a:rPr lang="zh-TW"/>
                        <a:t>12.73%</a:t>
                      </a:r>
                      <a:endParaRPr/>
                    </a:p>
                  </a:txBody>
                  <a:tcPr marL="91425" marR="91425" marT="91425" marB="91425"/>
                </a:tc>
                <a:tc>
                  <a:txBody>
                    <a:bodyPr/>
                    <a:lstStyle/>
                    <a:p>
                      <a:pPr marL="0" lvl="0" indent="0" algn="l" rtl="0">
                        <a:spcBef>
                          <a:spcPts val="0"/>
                        </a:spcBef>
                        <a:spcAft>
                          <a:spcPts val="0"/>
                        </a:spcAft>
                        <a:buNone/>
                      </a:pPr>
                      <a:r>
                        <a:rPr lang="zh-TW" dirty="0"/>
                        <a:t>67.27%</a:t>
                      </a:r>
                      <a:endParaRPr dirty="0"/>
                    </a:p>
                  </a:txBody>
                  <a:tcPr marL="91425" marR="91425" marT="91425" marB="91425"/>
                </a:tc>
                <a:extLst>
                  <a:ext uri="{0D108BD9-81ED-4DB2-BD59-A6C34878D82A}">
                    <a16:rowId xmlns:a16="http://schemas.microsoft.com/office/drawing/2014/main" val="10005"/>
                  </a:ext>
                </a:extLst>
              </a:tr>
              <a:tr h="219075">
                <a:tc>
                  <a:txBody>
                    <a:bodyPr/>
                    <a:lstStyle/>
                    <a:p>
                      <a:pPr marL="0" lvl="0" indent="0" algn="l" rtl="0">
                        <a:spcBef>
                          <a:spcPts val="0"/>
                        </a:spcBef>
                        <a:spcAft>
                          <a:spcPts val="0"/>
                        </a:spcAft>
                        <a:buNone/>
                      </a:pPr>
                      <a:r>
                        <a:rPr lang="zh-TW"/>
                        <a:t>50%</a:t>
                      </a:r>
                      <a:endParaRPr/>
                    </a:p>
                  </a:txBody>
                  <a:tcPr marL="91425" marR="91425" marT="91425" marB="91425"/>
                </a:tc>
                <a:tc>
                  <a:txBody>
                    <a:bodyPr/>
                    <a:lstStyle/>
                    <a:p>
                      <a:pPr marL="0" lvl="0" indent="0" algn="l" rtl="0">
                        <a:spcBef>
                          <a:spcPts val="0"/>
                        </a:spcBef>
                        <a:spcAft>
                          <a:spcPts val="0"/>
                        </a:spcAft>
                        <a:buNone/>
                      </a:pPr>
                      <a:r>
                        <a:rPr lang="zh-TW"/>
                        <a:t>0.07%</a:t>
                      </a:r>
                      <a:endParaRPr/>
                    </a:p>
                  </a:txBody>
                  <a:tcPr marL="91425" marR="91425" marT="91425" marB="91425"/>
                </a:tc>
                <a:tc>
                  <a:txBody>
                    <a:bodyPr/>
                    <a:lstStyle/>
                    <a:p>
                      <a:pPr marL="0" lvl="0" indent="0" algn="l" rtl="0">
                        <a:spcBef>
                          <a:spcPts val="0"/>
                        </a:spcBef>
                        <a:spcAft>
                          <a:spcPts val="0"/>
                        </a:spcAft>
                        <a:buNone/>
                      </a:pPr>
                      <a:r>
                        <a:rPr lang="zh-TW" dirty="0"/>
                        <a:t>0.36</a:t>
                      </a:r>
                      <a:endParaRPr dirty="0"/>
                    </a:p>
                  </a:txBody>
                  <a:tcPr marL="91425" marR="91425" marT="91425" marB="91425"/>
                </a:tc>
                <a:tc>
                  <a:txBody>
                    <a:bodyPr/>
                    <a:lstStyle/>
                    <a:p>
                      <a:pPr marL="0" lvl="0" indent="0" algn="l" rtl="0">
                        <a:spcBef>
                          <a:spcPts val="0"/>
                        </a:spcBef>
                        <a:spcAft>
                          <a:spcPts val="0"/>
                        </a:spcAft>
                        <a:buNone/>
                      </a:pPr>
                      <a:r>
                        <a:rPr lang="zh-TW"/>
                        <a:t>3.64%</a:t>
                      </a:r>
                      <a:endParaRPr/>
                    </a:p>
                  </a:txBody>
                  <a:tcPr marL="91425" marR="91425" marT="91425" marB="91425"/>
                </a:tc>
                <a:tc>
                  <a:txBody>
                    <a:bodyPr/>
                    <a:lstStyle/>
                    <a:p>
                      <a:pPr marL="0" lvl="0" indent="0" algn="l" rtl="0">
                        <a:spcBef>
                          <a:spcPts val="0"/>
                        </a:spcBef>
                        <a:spcAft>
                          <a:spcPts val="0"/>
                        </a:spcAft>
                        <a:buNone/>
                      </a:pPr>
                      <a:r>
                        <a:rPr lang="zh-TW"/>
                        <a:t>70.91%</a:t>
                      </a:r>
                      <a:endParaRPr/>
                    </a:p>
                  </a:txBody>
                  <a:tcPr marL="91425" marR="91425" marT="91425" marB="91425"/>
                </a:tc>
                <a:extLst>
                  <a:ext uri="{0D108BD9-81ED-4DB2-BD59-A6C34878D82A}">
                    <a16:rowId xmlns:a16="http://schemas.microsoft.com/office/drawing/2014/main" val="10006"/>
                  </a:ext>
                </a:extLst>
              </a:tr>
              <a:tr h="219075">
                <a:tc>
                  <a:txBody>
                    <a:bodyPr/>
                    <a:lstStyle/>
                    <a:p>
                      <a:pPr marL="0" lvl="0" indent="0" algn="l" rtl="0">
                        <a:spcBef>
                          <a:spcPts val="0"/>
                        </a:spcBef>
                        <a:spcAft>
                          <a:spcPts val="0"/>
                        </a:spcAft>
                        <a:buNone/>
                      </a:pPr>
                      <a:r>
                        <a:rPr lang="zh-TW"/>
                        <a:t>60%</a:t>
                      </a:r>
                      <a:endParaRPr/>
                    </a:p>
                  </a:txBody>
                  <a:tcPr marL="91425" marR="91425" marT="91425" marB="91425"/>
                </a:tc>
                <a:tc>
                  <a:txBody>
                    <a:bodyPr/>
                    <a:lstStyle/>
                    <a:p>
                      <a:pPr marL="0" lvl="0" indent="0" algn="l" rtl="0">
                        <a:spcBef>
                          <a:spcPts val="0"/>
                        </a:spcBef>
                        <a:spcAft>
                          <a:spcPts val="0"/>
                        </a:spcAft>
                        <a:buNone/>
                      </a:pPr>
                      <a:r>
                        <a:rPr lang="zh-TW"/>
                        <a:t>0.13%</a:t>
                      </a:r>
                      <a:endParaRPr/>
                    </a:p>
                  </a:txBody>
                  <a:tcPr marL="91425" marR="91425" marT="91425" marB="91425"/>
                </a:tc>
                <a:tc>
                  <a:txBody>
                    <a:bodyPr/>
                    <a:lstStyle/>
                    <a:p>
                      <a:pPr marL="0" lvl="0" indent="0" algn="l" rtl="0">
                        <a:spcBef>
                          <a:spcPts val="0"/>
                        </a:spcBef>
                        <a:spcAft>
                          <a:spcPts val="0"/>
                        </a:spcAft>
                        <a:buNone/>
                      </a:pPr>
                      <a:r>
                        <a:rPr lang="zh-TW"/>
                        <a:t>0.73</a:t>
                      </a:r>
                      <a:endParaRPr/>
                    </a:p>
                  </a:txBody>
                  <a:tcPr marL="91425" marR="91425" marT="91425" marB="91425"/>
                </a:tc>
                <a:tc>
                  <a:txBody>
                    <a:bodyPr/>
                    <a:lstStyle/>
                    <a:p>
                      <a:pPr marL="0" lvl="0" indent="0" algn="l" rtl="0">
                        <a:spcBef>
                          <a:spcPts val="0"/>
                        </a:spcBef>
                        <a:spcAft>
                          <a:spcPts val="0"/>
                        </a:spcAft>
                        <a:buNone/>
                      </a:pPr>
                      <a:r>
                        <a:rPr lang="zh-TW"/>
                        <a:t>7.27%</a:t>
                      </a:r>
                      <a:endParaRPr/>
                    </a:p>
                  </a:txBody>
                  <a:tcPr marL="91425" marR="91425" marT="91425" marB="91425"/>
                </a:tc>
                <a:tc>
                  <a:txBody>
                    <a:bodyPr/>
                    <a:lstStyle/>
                    <a:p>
                      <a:pPr marL="0" lvl="0" indent="0" algn="l" rtl="0">
                        <a:spcBef>
                          <a:spcPts val="0"/>
                        </a:spcBef>
                        <a:spcAft>
                          <a:spcPts val="0"/>
                        </a:spcAft>
                        <a:buNone/>
                      </a:pPr>
                      <a:r>
                        <a:rPr lang="zh-TW"/>
                        <a:t>78.18%</a:t>
                      </a:r>
                      <a:endParaRPr/>
                    </a:p>
                  </a:txBody>
                  <a:tcPr marL="91425" marR="91425" marT="91425" marB="91425"/>
                </a:tc>
                <a:extLst>
                  <a:ext uri="{0D108BD9-81ED-4DB2-BD59-A6C34878D82A}">
                    <a16:rowId xmlns:a16="http://schemas.microsoft.com/office/drawing/2014/main" val="10007"/>
                  </a:ext>
                </a:extLst>
              </a:tr>
              <a:tr h="219075">
                <a:tc>
                  <a:txBody>
                    <a:bodyPr/>
                    <a:lstStyle/>
                    <a:p>
                      <a:pPr marL="0" lvl="0" indent="0" algn="l" rtl="0">
                        <a:spcBef>
                          <a:spcPts val="0"/>
                        </a:spcBef>
                        <a:spcAft>
                          <a:spcPts val="0"/>
                        </a:spcAft>
                        <a:buNone/>
                      </a:pPr>
                      <a:r>
                        <a:rPr lang="zh-TW"/>
                        <a:t>70%</a:t>
                      </a:r>
                      <a:endParaRPr/>
                    </a:p>
                  </a:txBody>
                  <a:tcPr marL="91425" marR="91425" marT="91425" marB="91425"/>
                </a:tc>
                <a:tc>
                  <a:txBody>
                    <a:bodyPr/>
                    <a:lstStyle/>
                    <a:p>
                      <a:pPr marL="0" lvl="0" indent="0" algn="l" rtl="0">
                        <a:spcBef>
                          <a:spcPts val="0"/>
                        </a:spcBef>
                        <a:spcAft>
                          <a:spcPts val="0"/>
                        </a:spcAft>
                        <a:buNone/>
                      </a:pPr>
                      <a:r>
                        <a:rPr lang="zh-TW"/>
                        <a:t>0.20%</a:t>
                      </a:r>
                      <a:endParaRPr/>
                    </a:p>
                  </a:txBody>
                  <a:tcPr marL="91425" marR="91425" marT="91425" marB="91425"/>
                </a:tc>
                <a:tc>
                  <a:txBody>
                    <a:bodyPr/>
                    <a:lstStyle/>
                    <a:p>
                      <a:pPr marL="0" lvl="0" indent="0" algn="l" rtl="0">
                        <a:spcBef>
                          <a:spcPts val="0"/>
                        </a:spcBef>
                        <a:spcAft>
                          <a:spcPts val="0"/>
                        </a:spcAft>
                        <a:buNone/>
                      </a:pPr>
                      <a:r>
                        <a:rPr lang="zh-TW"/>
                        <a:t>1.09</a:t>
                      </a:r>
                      <a:endParaRPr/>
                    </a:p>
                  </a:txBody>
                  <a:tcPr marL="91425" marR="91425" marT="91425" marB="91425"/>
                </a:tc>
                <a:tc>
                  <a:txBody>
                    <a:bodyPr/>
                    <a:lstStyle/>
                    <a:p>
                      <a:pPr marL="0" lvl="0" indent="0" algn="l" rtl="0">
                        <a:spcBef>
                          <a:spcPts val="0"/>
                        </a:spcBef>
                        <a:spcAft>
                          <a:spcPts val="0"/>
                        </a:spcAft>
                        <a:buNone/>
                      </a:pPr>
                      <a:r>
                        <a:rPr lang="zh-TW"/>
                        <a:t>10.91%</a:t>
                      </a:r>
                      <a:endParaRPr/>
                    </a:p>
                  </a:txBody>
                  <a:tcPr marL="91425" marR="91425" marT="91425" marB="91425"/>
                </a:tc>
                <a:tc>
                  <a:txBody>
                    <a:bodyPr/>
                    <a:lstStyle/>
                    <a:p>
                      <a:pPr marL="0" lvl="0" indent="0" algn="l" rtl="0">
                        <a:spcBef>
                          <a:spcPts val="0"/>
                        </a:spcBef>
                        <a:spcAft>
                          <a:spcPts val="0"/>
                        </a:spcAft>
                        <a:buNone/>
                      </a:pPr>
                      <a:r>
                        <a:rPr lang="zh-TW"/>
                        <a:t>89.09%</a:t>
                      </a:r>
                      <a:endParaRPr/>
                    </a:p>
                  </a:txBody>
                  <a:tcPr marL="91425" marR="91425" marT="91425" marB="91425"/>
                </a:tc>
                <a:extLst>
                  <a:ext uri="{0D108BD9-81ED-4DB2-BD59-A6C34878D82A}">
                    <a16:rowId xmlns:a16="http://schemas.microsoft.com/office/drawing/2014/main" val="10008"/>
                  </a:ext>
                </a:extLst>
              </a:tr>
              <a:tr h="219075">
                <a:tc>
                  <a:txBody>
                    <a:bodyPr/>
                    <a:lstStyle/>
                    <a:p>
                      <a:pPr marL="0" lvl="0" indent="0" algn="l" rtl="0">
                        <a:spcBef>
                          <a:spcPts val="0"/>
                        </a:spcBef>
                        <a:spcAft>
                          <a:spcPts val="0"/>
                        </a:spcAft>
                        <a:buNone/>
                      </a:pPr>
                      <a:r>
                        <a:rPr lang="zh-TW"/>
                        <a:t>80%</a:t>
                      </a:r>
                      <a:endParaRPr/>
                    </a:p>
                  </a:txBody>
                  <a:tcPr marL="91425" marR="91425" marT="91425" marB="91425"/>
                </a:tc>
                <a:tc>
                  <a:txBody>
                    <a:bodyPr/>
                    <a:lstStyle/>
                    <a:p>
                      <a:pPr marL="0" lvl="0" indent="0" algn="l" rtl="0">
                        <a:spcBef>
                          <a:spcPts val="0"/>
                        </a:spcBef>
                        <a:spcAft>
                          <a:spcPts val="0"/>
                        </a:spcAft>
                        <a:buNone/>
                      </a:pPr>
                      <a:r>
                        <a:rPr lang="zh-TW"/>
                        <a:t>0.07%</a:t>
                      </a:r>
                      <a:endParaRPr/>
                    </a:p>
                  </a:txBody>
                  <a:tcPr marL="91425" marR="91425" marT="91425" marB="91425"/>
                </a:tc>
                <a:tc>
                  <a:txBody>
                    <a:bodyPr/>
                    <a:lstStyle/>
                    <a:p>
                      <a:pPr marL="0" lvl="0" indent="0" algn="l" rtl="0">
                        <a:spcBef>
                          <a:spcPts val="0"/>
                        </a:spcBef>
                        <a:spcAft>
                          <a:spcPts val="0"/>
                        </a:spcAft>
                        <a:buNone/>
                      </a:pPr>
                      <a:r>
                        <a:rPr lang="zh-TW"/>
                        <a:t>0.36</a:t>
                      </a:r>
                      <a:endParaRPr/>
                    </a:p>
                  </a:txBody>
                  <a:tcPr marL="91425" marR="91425" marT="91425" marB="91425"/>
                </a:tc>
                <a:tc>
                  <a:txBody>
                    <a:bodyPr/>
                    <a:lstStyle/>
                    <a:p>
                      <a:pPr marL="0" lvl="0" indent="0" algn="l" rtl="0">
                        <a:spcBef>
                          <a:spcPts val="0"/>
                        </a:spcBef>
                        <a:spcAft>
                          <a:spcPts val="0"/>
                        </a:spcAft>
                        <a:buNone/>
                      </a:pPr>
                      <a:r>
                        <a:rPr lang="zh-TW"/>
                        <a:t>3.64%</a:t>
                      </a:r>
                      <a:endParaRPr/>
                    </a:p>
                  </a:txBody>
                  <a:tcPr marL="91425" marR="91425" marT="91425" marB="91425"/>
                </a:tc>
                <a:tc>
                  <a:txBody>
                    <a:bodyPr/>
                    <a:lstStyle/>
                    <a:p>
                      <a:pPr marL="0" lvl="0" indent="0" algn="l" rtl="0">
                        <a:spcBef>
                          <a:spcPts val="0"/>
                        </a:spcBef>
                        <a:spcAft>
                          <a:spcPts val="0"/>
                        </a:spcAft>
                        <a:buNone/>
                      </a:pPr>
                      <a:r>
                        <a:rPr lang="zh-TW"/>
                        <a:t>92.73%</a:t>
                      </a:r>
                      <a:endParaRPr/>
                    </a:p>
                  </a:txBody>
                  <a:tcPr marL="91425" marR="91425" marT="91425" marB="91425"/>
                </a:tc>
                <a:extLst>
                  <a:ext uri="{0D108BD9-81ED-4DB2-BD59-A6C34878D82A}">
                    <a16:rowId xmlns:a16="http://schemas.microsoft.com/office/drawing/2014/main" val="10009"/>
                  </a:ext>
                </a:extLst>
              </a:tr>
              <a:tr h="219075">
                <a:tc>
                  <a:txBody>
                    <a:bodyPr/>
                    <a:lstStyle/>
                    <a:p>
                      <a:pPr marL="0" lvl="0" indent="0" algn="l" rtl="0">
                        <a:spcBef>
                          <a:spcPts val="0"/>
                        </a:spcBef>
                        <a:spcAft>
                          <a:spcPts val="0"/>
                        </a:spcAft>
                        <a:buNone/>
                      </a:pPr>
                      <a:r>
                        <a:rPr lang="zh-TW"/>
                        <a:t>90%</a:t>
                      </a:r>
                      <a:endParaRPr/>
                    </a:p>
                  </a:txBody>
                  <a:tcPr marL="91425" marR="91425" marT="91425" marB="91425"/>
                </a:tc>
                <a:tc>
                  <a:txBody>
                    <a:bodyPr/>
                    <a:lstStyle/>
                    <a:p>
                      <a:pPr marL="0" lvl="0" indent="0" algn="l" rtl="0">
                        <a:spcBef>
                          <a:spcPts val="0"/>
                        </a:spcBef>
                        <a:spcAft>
                          <a:spcPts val="0"/>
                        </a:spcAft>
                        <a:buNone/>
                      </a:pPr>
                      <a:r>
                        <a:rPr lang="zh-TW"/>
                        <a:t>0.07%</a:t>
                      </a:r>
                      <a:endParaRPr/>
                    </a:p>
                  </a:txBody>
                  <a:tcPr marL="91425" marR="91425" marT="91425" marB="91425"/>
                </a:tc>
                <a:tc>
                  <a:txBody>
                    <a:bodyPr/>
                    <a:lstStyle/>
                    <a:p>
                      <a:pPr marL="0" lvl="0" indent="0" algn="l" rtl="0">
                        <a:spcBef>
                          <a:spcPts val="0"/>
                        </a:spcBef>
                        <a:spcAft>
                          <a:spcPts val="0"/>
                        </a:spcAft>
                        <a:buNone/>
                      </a:pPr>
                      <a:r>
                        <a:rPr lang="zh-TW"/>
                        <a:t>0.36</a:t>
                      </a:r>
                      <a:endParaRPr/>
                    </a:p>
                  </a:txBody>
                  <a:tcPr marL="91425" marR="91425" marT="91425" marB="91425"/>
                </a:tc>
                <a:tc>
                  <a:txBody>
                    <a:bodyPr/>
                    <a:lstStyle/>
                    <a:p>
                      <a:pPr marL="0" lvl="0" indent="0" algn="l" rtl="0">
                        <a:spcBef>
                          <a:spcPts val="0"/>
                        </a:spcBef>
                        <a:spcAft>
                          <a:spcPts val="0"/>
                        </a:spcAft>
                        <a:buNone/>
                      </a:pPr>
                      <a:r>
                        <a:rPr lang="zh-TW"/>
                        <a:t>3.64%</a:t>
                      </a:r>
                      <a:endParaRPr/>
                    </a:p>
                  </a:txBody>
                  <a:tcPr marL="91425" marR="91425" marT="91425" marB="91425"/>
                </a:tc>
                <a:tc>
                  <a:txBody>
                    <a:bodyPr/>
                    <a:lstStyle/>
                    <a:p>
                      <a:pPr marL="0" lvl="0" indent="0" algn="l" rtl="0">
                        <a:spcBef>
                          <a:spcPts val="0"/>
                        </a:spcBef>
                        <a:spcAft>
                          <a:spcPts val="0"/>
                        </a:spcAft>
                        <a:buNone/>
                      </a:pPr>
                      <a:r>
                        <a:rPr lang="zh-TW"/>
                        <a:t>96.36%</a:t>
                      </a:r>
                      <a:endParaRPr/>
                    </a:p>
                  </a:txBody>
                  <a:tcPr marL="91425" marR="91425" marT="91425" marB="91425"/>
                </a:tc>
                <a:extLst>
                  <a:ext uri="{0D108BD9-81ED-4DB2-BD59-A6C34878D82A}">
                    <a16:rowId xmlns:a16="http://schemas.microsoft.com/office/drawing/2014/main" val="10010"/>
                  </a:ext>
                </a:extLst>
              </a:tr>
              <a:tr h="219075">
                <a:tc>
                  <a:txBody>
                    <a:bodyPr/>
                    <a:lstStyle/>
                    <a:p>
                      <a:pPr marL="0" lvl="0" indent="0" algn="l" rtl="0">
                        <a:spcBef>
                          <a:spcPts val="0"/>
                        </a:spcBef>
                        <a:spcAft>
                          <a:spcPts val="0"/>
                        </a:spcAft>
                        <a:buNone/>
                      </a:pPr>
                      <a:r>
                        <a:rPr lang="zh-TW"/>
                        <a:t>100%</a:t>
                      </a:r>
                      <a:endParaRPr/>
                    </a:p>
                  </a:txBody>
                  <a:tcPr marL="91425" marR="91425" marT="91425" marB="91425"/>
                </a:tc>
                <a:tc>
                  <a:txBody>
                    <a:bodyPr/>
                    <a:lstStyle/>
                    <a:p>
                      <a:pPr marL="0" lvl="0" indent="0" algn="l" rtl="0">
                        <a:spcBef>
                          <a:spcPts val="0"/>
                        </a:spcBef>
                        <a:spcAft>
                          <a:spcPts val="0"/>
                        </a:spcAft>
                        <a:buNone/>
                      </a:pPr>
                      <a:r>
                        <a:rPr lang="zh-TW"/>
                        <a:t>0.07%</a:t>
                      </a:r>
                      <a:endParaRPr/>
                    </a:p>
                  </a:txBody>
                  <a:tcPr marL="91425" marR="91425" marT="91425" marB="91425"/>
                </a:tc>
                <a:tc>
                  <a:txBody>
                    <a:bodyPr/>
                    <a:lstStyle/>
                    <a:p>
                      <a:pPr marL="0" lvl="0" indent="0" algn="l" rtl="0">
                        <a:spcBef>
                          <a:spcPts val="0"/>
                        </a:spcBef>
                        <a:spcAft>
                          <a:spcPts val="0"/>
                        </a:spcAft>
                        <a:buNone/>
                      </a:pPr>
                      <a:r>
                        <a:rPr lang="zh-TW"/>
                        <a:t>0.36</a:t>
                      </a:r>
                      <a:endParaRPr/>
                    </a:p>
                  </a:txBody>
                  <a:tcPr marL="91425" marR="91425" marT="91425" marB="91425"/>
                </a:tc>
                <a:tc>
                  <a:txBody>
                    <a:bodyPr/>
                    <a:lstStyle/>
                    <a:p>
                      <a:pPr marL="0" lvl="0" indent="0" algn="l" rtl="0">
                        <a:spcBef>
                          <a:spcPts val="0"/>
                        </a:spcBef>
                        <a:spcAft>
                          <a:spcPts val="0"/>
                        </a:spcAft>
                        <a:buNone/>
                      </a:pPr>
                      <a:r>
                        <a:rPr lang="zh-TW"/>
                        <a:t>3.64%</a:t>
                      </a:r>
                      <a:endParaRPr/>
                    </a:p>
                  </a:txBody>
                  <a:tcPr marL="91425" marR="91425" marT="91425" marB="91425"/>
                </a:tc>
                <a:tc>
                  <a:txBody>
                    <a:bodyPr/>
                    <a:lstStyle/>
                    <a:p>
                      <a:pPr marL="0" lvl="0" indent="0" algn="l" rtl="0">
                        <a:spcBef>
                          <a:spcPts val="0"/>
                        </a:spcBef>
                        <a:spcAft>
                          <a:spcPts val="0"/>
                        </a:spcAft>
                        <a:buNone/>
                      </a:pPr>
                      <a:r>
                        <a:rPr lang="zh-TW" dirty="0"/>
                        <a:t>100.00%</a:t>
                      </a:r>
                      <a:endParaRPr dirty="0"/>
                    </a:p>
                  </a:txBody>
                  <a:tcPr marL="91425" marR="91425" marT="91425" marB="91425"/>
                </a:tc>
                <a:extLst>
                  <a:ext uri="{0D108BD9-81ED-4DB2-BD59-A6C34878D82A}">
                    <a16:rowId xmlns:a16="http://schemas.microsoft.com/office/drawing/2014/main" val="10011"/>
                  </a:ext>
                </a:extLst>
              </a:tr>
            </a:tbl>
          </a:graphicData>
        </a:graphic>
      </p:graphicFrame>
      <p:graphicFrame>
        <p:nvGraphicFramePr>
          <p:cNvPr id="14" name="Google Shape;218;gdbcf297a5f_0_0"/>
          <p:cNvGraphicFramePr/>
          <p:nvPr>
            <p:extLst>
              <p:ext uri="{D42A27DB-BD31-4B8C-83A1-F6EECF244321}">
                <p14:modId xmlns:p14="http://schemas.microsoft.com/office/powerpoint/2010/main" val="3451571959"/>
              </p:ext>
            </p:extLst>
          </p:nvPr>
        </p:nvGraphicFramePr>
        <p:xfrm>
          <a:off x="298393" y="6487160"/>
          <a:ext cx="11096375" cy="371930"/>
        </p:xfrm>
        <a:graphic>
          <a:graphicData uri="http://schemas.openxmlformats.org/drawingml/2006/table">
            <a:tbl>
              <a:tblPr firstRow="1" bandRow="1">
                <a:noFill/>
                <a:tableStyleId>{72FCF9FF-86DD-4F90-83C7-D16C962093AE}</a:tableStyleId>
              </a:tblPr>
              <a:tblGrid>
                <a:gridCol w="11096375">
                  <a:extLst>
                    <a:ext uri="{9D8B030D-6E8A-4147-A177-3AD203B41FA5}">
                      <a16:colId xmlns:a16="http://schemas.microsoft.com/office/drawing/2014/main" val="20000"/>
                    </a:ext>
                  </a:extLst>
                </a:gridCol>
              </a:tblGrid>
              <a:tr h="370850">
                <a:tc>
                  <a:txBody>
                    <a:bodyPr/>
                    <a:lstStyle/>
                    <a:p>
                      <a:pPr marL="0" marR="0" lvl="0" indent="0" algn="ctr" rtl="0">
                        <a:lnSpc>
                          <a:spcPct val="150000"/>
                        </a:lnSpc>
                        <a:spcBef>
                          <a:spcPts val="0"/>
                        </a:spcBef>
                        <a:spcAft>
                          <a:spcPts val="0"/>
                        </a:spcAft>
                        <a:buClr>
                          <a:srgbClr val="BFBFBF"/>
                        </a:buClr>
                        <a:buSzPts val="700"/>
                        <a:buFont typeface="Malgun Gothic"/>
                        <a:buNone/>
                      </a:pPr>
                      <a:r>
                        <a:rPr lang="en-US" sz="1400" b="0" i="0" u="none" strike="noStrike" cap="none" dirty="0">
                          <a:solidFill>
                            <a:schemeClr val="bg1"/>
                          </a:solidFill>
                          <a:latin typeface="Cambria Math" panose="02040503050406030204" pitchFamily="18" charset="0"/>
                          <a:ea typeface="Cambria Math" panose="02040503050406030204" pitchFamily="18" charset="0"/>
                          <a:cs typeface="Malgun Gothic"/>
                          <a:sym typeface="Malgun Gothic"/>
                        </a:rPr>
                        <a:t>1</a:t>
                      </a:r>
                      <a:r>
                        <a:rPr lang="en-US" altLang="zh-TW" sz="1400" b="0" i="0" u="none" strike="noStrike" cap="none" dirty="0">
                          <a:solidFill>
                            <a:schemeClr val="bg1"/>
                          </a:solidFill>
                          <a:latin typeface="Cambria Math" panose="02040503050406030204" pitchFamily="18" charset="0"/>
                          <a:ea typeface="Cambria Math" panose="02040503050406030204" pitchFamily="18" charset="0"/>
                          <a:cs typeface="Malgun Gothic"/>
                          <a:sym typeface="Malgun Gothic"/>
                        </a:rPr>
                        <a:t>5</a:t>
                      </a:r>
                      <a:endParaRPr sz="1400" b="0" i="0" u="none" strike="noStrike" cap="none" dirty="0">
                        <a:solidFill>
                          <a:schemeClr val="bg1"/>
                        </a:solidFill>
                        <a:latin typeface="Cambria Math" panose="02040503050406030204" pitchFamily="18" charset="0"/>
                        <a:ea typeface="Cambria Math" panose="02040503050406030204" pitchFamily="18" charset="0"/>
                        <a:cs typeface="Malgun Gothic"/>
                        <a:sym typeface="Malgun Gothic"/>
                      </a:endParaRPr>
                    </a:p>
                  </a:txBody>
                  <a:tcPr marL="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25"/>
          <p:cNvSpPr/>
          <p:nvPr/>
        </p:nvSpPr>
        <p:spPr>
          <a:xfrm>
            <a:off x="1848142" y="329912"/>
            <a:ext cx="3194100" cy="387300"/>
          </a:xfrm>
          <a:prstGeom prst="parallelogram">
            <a:avLst>
              <a:gd name="adj" fmla="val 69898"/>
            </a:avLst>
          </a:prstGeom>
          <a:solidFill>
            <a:srgbClr val="21BFCA"/>
          </a:solidFill>
          <a:ln w="161925" cap="sq" cmpd="sng">
            <a:solidFill>
              <a:srgbClr val="1E868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255" name="Google Shape;255;p25"/>
          <p:cNvSpPr/>
          <p:nvPr/>
        </p:nvSpPr>
        <p:spPr>
          <a:xfrm>
            <a:off x="1833992" y="329256"/>
            <a:ext cx="3194100" cy="387300"/>
          </a:xfrm>
          <a:prstGeom prst="parallelogram">
            <a:avLst>
              <a:gd name="adj" fmla="val 69898"/>
            </a:avLst>
          </a:prstGeom>
          <a:solidFill>
            <a:srgbClr val="21BFCA"/>
          </a:solidFill>
          <a:ln w="161925" cap="sq" cmpd="sng">
            <a:solidFill>
              <a:srgbClr val="21BFC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256" name="Google Shape;256;p25"/>
          <p:cNvSpPr/>
          <p:nvPr/>
        </p:nvSpPr>
        <p:spPr>
          <a:xfrm>
            <a:off x="4581237" y="329912"/>
            <a:ext cx="7524900" cy="387300"/>
          </a:xfrm>
          <a:prstGeom prst="parallelogram">
            <a:avLst>
              <a:gd name="adj" fmla="val 0"/>
            </a:avLst>
          </a:prstGeom>
          <a:solidFill>
            <a:srgbClr val="21BFCA"/>
          </a:solidFill>
          <a:ln w="161925" cap="sq" cmpd="sng">
            <a:solidFill>
              <a:srgbClr val="21BFC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257" name="Google Shape;257;p25"/>
          <p:cNvSpPr/>
          <p:nvPr/>
        </p:nvSpPr>
        <p:spPr>
          <a:xfrm>
            <a:off x="2066647" y="271786"/>
            <a:ext cx="6678600" cy="523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zh-TW" sz="2800" b="0" i="0" u="none" strike="noStrike" cap="none" dirty="0">
                <a:solidFill>
                  <a:srgbClr val="FFFFFF"/>
                </a:solidFill>
                <a:latin typeface="Microsoft JhengHei"/>
                <a:ea typeface="Microsoft JhengHei"/>
                <a:cs typeface="Microsoft JhengHei"/>
                <a:sym typeface="Microsoft JhengHei"/>
              </a:rPr>
              <a:t>Tree Model</a:t>
            </a:r>
            <a:r>
              <a:rPr lang="zh-TW" altLang="en-US" sz="2800" b="0" i="0" u="none" strike="noStrike" cap="none" dirty="0">
                <a:solidFill>
                  <a:srgbClr val="FFFFFF"/>
                </a:solidFill>
                <a:latin typeface="Microsoft JhengHei"/>
                <a:ea typeface="Microsoft JhengHei"/>
                <a:cs typeface="Microsoft JhengHei"/>
                <a:sym typeface="Microsoft JhengHei"/>
              </a:rPr>
              <a:t> </a:t>
            </a:r>
            <a:r>
              <a:rPr lang="en-US" altLang="zh-TW" sz="2800" b="0" i="0" u="none" strike="noStrike" cap="none" dirty="0">
                <a:solidFill>
                  <a:srgbClr val="FFFFFF"/>
                </a:solidFill>
                <a:latin typeface="Microsoft JhengHei"/>
                <a:ea typeface="Microsoft JhengHei"/>
                <a:cs typeface="Microsoft JhengHei"/>
                <a:sym typeface="Microsoft JhengHei"/>
              </a:rPr>
              <a:t>2</a:t>
            </a:r>
            <a:endParaRPr sz="2800" b="0" i="0" u="none" strike="noStrike" cap="none" dirty="0">
              <a:solidFill>
                <a:srgbClr val="FFFFFF"/>
              </a:solidFill>
              <a:latin typeface="Microsoft JhengHei"/>
              <a:ea typeface="Microsoft JhengHei"/>
              <a:cs typeface="Microsoft JhengHei"/>
              <a:sym typeface="Microsoft JhengHei"/>
            </a:endParaRPr>
          </a:p>
        </p:txBody>
      </p:sp>
      <p:graphicFrame>
        <p:nvGraphicFramePr>
          <p:cNvPr id="258" name="Google Shape;258;p25"/>
          <p:cNvGraphicFramePr/>
          <p:nvPr/>
        </p:nvGraphicFramePr>
        <p:xfrm>
          <a:off x="298393" y="6487160"/>
          <a:ext cx="11096375" cy="370850"/>
        </p:xfrm>
        <a:graphic>
          <a:graphicData uri="http://schemas.openxmlformats.org/drawingml/2006/table">
            <a:tbl>
              <a:tblPr firstRow="1" bandRow="1">
                <a:noFill/>
                <a:tableStyleId>{72FCF9FF-86DD-4F90-83C7-D16C962093AE}</a:tableStyleId>
              </a:tblPr>
              <a:tblGrid>
                <a:gridCol w="11096375">
                  <a:extLst>
                    <a:ext uri="{9D8B030D-6E8A-4147-A177-3AD203B41FA5}">
                      <a16:colId xmlns:a16="http://schemas.microsoft.com/office/drawing/2014/main" val="20000"/>
                    </a:ext>
                  </a:extLst>
                </a:gridCol>
              </a:tblGrid>
              <a:tr h="370850">
                <a:tc>
                  <a:txBody>
                    <a:bodyPr/>
                    <a:lstStyle/>
                    <a:p>
                      <a:pPr marL="0" marR="0" lvl="0" indent="0" algn="ctr" rtl="0">
                        <a:lnSpc>
                          <a:spcPct val="150000"/>
                        </a:lnSpc>
                        <a:spcBef>
                          <a:spcPts val="0"/>
                        </a:spcBef>
                        <a:spcAft>
                          <a:spcPts val="0"/>
                        </a:spcAft>
                        <a:buClr>
                          <a:srgbClr val="BFBFBF"/>
                        </a:buClr>
                        <a:buSzPts val="700"/>
                        <a:buFont typeface="Malgun Gothic"/>
                        <a:buNone/>
                      </a:pPr>
                      <a:r>
                        <a:rPr lang="zh-TW" sz="700" b="0" i="0" u="none" strike="noStrike" cap="none" dirty="0">
                          <a:solidFill>
                            <a:srgbClr val="BFBFBF"/>
                          </a:solidFill>
                          <a:latin typeface="Malgun Gothic"/>
                          <a:ea typeface="Malgun Gothic"/>
                          <a:cs typeface="Malgun Gothic"/>
                          <a:sym typeface="Malgun Gothic"/>
                        </a:rPr>
                        <a:t>Enjoy your stylish business and campus life with BIZCAM</a:t>
                      </a:r>
                      <a:endParaRPr sz="4800" b="0" i="0" u="none" strike="noStrike" cap="none" dirty="0">
                        <a:solidFill>
                          <a:srgbClr val="BFBFBF"/>
                        </a:solidFill>
                        <a:latin typeface="Malgun Gothic"/>
                        <a:ea typeface="Malgun Gothic"/>
                        <a:cs typeface="Malgun Gothic"/>
                        <a:sym typeface="Malgun Gothic"/>
                      </a:endParaRPr>
                    </a:p>
                  </a:txBody>
                  <a:tcPr marL="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cxnSp>
        <p:nvCxnSpPr>
          <p:cNvPr id="260" name="Google Shape;260;p25"/>
          <p:cNvCxnSpPr/>
          <p:nvPr/>
        </p:nvCxnSpPr>
        <p:spPr>
          <a:xfrm>
            <a:off x="157389" y="1274020"/>
            <a:ext cx="1224000" cy="0"/>
          </a:xfrm>
          <a:prstGeom prst="straightConnector1">
            <a:avLst/>
          </a:prstGeom>
          <a:noFill/>
          <a:ln w="15875" cap="rnd" cmpd="sng">
            <a:solidFill>
              <a:srgbClr val="21BFCA"/>
            </a:solidFill>
            <a:prstDash val="solid"/>
            <a:round/>
            <a:headEnd type="none" w="sm" len="sm"/>
            <a:tailEnd type="none" w="sm" len="sm"/>
          </a:ln>
        </p:spPr>
      </p:cxnSp>
      <p:sp>
        <p:nvSpPr>
          <p:cNvPr id="261" name="Google Shape;261;p25"/>
          <p:cNvSpPr/>
          <p:nvPr/>
        </p:nvSpPr>
        <p:spPr>
          <a:xfrm>
            <a:off x="158593" y="812355"/>
            <a:ext cx="540600" cy="461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zh-TW" sz="2400" b="1" i="1" u="none" strike="noStrike" cap="none" dirty="0">
                <a:solidFill>
                  <a:srgbClr val="21BFCA"/>
                </a:solidFill>
                <a:latin typeface="Malgun Gothic"/>
                <a:ea typeface="Malgun Gothic"/>
                <a:cs typeface="Malgun Gothic"/>
                <a:sym typeface="Malgun Gothic"/>
              </a:rPr>
              <a:t>0</a:t>
            </a:r>
            <a:r>
              <a:rPr lang="en-US" altLang="zh-TW" sz="2400" b="1" i="1" dirty="0">
                <a:solidFill>
                  <a:srgbClr val="21BFCA"/>
                </a:solidFill>
                <a:latin typeface="Malgun Gothic"/>
                <a:ea typeface="Malgun Gothic"/>
                <a:cs typeface="Malgun Gothic"/>
                <a:sym typeface="Malgun Gothic"/>
              </a:rPr>
              <a:t>3</a:t>
            </a:r>
            <a:endParaRPr sz="2400" b="0" i="0" u="none" strike="noStrike" cap="none" dirty="0">
              <a:solidFill>
                <a:srgbClr val="21BFCA"/>
              </a:solidFill>
              <a:latin typeface="Malgun Gothic"/>
              <a:ea typeface="Malgun Gothic"/>
              <a:cs typeface="Malgun Gothic"/>
              <a:sym typeface="Malgun Gothic"/>
            </a:endParaRPr>
          </a:p>
        </p:txBody>
      </p:sp>
      <p:sp>
        <p:nvSpPr>
          <p:cNvPr id="262" name="Google Shape;262;p25"/>
          <p:cNvSpPr/>
          <p:nvPr/>
        </p:nvSpPr>
        <p:spPr>
          <a:xfrm>
            <a:off x="1944773" y="1377633"/>
            <a:ext cx="14062132" cy="503878"/>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64" name="Google Shape;264;p25"/>
          <p:cNvSpPr/>
          <p:nvPr/>
        </p:nvSpPr>
        <p:spPr>
          <a:xfrm>
            <a:off x="3116722" y="1377633"/>
            <a:ext cx="13023873" cy="478286"/>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aphicFrame>
        <p:nvGraphicFramePr>
          <p:cNvPr id="14" name="Google Shape;218;gdbcf297a5f_0_0"/>
          <p:cNvGraphicFramePr/>
          <p:nvPr>
            <p:extLst>
              <p:ext uri="{D42A27DB-BD31-4B8C-83A1-F6EECF244321}">
                <p14:modId xmlns:p14="http://schemas.microsoft.com/office/powerpoint/2010/main" val="30810863"/>
              </p:ext>
            </p:extLst>
          </p:nvPr>
        </p:nvGraphicFramePr>
        <p:xfrm>
          <a:off x="298393" y="6487160"/>
          <a:ext cx="11096375" cy="371930"/>
        </p:xfrm>
        <a:graphic>
          <a:graphicData uri="http://schemas.openxmlformats.org/drawingml/2006/table">
            <a:tbl>
              <a:tblPr firstRow="1" bandRow="1">
                <a:noFill/>
                <a:tableStyleId>{72FCF9FF-86DD-4F90-83C7-D16C962093AE}</a:tableStyleId>
              </a:tblPr>
              <a:tblGrid>
                <a:gridCol w="11096375">
                  <a:extLst>
                    <a:ext uri="{9D8B030D-6E8A-4147-A177-3AD203B41FA5}">
                      <a16:colId xmlns:a16="http://schemas.microsoft.com/office/drawing/2014/main" val="20000"/>
                    </a:ext>
                  </a:extLst>
                </a:gridCol>
              </a:tblGrid>
              <a:tr h="370850">
                <a:tc>
                  <a:txBody>
                    <a:bodyPr/>
                    <a:lstStyle/>
                    <a:p>
                      <a:pPr marL="0" marR="0" lvl="0" indent="0" algn="ctr" rtl="0">
                        <a:lnSpc>
                          <a:spcPct val="150000"/>
                        </a:lnSpc>
                        <a:spcBef>
                          <a:spcPts val="0"/>
                        </a:spcBef>
                        <a:spcAft>
                          <a:spcPts val="0"/>
                        </a:spcAft>
                        <a:buClr>
                          <a:srgbClr val="BFBFBF"/>
                        </a:buClr>
                        <a:buSzPts val="700"/>
                        <a:buFont typeface="Malgun Gothic"/>
                        <a:buNone/>
                      </a:pPr>
                      <a:r>
                        <a:rPr lang="en-US" sz="1400" b="0" i="0" u="none" strike="noStrike" cap="none" dirty="0">
                          <a:solidFill>
                            <a:schemeClr val="bg1"/>
                          </a:solidFill>
                          <a:latin typeface="Cambria Math" panose="02040503050406030204" pitchFamily="18" charset="0"/>
                          <a:ea typeface="Cambria Math" panose="02040503050406030204" pitchFamily="18" charset="0"/>
                          <a:cs typeface="Malgun Gothic"/>
                          <a:sym typeface="Malgun Gothic"/>
                        </a:rPr>
                        <a:t>1</a:t>
                      </a:r>
                      <a:r>
                        <a:rPr lang="en-US" altLang="zh-TW" sz="1400" b="0" i="0" u="none" strike="noStrike" cap="none" dirty="0">
                          <a:solidFill>
                            <a:schemeClr val="bg1"/>
                          </a:solidFill>
                          <a:latin typeface="Cambria Math" panose="02040503050406030204" pitchFamily="18" charset="0"/>
                          <a:ea typeface="Cambria Math" panose="02040503050406030204" pitchFamily="18" charset="0"/>
                          <a:cs typeface="Malgun Gothic"/>
                          <a:sym typeface="Malgun Gothic"/>
                        </a:rPr>
                        <a:t>6</a:t>
                      </a:r>
                      <a:endParaRPr sz="1400" b="0" i="0" u="none" strike="noStrike" cap="none" dirty="0">
                        <a:solidFill>
                          <a:schemeClr val="bg1"/>
                        </a:solidFill>
                        <a:latin typeface="Cambria Math" panose="02040503050406030204" pitchFamily="18" charset="0"/>
                        <a:ea typeface="Cambria Math" panose="02040503050406030204" pitchFamily="18" charset="0"/>
                        <a:cs typeface="Malgun Gothic"/>
                        <a:sym typeface="Malgun Gothic"/>
                      </a:endParaRPr>
                    </a:p>
                  </a:txBody>
                  <a:tcPr marL="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2" name="圖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96176" y="1377633"/>
            <a:ext cx="8769859" cy="4955121"/>
          </a:xfrm>
          <a:prstGeom prst="rect">
            <a:avLst/>
          </a:prstGeom>
        </p:spPr>
      </p:pic>
      <p:sp>
        <p:nvSpPr>
          <p:cNvPr id="15" name="Google Shape;263;p25"/>
          <p:cNvSpPr txBox="1"/>
          <p:nvPr/>
        </p:nvSpPr>
        <p:spPr>
          <a:xfrm>
            <a:off x="1381389" y="1274020"/>
            <a:ext cx="3521351" cy="8463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600"/>
              </a:spcAft>
              <a:buNone/>
            </a:pPr>
            <a:r>
              <a:rPr lang="en-US" altLang="zh-TW" sz="2400" b="1" dirty="0">
                <a:solidFill>
                  <a:srgbClr val="1E4E79"/>
                </a:solidFill>
                <a:latin typeface="Microsoft JhengHei"/>
                <a:ea typeface="Microsoft JhengHei"/>
                <a:cs typeface="Microsoft JhengHei"/>
                <a:sym typeface="Microsoft JhengHei"/>
              </a:rPr>
              <a:t>Tree Model 2</a:t>
            </a:r>
            <a:r>
              <a:rPr lang="zh-TW" altLang="en-US" sz="2400" b="1" dirty="0">
                <a:solidFill>
                  <a:srgbClr val="1E4E79"/>
                </a:solidFill>
                <a:latin typeface="Microsoft JhengHei"/>
                <a:ea typeface="Microsoft JhengHei"/>
                <a:cs typeface="Microsoft JhengHei"/>
                <a:sym typeface="Microsoft JhengHei"/>
              </a:rPr>
              <a:t> 左邊分支</a:t>
            </a:r>
            <a:endParaRPr lang="en-US" altLang="zh-TW" sz="2400" b="1" i="0" u="none" strike="noStrike" cap="none" dirty="0">
              <a:solidFill>
                <a:srgbClr val="1E4E79"/>
              </a:solidFill>
              <a:latin typeface="Microsoft JhengHei"/>
              <a:ea typeface="Microsoft JhengHei"/>
              <a:cs typeface="Microsoft JhengHei"/>
              <a:sym typeface="Microsoft JhengHei"/>
            </a:endParaRPr>
          </a:p>
          <a:p>
            <a:pPr marL="0" marR="0" lvl="0" indent="0" algn="l" rtl="0">
              <a:lnSpc>
                <a:spcPct val="100000"/>
              </a:lnSpc>
              <a:spcBef>
                <a:spcPts val="0"/>
              </a:spcBef>
              <a:spcAft>
                <a:spcPts val="0"/>
              </a:spcAft>
              <a:buNone/>
            </a:pPr>
            <a:endParaRPr sz="2000" b="0" i="0" u="none" strike="noStrike" cap="none" dirty="0">
              <a:solidFill>
                <a:srgbClr val="002060"/>
              </a:solidFill>
              <a:latin typeface="Microsoft JhengHei"/>
              <a:ea typeface="Microsoft JhengHei"/>
              <a:cs typeface="Microsoft JhengHei"/>
              <a:sym typeface="Microsoft JhengHei"/>
            </a:endParaRPr>
          </a:p>
        </p:txBody>
      </p:sp>
    </p:spTree>
    <p:extLst>
      <p:ext uri="{BB962C8B-B14F-4D97-AF65-F5344CB8AC3E}">
        <p14:creationId xmlns:p14="http://schemas.microsoft.com/office/powerpoint/2010/main" val="33340993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25"/>
          <p:cNvSpPr/>
          <p:nvPr/>
        </p:nvSpPr>
        <p:spPr>
          <a:xfrm>
            <a:off x="1848142" y="329912"/>
            <a:ext cx="3194100" cy="387300"/>
          </a:xfrm>
          <a:prstGeom prst="parallelogram">
            <a:avLst>
              <a:gd name="adj" fmla="val 69898"/>
            </a:avLst>
          </a:prstGeom>
          <a:solidFill>
            <a:srgbClr val="21BFCA"/>
          </a:solidFill>
          <a:ln w="161925" cap="sq" cmpd="sng">
            <a:solidFill>
              <a:srgbClr val="1E868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255" name="Google Shape;255;p25"/>
          <p:cNvSpPr/>
          <p:nvPr/>
        </p:nvSpPr>
        <p:spPr>
          <a:xfrm>
            <a:off x="1833992" y="329256"/>
            <a:ext cx="3194100" cy="387300"/>
          </a:xfrm>
          <a:prstGeom prst="parallelogram">
            <a:avLst>
              <a:gd name="adj" fmla="val 69898"/>
            </a:avLst>
          </a:prstGeom>
          <a:solidFill>
            <a:srgbClr val="21BFCA"/>
          </a:solidFill>
          <a:ln w="161925" cap="sq" cmpd="sng">
            <a:solidFill>
              <a:srgbClr val="21BFC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256" name="Google Shape;256;p25"/>
          <p:cNvSpPr/>
          <p:nvPr/>
        </p:nvSpPr>
        <p:spPr>
          <a:xfrm>
            <a:off x="4581237" y="329912"/>
            <a:ext cx="7524900" cy="387300"/>
          </a:xfrm>
          <a:prstGeom prst="parallelogram">
            <a:avLst>
              <a:gd name="adj" fmla="val 0"/>
            </a:avLst>
          </a:prstGeom>
          <a:solidFill>
            <a:srgbClr val="21BFCA"/>
          </a:solidFill>
          <a:ln w="161925" cap="sq" cmpd="sng">
            <a:solidFill>
              <a:srgbClr val="21BFC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257" name="Google Shape;257;p25"/>
          <p:cNvSpPr/>
          <p:nvPr/>
        </p:nvSpPr>
        <p:spPr>
          <a:xfrm>
            <a:off x="2066647" y="271786"/>
            <a:ext cx="6678600" cy="523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zh-TW" sz="2800" b="0" i="0" u="none" strike="noStrike" cap="none" dirty="0">
                <a:solidFill>
                  <a:srgbClr val="FFFFFF"/>
                </a:solidFill>
                <a:latin typeface="Microsoft JhengHei"/>
                <a:ea typeface="Microsoft JhengHei"/>
                <a:cs typeface="Microsoft JhengHei"/>
                <a:sym typeface="Microsoft JhengHei"/>
              </a:rPr>
              <a:t>Tree Model</a:t>
            </a:r>
            <a:r>
              <a:rPr lang="zh-TW" altLang="en-US" sz="2800" b="0" i="0" u="none" strike="noStrike" cap="none" dirty="0">
                <a:solidFill>
                  <a:srgbClr val="FFFFFF"/>
                </a:solidFill>
                <a:latin typeface="Microsoft JhengHei"/>
                <a:ea typeface="Microsoft JhengHei"/>
                <a:cs typeface="Microsoft JhengHei"/>
                <a:sym typeface="Microsoft JhengHei"/>
              </a:rPr>
              <a:t> </a:t>
            </a:r>
            <a:r>
              <a:rPr lang="en-US" altLang="zh-TW" sz="2800" b="0" i="0" u="none" strike="noStrike" cap="none" dirty="0">
                <a:solidFill>
                  <a:srgbClr val="FFFFFF"/>
                </a:solidFill>
                <a:latin typeface="Microsoft JhengHei"/>
                <a:ea typeface="Microsoft JhengHei"/>
                <a:cs typeface="Microsoft JhengHei"/>
                <a:sym typeface="Microsoft JhengHei"/>
              </a:rPr>
              <a:t>2</a:t>
            </a:r>
            <a:endParaRPr sz="2800" b="0" i="0" u="none" strike="noStrike" cap="none" dirty="0">
              <a:solidFill>
                <a:srgbClr val="FFFFFF"/>
              </a:solidFill>
              <a:latin typeface="Microsoft JhengHei"/>
              <a:ea typeface="Microsoft JhengHei"/>
              <a:cs typeface="Microsoft JhengHei"/>
              <a:sym typeface="Microsoft JhengHei"/>
            </a:endParaRPr>
          </a:p>
        </p:txBody>
      </p:sp>
      <p:graphicFrame>
        <p:nvGraphicFramePr>
          <p:cNvPr id="258" name="Google Shape;258;p25"/>
          <p:cNvGraphicFramePr/>
          <p:nvPr/>
        </p:nvGraphicFramePr>
        <p:xfrm>
          <a:off x="298393" y="6487160"/>
          <a:ext cx="11096375" cy="370850"/>
        </p:xfrm>
        <a:graphic>
          <a:graphicData uri="http://schemas.openxmlformats.org/drawingml/2006/table">
            <a:tbl>
              <a:tblPr firstRow="1" bandRow="1">
                <a:noFill/>
                <a:tableStyleId>{72FCF9FF-86DD-4F90-83C7-D16C962093AE}</a:tableStyleId>
              </a:tblPr>
              <a:tblGrid>
                <a:gridCol w="11096375">
                  <a:extLst>
                    <a:ext uri="{9D8B030D-6E8A-4147-A177-3AD203B41FA5}">
                      <a16:colId xmlns:a16="http://schemas.microsoft.com/office/drawing/2014/main" val="20000"/>
                    </a:ext>
                  </a:extLst>
                </a:gridCol>
              </a:tblGrid>
              <a:tr h="370850">
                <a:tc>
                  <a:txBody>
                    <a:bodyPr/>
                    <a:lstStyle/>
                    <a:p>
                      <a:pPr marL="0" marR="0" lvl="0" indent="0" algn="ctr" rtl="0">
                        <a:lnSpc>
                          <a:spcPct val="150000"/>
                        </a:lnSpc>
                        <a:spcBef>
                          <a:spcPts val="0"/>
                        </a:spcBef>
                        <a:spcAft>
                          <a:spcPts val="0"/>
                        </a:spcAft>
                        <a:buClr>
                          <a:srgbClr val="BFBFBF"/>
                        </a:buClr>
                        <a:buSzPts val="700"/>
                        <a:buFont typeface="Malgun Gothic"/>
                        <a:buNone/>
                      </a:pPr>
                      <a:r>
                        <a:rPr lang="zh-TW" sz="700" b="0" i="0" u="none" strike="noStrike" cap="none" dirty="0">
                          <a:solidFill>
                            <a:srgbClr val="BFBFBF"/>
                          </a:solidFill>
                          <a:latin typeface="Malgun Gothic"/>
                          <a:ea typeface="Malgun Gothic"/>
                          <a:cs typeface="Malgun Gothic"/>
                          <a:sym typeface="Malgun Gothic"/>
                        </a:rPr>
                        <a:t>Enjoy your stylish business and campus life with BIZCAM</a:t>
                      </a:r>
                      <a:endParaRPr sz="4800" b="0" i="0" u="none" strike="noStrike" cap="none" dirty="0">
                        <a:solidFill>
                          <a:srgbClr val="BFBFBF"/>
                        </a:solidFill>
                        <a:latin typeface="Malgun Gothic"/>
                        <a:ea typeface="Malgun Gothic"/>
                        <a:cs typeface="Malgun Gothic"/>
                        <a:sym typeface="Malgun Gothic"/>
                      </a:endParaRPr>
                    </a:p>
                  </a:txBody>
                  <a:tcPr marL="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cxnSp>
        <p:nvCxnSpPr>
          <p:cNvPr id="260" name="Google Shape;260;p25"/>
          <p:cNvCxnSpPr/>
          <p:nvPr/>
        </p:nvCxnSpPr>
        <p:spPr>
          <a:xfrm>
            <a:off x="157389" y="1274020"/>
            <a:ext cx="1224000" cy="0"/>
          </a:xfrm>
          <a:prstGeom prst="straightConnector1">
            <a:avLst/>
          </a:prstGeom>
          <a:noFill/>
          <a:ln w="15875" cap="rnd" cmpd="sng">
            <a:solidFill>
              <a:srgbClr val="21BFCA"/>
            </a:solidFill>
            <a:prstDash val="solid"/>
            <a:round/>
            <a:headEnd type="none" w="sm" len="sm"/>
            <a:tailEnd type="none" w="sm" len="sm"/>
          </a:ln>
        </p:spPr>
      </p:cxnSp>
      <p:sp>
        <p:nvSpPr>
          <p:cNvPr id="261" name="Google Shape;261;p25"/>
          <p:cNvSpPr/>
          <p:nvPr/>
        </p:nvSpPr>
        <p:spPr>
          <a:xfrm>
            <a:off x="158593" y="812355"/>
            <a:ext cx="540600" cy="461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zh-TW" sz="2400" b="1" i="1" u="none" strike="noStrike" cap="none" dirty="0">
                <a:solidFill>
                  <a:srgbClr val="21BFCA"/>
                </a:solidFill>
                <a:latin typeface="Malgun Gothic"/>
                <a:ea typeface="Malgun Gothic"/>
                <a:cs typeface="Malgun Gothic"/>
                <a:sym typeface="Malgun Gothic"/>
              </a:rPr>
              <a:t>0</a:t>
            </a:r>
            <a:r>
              <a:rPr lang="en-US" altLang="zh-TW" sz="2400" b="1" i="1" dirty="0">
                <a:solidFill>
                  <a:srgbClr val="21BFCA"/>
                </a:solidFill>
                <a:latin typeface="Malgun Gothic"/>
                <a:ea typeface="Malgun Gothic"/>
                <a:cs typeface="Malgun Gothic"/>
                <a:sym typeface="Malgun Gothic"/>
              </a:rPr>
              <a:t>3</a:t>
            </a:r>
            <a:endParaRPr sz="2400" b="0" i="0" u="none" strike="noStrike" cap="none" dirty="0">
              <a:solidFill>
                <a:srgbClr val="21BFCA"/>
              </a:solidFill>
              <a:latin typeface="Malgun Gothic"/>
              <a:ea typeface="Malgun Gothic"/>
              <a:cs typeface="Malgun Gothic"/>
              <a:sym typeface="Malgun Gothic"/>
            </a:endParaRPr>
          </a:p>
        </p:txBody>
      </p:sp>
      <p:sp>
        <p:nvSpPr>
          <p:cNvPr id="262" name="Google Shape;262;p25"/>
          <p:cNvSpPr/>
          <p:nvPr/>
        </p:nvSpPr>
        <p:spPr>
          <a:xfrm>
            <a:off x="1944773" y="1377633"/>
            <a:ext cx="14062132" cy="503878"/>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64" name="Google Shape;264;p25"/>
          <p:cNvSpPr/>
          <p:nvPr/>
        </p:nvSpPr>
        <p:spPr>
          <a:xfrm>
            <a:off x="3116722" y="1377633"/>
            <a:ext cx="13023873" cy="478286"/>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aphicFrame>
        <p:nvGraphicFramePr>
          <p:cNvPr id="14" name="Google Shape;218;gdbcf297a5f_0_0"/>
          <p:cNvGraphicFramePr/>
          <p:nvPr>
            <p:extLst>
              <p:ext uri="{D42A27DB-BD31-4B8C-83A1-F6EECF244321}">
                <p14:modId xmlns:p14="http://schemas.microsoft.com/office/powerpoint/2010/main" val="746256358"/>
              </p:ext>
            </p:extLst>
          </p:nvPr>
        </p:nvGraphicFramePr>
        <p:xfrm>
          <a:off x="298393" y="6487160"/>
          <a:ext cx="11096375" cy="371930"/>
        </p:xfrm>
        <a:graphic>
          <a:graphicData uri="http://schemas.openxmlformats.org/drawingml/2006/table">
            <a:tbl>
              <a:tblPr firstRow="1" bandRow="1">
                <a:noFill/>
                <a:tableStyleId>{72FCF9FF-86DD-4F90-83C7-D16C962093AE}</a:tableStyleId>
              </a:tblPr>
              <a:tblGrid>
                <a:gridCol w="11096375">
                  <a:extLst>
                    <a:ext uri="{9D8B030D-6E8A-4147-A177-3AD203B41FA5}">
                      <a16:colId xmlns:a16="http://schemas.microsoft.com/office/drawing/2014/main" val="20000"/>
                    </a:ext>
                  </a:extLst>
                </a:gridCol>
              </a:tblGrid>
              <a:tr h="370850">
                <a:tc>
                  <a:txBody>
                    <a:bodyPr/>
                    <a:lstStyle/>
                    <a:p>
                      <a:pPr marL="0" marR="0" lvl="0" indent="0" algn="ctr" rtl="0">
                        <a:lnSpc>
                          <a:spcPct val="150000"/>
                        </a:lnSpc>
                        <a:spcBef>
                          <a:spcPts val="0"/>
                        </a:spcBef>
                        <a:spcAft>
                          <a:spcPts val="0"/>
                        </a:spcAft>
                        <a:buClr>
                          <a:srgbClr val="BFBFBF"/>
                        </a:buClr>
                        <a:buSzPts val="700"/>
                        <a:buFont typeface="Malgun Gothic"/>
                        <a:buNone/>
                      </a:pPr>
                      <a:r>
                        <a:rPr lang="en-US" sz="1400" b="0" i="0" u="none" strike="noStrike" cap="none" dirty="0">
                          <a:solidFill>
                            <a:schemeClr val="bg1"/>
                          </a:solidFill>
                          <a:latin typeface="Cambria Math" panose="02040503050406030204" pitchFamily="18" charset="0"/>
                          <a:ea typeface="Cambria Math" panose="02040503050406030204" pitchFamily="18" charset="0"/>
                          <a:cs typeface="Malgun Gothic"/>
                          <a:sym typeface="Malgun Gothic"/>
                        </a:rPr>
                        <a:t>1</a:t>
                      </a:r>
                      <a:r>
                        <a:rPr lang="en-US" altLang="zh-TW" sz="1400" b="0" i="0" u="none" strike="noStrike" cap="none" dirty="0">
                          <a:solidFill>
                            <a:schemeClr val="bg1"/>
                          </a:solidFill>
                          <a:latin typeface="Cambria Math" panose="02040503050406030204" pitchFamily="18" charset="0"/>
                          <a:ea typeface="Cambria Math" panose="02040503050406030204" pitchFamily="18" charset="0"/>
                          <a:cs typeface="Malgun Gothic"/>
                          <a:sym typeface="Malgun Gothic"/>
                        </a:rPr>
                        <a:t>7</a:t>
                      </a:r>
                      <a:endParaRPr sz="1400" b="0" i="0" u="none" strike="noStrike" cap="none" dirty="0">
                        <a:solidFill>
                          <a:schemeClr val="bg1"/>
                        </a:solidFill>
                        <a:latin typeface="Cambria Math" panose="02040503050406030204" pitchFamily="18" charset="0"/>
                        <a:ea typeface="Cambria Math" panose="02040503050406030204" pitchFamily="18" charset="0"/>
                        <a:cs typeface="Malgun Gothic"/>
                        <a:sym typeface="Malgun Gothic"/>
                      </a:endParaRPr>
                    </a:p>
                  </a:txBody>
                  <a:tcPr marL="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2" name="圖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42091" y="1697192"/>
            <a:ext cx="9165064" cy="4597110"/>
          </a:xfrm>
          <a:prstGeom prst="rect">
            <a:avLst/>
          </a:prstGeom>
        </p:spPr>
      </p:pic>
      <p:sp>
        <p:nvSpPr>
          <p:cNvPr id="15" name="Google Shape;263;p25"/>
          <p:cNvSpPr txBox="1"/>
          <p:nvPr/>
        </p:nvSpPr>
        <p:spPr>
          <a:xfrm>
            <a:off x="1381389" y="1274020"/>
            <a:ext cx="3521351" cy="8463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600"/>
              </a:spcAft>
              <a:buNone/>
            </a:pPr>
            <a:r>
              <a:rPr lang="en-US" altLang="zh-TW" sz="2400" b="1" dirty="0">
                <a:solidFill>
                  <a:srgbClr val="1E4E79"/>
                </a:solidFill>
                <a:latin typeface="Microsoft JhengHei"/>
                <a:ea typeface="Microsoft JhengHei"/>
                <a:cs typeface="Microsoft JhengHei"/>
                <a:sym typeface="Microsoft JhengHei"/>
              </a:rPr>
              <a:t>Tree Model 2</a:t>
            </a:r>
            <a:r>
              <a:rPr lang="zh-TW" altLang="en-US" sz="2400" b="1" dirty="0">
                <a:solidFill>
                  <a:srgbClr val="1E4E79"/>
                </a:solidFill>
                <a:latin typeface="Microsoft JhengHei"/>
                <a:ea typeface="Microsoft JhengHei"/>
                <a:cs typeface="Microsoft JhengHei"/>
                <a:sym typeface="Microsoft JhengHei"/>
              </a:rPr>
              <a:t> 右邊分支</a:t>
            </a:r>
            <a:endParaRPr lang="en-US" altLang="zh-TW" sz="2400" b="1" i="0" u="none" strike="noStrike" cap="none" dirty="0">
              <a:solidFill>
                <a:srgbClr val="1E4E79"/>
              </a:solidFill>
              <a:latin typeface="Microsoft JhengHei"/>
              <a:ea typeface="Microsoft JhengHei"/>
              <a:cs typeface="Microsoft JhengHei"/>
              <a:sym typeface="Microsoft JhengHei"/>
            </a:endParaRPr>
          </a:p>
          <a:p>
            <a:pPr marL="0" marR="0" lvl="0" indent="0" algn="l" rtl="0">
              <a:lnSpc>
                <a:spcPct val="100000"/>
              </a:lnSpc>
              <a:spcBef>
                <a:spcPts val="0"/>
              </a:spcBef>
              <a:spcAft>
                <a:spcPts val="0"/>
              </a:spcAft>
              <a:buNone/>
            </a:pPr>
            <a:endParaRPr sz="2000" b="0" i="0" u="none" strike="noStrike" cap="none" dirty="0">
              <a:solidFill>
                <a:srgbClr val="002060"/>
              </a:solidFill>
              <a:latin typeface="Microsoft JhengHei"/>
              <a:ea typeface="Microsoft JhengHei"/>
              <a:cs typeface="Microsoft JhengHei"/>
              <a:sym typeface="Microsoft JhengHei"/>
            </a:endParaRPr>
          </a:p>
        </p:txBody>
      </p:sp>
    </p:spTree>
    <p:extLst>
      <p:ext uri="{BB962C8B-B14F-4D97-AF65-F5344CB8AC3E}">
        <p14:creationId xmlns:p14="http://schemas.microsoft.com/office/powerpoint/2010/main" val="29383632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gded498c5cf_0_0"/>
          <p:cNvSpPr/>
          <p:nvPr/>
        </p:nvSpPr>
        <p:spPr>
          <a:xfrm>
            <a:off x="1848142" y="329912"/>
            <a:ext cx="3194100" cy="387300"/>
          </a:xfrm>
          <a:prstGeom prst="parallelogram">
            <a:avLst>
              <a:gd name="adj" fmla="val 69898"/>
            </a:avLst>
          </a:prstGeom>
          <a:solidFill>
            <a:srgbClr val="21BFCA"/>
          </a:solidFill>
          <a:ln w="161925" cap="sq" cmpd="sng">
            <a:solidFill>
              <a:srgbClr val="1E868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271" name="Google Shape;271;gded498c5cf_0_0"/>
          <p:cNvSpPr/>
          <p:nvPr/>
        </p:nvSpPr>
        <p:spPr>
          <a:xfrm>
            <a:off x="1833992" y="329256"/>
            <a:ext cx="3194100" cy="387300"/>
          </a:xfrm>
          <a:prstGeom prst="parallelogram">
            <a:avLst>
              <a:gd name="adj" fmla="val 69898"/>
            </a:avLst>
          </a:prstGeom>
          <a:solidFill>
            <a:srgbClr val="21BFCA"/>
          </a:solidFill>
          <a:ln w="161925" cap="sq" cmpd="sng">
            <a:solidFill>
              <a:srgbClr val="21BFC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272" name="Google Shape;272;gded498c5cf_0_0"/>
          <p:cNvSpPr/>
          <p:nvPr/>
        </p:nvSpPr>
        <p:spPr>
          <a:xfrm>
            <a:off x="4581237" y="329912"/>
            <a:ext cx="7524900" cy="387300"/>
          </a:xfrm>
          <a:prstGeom prst="parallelogram">
            <a:avLst>
              <a:gd name="adj" fmla="val 0"/>
            </a:avLst>
          </a:prstGeom>
          <a:solidFill>
            <a:srgbClr val="21BFCA"/>
          </a:solidFill>
          <a:ln w="161925" cap="sq" cmpd="sng">
            <a:solidFill>
              <a:srgbClr val="21BFC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273" name="Google Shape;273;gded498c5cf_0_0"/>
          <p:cNvSpPr/>
          <p:nvPr/>
        </p:nvSpPr>
        <p:spPr>
          <a:xfrm>
            <a:off x="2066647" y="271786"/>
            <a:ext cx="6678600" cy="523200"/>
          </a:xfrm>
          <a:prstGeom prst="rect">
            <a:avLst/>
          </a:prstGeom>
          <a:noFill/>
          <a:ln>
            <a:noFill/>
          </a:ln>
        </p:spPr>
        <p:txBody>
          <a:bodyPr spcFirstLastPara="1" wrap="square" lIns="91425" tIns="45700" rIns="91425" bIns="45700" anchor="t" anchorCtr="0">
            <a:noAutofit/>
          </a:bodyPr>
          <a:lstStyle/>
          <a:p>
            <a:r>
              <a:rPr lang="en-US" altLang="zh-TW" sz="2800" dirty="0">
                <a:solidFill>
                  <a:srgbClr val="FFFFFF"/>
                </a:solidFill>
                <a:latin typeface="Microsoft JhengHei"/>
                <a:ea typeface="Microsoft JhengHei"/>
                <a:cs typeface="Microsoft JhengHei"/>
                <a:sym typeface="Microsoft JhengHei"/>
              </a:rPr>
              <a:t>Tree Model </a:t>
            </a:r>
            <a:r>
              <a:rPr lang="zh-TW" altLang="en-US" sz="2800" dirty="0">
                <a:solidFill>
                  <a:srgbClr val="FFFFFF"/>
                </a:solidFill>
                <a:latin typeface="Microsoft JhengHei"/>
                <a:ea typeface="Microsoft JhengHei"/>
                <a:cs typeface="Microsoft JhengHei"/>
                <a:sym typeface="Microsoft JhengHei"/>
              </a:rPr>
              <a:t>條件統整</a:t>
            </a:r>
            <a:endParaRPr lang="en-US" altLang="zh-TW" sz="2800" dirty="0">
              <a:solidFill>
                <a:srgbClr val="FFFFFF"/>
              </a:solidFill>
              <a:latin typeface="Microsoft JhengHei"/>
              <a:ea typeface="Microsoft JhengHei"/>
              <a:cs typeface="Microsoft JhengHei"/>
              <a:sym typeface="Microsoft JhengHei"/>
            </a:endParaRPr>
          </a:p>
          <a:p>
            <a:pPr marL="0" marR="0" lvl="0" indent="0" algn="l" rtl="0">
              <a:lnSpc>
                <a:spcPct val="100000"/>
              </a:lnSpc>
              <a:spcBef>
                <a:spcPts val="0"/>
              </a:spcBef>
              <a:spcAft>
                <a:spcPts val="0"/>
              </a:spcAft>
              <a:buNone/>
            </a:pPr>
            <a:endParaRPr sz="2800" b="0" i="0" u="none" strike="noStrike" cap="none" dirty="0">
              <a:solidFill>
                <a:srgbClr val="FFFFFF"/>
              </a:solidFill>
              <a:latin typeface="Microsoft JhengHei"/>
              <a:ea typeface="Microsoft JhengHei"/>
              <a:cs typeface="Microsoft JhengHei"/>
              <a:sym typeface="Microsoft JhengHei"/>
            </a:endParaRPr>
          </a:p>
        </p:txBody>
      </p:sp>
      <p:cxnSp>
        <p:nvCxnSpPr>
          <p:cNvPr id="274" name="Google Shape;274;gded498c5cf_0_0"/>
          <p:cNvCxnSpPr/>
          <p:nvPr/>
        </p:nvCxnSpPr>
        <p:spPr>
          <a:xfrm>
            <a:off x="157389" y="1269734"/>
            <a:ext cx="1224000" cy="0"/>
          </a:xfrm>
          <a:prstGeom prst="straightConnector1">
            <a:avLst/>
          </a:prstGeom>
          <a:noFill/>
          <a:ln w="15875" cap="rnd" cmpd="sng">
            <a:solidFill>
              <a:srgbClr val="21BFCA"/>
            </a:solidFill>
            <a:prstDash val="solid"/>
            <a:round/>
            <a:headEnd type="none" w="sm" len="sm"/>
            <a:tailEnd type="none" w="sm" len="sm"/>
          </a:ln>
        </p:spPr>
      </p:cxnSp>
      <p:graphicFrame>
        <p:nvGraphicFramePr>
          <p:cNvPr id="275" name="Google Shape;275;gded498c5cf_0_0"/>
          <p:cNvGraphicFramePr/>
          <p:nvPr>
            <p:extLst>
              <p:ext uri="{D42A27DB-BD31-4B8C-83A1-F6EECF244321}">
                <p14:modId xmlns:p14="http://schemas.microsoft.com/office/powerpoint/2010/main" val="1673898740"/>
              </p:ext>
            </p:extLst>
          </p:nvPr>
        </p:nvGraphicFramePr>
        <p:xfrm>
          <a:off x="298393" y="6487160"/>
          <a:ext cx="11096375" cy="371930"/>
        </p:xfrm>
        <a:graphic>
          <a:graphicData uri="http://schemas.openxmlformats.org/drawingml/2006/table">
            <a:tbl>
              <a:tblPr firstRow="1" bandRow="1">
                <a:noFill/>
                <a:tableStyleId>{72FCF9FF-86DD-4F90-83C7-D16C962093AE}</a:tableStyleId>
              </a:tblPr>
              <a:tblGrid>
                <a:gridCol w="11096375">
                  <a:extLst>
                    <a:ext uri="{9D8B030D-6E8A-4147-A177-3AD203B41FA5}">
                      <a16:colId xmlns:a16="http://schemas.microsoft.com/office/drawing/2014/main" val="20000"/>
                    </a:ext>
                  </a:extLst>
                </a:gridCol>
              </a:tblGrid>
              <a:tr h="370850">
                <a:tc>
                  <a:txBody>
                    <a:bodyPr/>
                    <a:lstStyle/>
                    <a:p>
                      <a:pPr marL="0" marR="0" lvl="0" indent="0" algn="ctr" rtl="0">
                        <a:lnSpc>
                          <a:spcPct val="150000"/>
                        </a:lnSpc>
                        <a:spcBef>
                          <a:spcPts val="0"/>
                        </a:spcBef>
                        <a:spcAft>
                          <a:spcPts val="0"/>
                        </a:spcAft>
                        <a:buClr>
                          <a:srgbClr val="BFBFBF"/>
                        </a:buClr>
                        <a:buSzPts val="700"/>
                        <a:buFont typeface="Malgun Gothic"/>
                        <a:buNone/>
                      </a:pPr>
                      <a:r>
                        <a:rPr lang="en-US" altLang="zh-TW" sz="1400" b="0" i="0" u="none" strike="noStrike" cap="none" dirty="0">
                          <a:solidFill>
                            <a:schemeClr val="bg1"/>
                          </a:solidFill>
                          <a:latin typeface="Cambria Math" panose="02040503050406030204" pitchFamily="18" charset="0"/>
                          <a:ea typeface="Cambria Math" panose="02040503050406030204" pitchFamily="18" charset="0"/>
                          <a:cs typeface="Malgun Gothic"/>
                          <a:sym typeface="Malgun Gothic"/>
                        </a:rPr>
                        <a:t>18</a:t>
                      </a:r>
                      <a:endParaRPr sz="1400" b="0" i="0" u="none" strike="noStrike" cap="none" dirty="0">
                        <a:solidFill>
                          <a:schemeClr val="bg1"/>
                        </a:solidFill>
                        <a:latin typeface="Cambria Math" panose="02040503050406030204" pitchFamily="18" charset="0"/>
                        <a:ea typeface="Cambria Math" panose="02040503050406030204" pitchFamily="18" charset="0"/>
                        <a:cs typeface="Malgun Gothic"/>
                        <a:sym typeface="Malgun Gothic"/>
                      </a:endParaRPr>
                    </a:p>
                  </a:txBody>
                  <a:tcPr marL="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76" name="Google Shape;276;gded498c5cf_0_0"/>
          <p:cNvSpPr/>
          <p:nvPr/>
        </p:nvSpPr>
        <p:spPr>
          <a:xfrm>
            <a:off x="158593" y="808069"/>
            <a:ext cx="540600" cy="461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zh-TW" sz="2400" b="1" i="1" u="none" strike="noStrike" cap="none" dirty="0">
                <a:solidFill>
                  <a:srgbClr val="21BFCA"/>
                </a:solidFill>
                <a:latin typeface="Malgun Gothic"/>
                <a:ea typeface="Malgun Gothic"/>
                <a:cs typeface="Malgun Gothic"/>
                <a:sym typeface="Malgun Gothic"/>
              </a:rPr>
              <a:t>0</a:t>
            </a:r>
            <a:r>
              <a:rPr lang="en-US" altLang="zh-TW" sz="2400" b="1" i="1" dirty="0">
                <a:solidFill>
                  <a:srgbClr val="21BFCA"/>
                </a:solidFill>
                <a:latin typeface="Malgun Gothic"/>
                <a:ea typeface="Malgun Gothic"/>
                <a:cs typeface="Malgun Gothic"/>
                <a:sym typeface="Malgun Gothic"/>
              </a:rPr>
              <a:t>3</a:t>
            </a:r>
            <a:endParaRPr sz="2400" b="0" i="0" u="none" strike="noStrike" cap="none" dirty="0">
              <a:solidFill>
                <a:srgbClr val="21BFCA"/>
              </a:solidFill>
              <a:latin typeface="Malgun Gothic"/>
              <a:ea typeface="Malgun Gothic"/>
              <a:cs typeface="Malgun Gothic"/>
              <a:sym typeface="Malgun Gothic"/>
            </a:endParaRPr>
          </a:p>
        </p:txBody>
      </p:sp>
      <p:sp>
        <p:nvSpPr>
          <p:cNvPr id="11" name="Google Shape;278;gded498c5cf_0_0"/>
          <p:cNvSpPr txBox="1"/>
          <p:nvPr/>
        </p:nvSpPr>
        <p:spPr>
          <a:xfrm>
            <a:off x="1381389" y="852456"/>
            <a:ext cx="10419600" cy="3847177"/>
          </a:xfrm>
          <a:prstGeom prst="rect">
            <a:avLst/>
          </a:prstGeom>
          <a:noFill/>
          <a:ln>
            <a:noFill/>
          </a:ln>
        </p:spPr>
        <p:txBody>
          <a:bodyPr spcFirstLastPara="1" wrap="square" lIns="91425" tIns="91425" rIns="91425" bIns="91425" anchor="t" anchorCtr="0">
            <a:spAutoFit/>
          </a:bodyPr>
          <a:lstStyle/>
          <a:p>
            <a:pPr marL="425450" lvl="0" indent="-285750">
              <a:spcAft>
                <a:spcPts val="600"/>
              </a:spcAft>
              <a:buSzPts val="1400"/>
              <a:buFont typeface="Wingdings" panose="05000000000000000000" pitchFamily="2" charset="2"/>
              <a:buChar char="ü"/>
            </a:pPr>
            <a:r>
              <a:rPr lang="zh-TW" altLang="en-US" sz="1600" dirty="0">
                <a:latin typeface="微軟正黑體" panose="020B0604030504040204" pitchFamily="34" charset="-120"/>
                <a:ea typeface="微軟正黑體" panose="020B0604030504040204" pitchFamily="34" charset="-120"/>
                <a:cs typeface="Malgun Gothic"/>
                <a:sym typeface="Malgun Gothic"/>
              </a:rPr>
              <a:t>條件 </a:t>
            </a:r>
            <a:r>
              <a:rPr lang="en-US" altLang="zh-TW" sz="1600" dirty="0">
                <a:latin typeface="微軟正黑體" panose="020B0604030504040204" pitchFamily="34" charset="-120"/>
                <a:ea typeface="微軟正黑體" panose="020B0604030504040204" pitchFamily="34" charset="-120"/>
                <a:cs typeface="Malgun Gothic"/>
                <a:sym typeface="Malgun Gothic"/>
              </a:rPr>
              <a:t>1</a:t>
            </a:r>
            <a:endParaRPr lang="zh-TW" altLang="en-US" sz="1600" dirty="0">
              <a:latin typeface="微軟正黑體" panose="020B0604030504040204" pitchFamily="34" charset="-120"/>
              <a:ea typeface="微軟正黑體" panose="020B0604030504040204" pitchFamily="34" charset="-120"/>
              <a:cs typeface="Malgun Gothic"/>
              <a:sym typeface="Malgun Gothic"/>
            </a:endParaRPr>
          </a:p>
          <a:p>
            <a:pPr lvl="0">
              <a:spcAft>
                <a:spcPts val="600"/>
              </a:spcAft>
            </a:pPr>
            <a:r>
              <a:rPr lang="zh-TW" altLang="en-US" dirty="0">
                <a:solidFill>
                  <a:schemeClr val="dk1"/>
                </a:solidFill>
                <a:latin typeface="微軟正黑體" panose="020B0604030504040204" pitchFamily="34" charset="-120"/>
                <a:ea typeface="微軟正黑體" panose="020B0604030504040204" pitchFamily="34" charset="-120"/>
                <a:cs typeface="Malgun Gothic"/>
                <a:sym typeface="Malgun Gothic"/>
              </a:rPr>
              <a:t>過往沒有不當行為</a:t>
            </a:r>
            <a:r>
              <a:rPr lang="en-US" altLang="zh-TW" dirty="0">
                <a:latin typeface="微軟正黑體" panose="020B0604030504040204" pitchFamily="34" charset="-120"/>
                <a:ea typeface="微軟正黑體" panose="020B0604030504040204" pitchFamily="34" charset="-120"/>
                <a:cs typeface="Malgun Gothic"/>
                <a:sym typeface="Malgun Gothic"/>
              </a:rPr>
              <a:t>, </a:t>
            </a:r>
            <a:r>
              <a:rPr lang="zh-TW" altLang="en-US" dirty="0">
                <a:latin typeface="微軟正黑體" panose="020B0604030504040204" pitchFamily="34" charset="-120"/>
                <a:ea typeface="微軟正黑體" panose="020B0604030504040204" pitchFamily="34" charset="-120"/>
                <a:cs typeface="Malgun Gothic"/>
                <a:sym typeface="Malgun Gothic"/>
              </a:rPr>
              <a:t>近</a:t>
            </a:r>
            <a:r>
              <a:rPr lang="en-US" altLang="zh-TW" dirty="0">
                <a:latin typeface="微軟正黑體" panose="020B0604030504040204" pitchFamily="34" charset="-120"/>
                <a:ea typeface="微軟正黑體" panose="020B0604030504040204" pitchFamily="34" charset="-120"/>
                <a:cs typeface="Malgun Gothic"/>
                <a:sym typeface="Malgun Gothic"/>
              </a:rPr>
              <a:t>3</a:t>
            </a:r>
            <a:r>
              <a:rPr lang="zh-TW" altLang="en-US" dirty="0">
                <a:latin typeface="微軟正黑體" panose="020B0604030504040204" pitchFamily="34" charset="-120"/>
                <a:ea typeface="微軟正黑體" panose="020B0604030504040204" pitchFamily="34" charset="-120"/>
                <a:cs typeface="Malgun Gothic"/>
                <a:sym typeface="Malgun Gothic"/>
              </a:rPr>
              <a:t>個月保單失效比例 </a:t>
            </a:r>
            <a:r>
              <a:rPr lang="en-US" altLang="zh-TW" dirty="0">
                <a:latin typeface="微軟正黑體" panose="020B0604030504040204" pitchFamily="34" charset="-120"/>
                <a:ea typeface="微軟正黑體" panose="020B0604030504040204" pitchFamily="34" charset="-120"/>
                <a:cs typeface="Malgun Gothic"/>
                <a:sym typeface="Malgun Gothic"/>
              </a:rPr>
              <a:t>&gt; 0.4%, Total AUM &lt; 122202, </a:t>
            </a:r>
            <a:r>
              <a:rPr lang="zh-TW" altLang="en-US" dirty="0">
                <a:latin typeface="微軟正黑體" panose="020B0604030504040204" pitchFamily="34" charset="-120"/>
                <a:ea typeface="微軟正黑體" panose="020B0604030504040204" pitchFamily="34" charset="-120"/>
                <a:cs typeface="Malgun Gothic"/>
                <a:sym typeface="Malgun Gothic"/>
              </a:rPr>
              <a:t>總保費 </a:t>
            </a:r>
            <a:r>
              <a:rPr lang="en-US" altLang="zh-TW" dirty="0">
                <a:latin typeface="微軟正黑體" panose="020B0604030504040204" pitchFamily="34" charset="-120"/>
                <a:ea typeface="微軟正黑體" panose="020B0604030504040204" pitchFamily="34" charset="-120"/>
                <a:cs typeface="Malgun Gothic"/>
                <a:sym typeface="Malgun Gothic"/>
              </a:rPr>
              <a:t>&gt; 3542275.5</a:t>
            </a:r>
            <a:r>
              <a:rPr lang="zh-TW" altLang="en-US" dirty="0">
                <a:latin typeface="微軟正黑體" panose="020B0604030504040204" pitchFamily="34" charset="-120"/>
                <a:ea typeface="微軟正黑體" panose="020B0604030504040204" pitchFamily="34" charset="-120"/>
                <a:cs typeface="Malgun Gothic"/>
                <a:sym typeface="Malgun Gothic"/>
              </a:rPr>
              <a:t> </a:t>
            </a:r>
          </a:p>
          <a:p>
            <a:pPr marL="425450" lvl="0" indent="-285750">
              <a:spcAft>
                <a:spcPts val="600"/>
              </a:spcAft>
              <a:buSzPts val="1400"/>
              <a:buFont typeface="Wingdings" panose="05000000000000000000" pitchFamily="2" charset="2"/>
              <a:buChar char="ü"/>
            </a:pPr>
            <a:r>
              <a:rPr lang="zh-TW" altLang="en-US" sz="1600" dirty="0">
                <a:latin typeface="微軟正黑體" panose="020B0604030504040204" pitchFamily="34" charset="-120"/>
                <a:ea typeface="微軟正黑體" panose="020B0604030504040204" pitchFamily="34" charset="-120"/>
                <a:cs typeface="Malgun Gothic"/>
                <a:sym typeface="Malgun Gothic"/>
              </a:rPr>
              <a:t>條件 </a:t>
            </a:r>
            <a:r>
              <a:rPr lang="en-US" altLang="zh-TW" sz="1600" dirty="0">
                <a:latin typeface="微軟正黑體" panose="020B0604030504040204" pitchFamily="34" charset="-120"/>
                <a:ea typeface="微軟正黑體" panose="020B0604030504040204" pitchFamily="34" charset="-120"/>
                <a:cs typeface="Malgun Gothic"/>
                <a:sym typeface="Malgun Gothic"/>
              </a:rPr>
              <a:t>2</a:t>
            </a:r>
            <a:endParaRPr lang="zh-TW" altLang="en-US" sz="1600" dirty="0">
              <a:latin typeface="微軟正黑體" panose="020B0604030504040204" pitchFamily="34" charset="-120"/>
              <a:ea typeface="微軟正黑體" panose="020B0604030504040204" pitchFamily="34" charset="-120"/>
              <a:cs typeface="Malgun Gothic"/>
              <a:sym typeface="Malgun Gothic"/>
            </a:endParaRPr>
          </a:p>
          <a:p>
            <a:pPr lvl="0">
              <a:spcAft>
                <a:spcPts val="600"/>
              </a:spcAft>
            </a:pPr>
            <a:r>
              <a:rPr lang="zh-TW" altLang="en-US" dirty="0">
                <a:solidFill>
                  <a:schemeClr val="dk1"/>
                </a:solidFill>
                <a:latin typeface="微軟正黑體" panose="020B0604030504040204" pitchFamily="34" charset="-120"/>
                <a:ea typeface="微軟正黑體" panose="020B0604030504040204" pitchFamily="34" charset="-120"/>
              </a:rPr>
              <a:t>過往有不當行為</a:t>
            </a:r>
            <a:r>
              <a:rPr lang="zh-TW" altLang="en-US" dirty="0">
                <a:latin typeface="微軟正黑體" panose="020B0604030504040204" pitchFamily="34" charset="-120"/>
                <a:ea typeface="微軟正黑體" panose="020B0604030504040204" pitchFamily="34" charset="-120"/>
                <a:cs typeface="Malgun Gothic"/>
                <a:sym typeface="Malgun Gothic"/>
              </a:rPr>
              <a:t>→</a:t>
            </a:r>
            <a:r>
              <a:rPr lang="zh-TW" altLang="en-US" dirty="0">
                <a:solidFill>
                  <a:schemeClr val="dk1"/>
                </a:solidFill>
                <a:latin typeface="微軟正黑體" panose="020B0604030504040204" pitchFamily="34" charset="-120"/>
                <a:ea typeface="微軟正黑體" panose="020B0604030504040204" pitchFamily="34" charset="-120"/>
              </a:rPr>
              <a:t>過往舞弊行為</a:t>
            </a:r>
            <a:r>
              <a:rPr lang="en-US" altLang="zh-TW" dirty="0" err="1">
                <a:solidFill>
                  <a:schemeClr val="dk1"/>
                </a:solidFill>
                <a:latin typeface="微軟正黑體" panose="020B0604030504040204" pitchFamily="34" charset="-120"/>
                <a:ea typeface="微軟正黑體" panose="020B0604030504040204" pitchFamily="34" charset="-120"/>
              </a:rPr>
              <a:t>Recency</a:t>
            </a:r>
            <a:r>
              <a:rPr lang="en-US" altLang="zh-TW" dirty="0">
                <a:solidFill>
                  <a:schemeClr val="dk1"/>
                </a:solidFill>
                <a:latin typeface="微軟正黑體" panose="020B0604030504040204" pitchFamily="34" charset="-120"/>
                <a:ea typeface="微軟正黑體" panose="020B0604030504040204" pitchFamily="34" charset="-120"/>
              </a:rPr>
              <a:t> </a:t>
            </a:r>
            <a:r>
              <a:rPr lang="zh-TW" altLang="en-US" dirty="0">
                <a:latin typeface="微軟正黑體" panose="020B0604030504040204" pitchFamily="34" charset="-120"/>
                <a:ea typeface="微軟正黑體" panose="020B0604030504040204" pitchFamily="34" charset="-120"/>
                <a:cs typeface="Malgun Gothic"/>
                <a:sym typeface="Malgun Gothic"/>
              </a:rPr>
              <a:t> </a:t>
            </a:r>
            <a:r>
              <a:rPr lang="en-US" altLang="zh-TW" dirty="0">
                <a:latin typeface="微軟正黑體" panose="020B0604030504040204" pitchFamily="34" charset="-120"/>
                <a:ea typeface="微軟正黑體" panose="020B0604030504040204" pitchFamily="34" charset="-120"/>
                <a:cs typeface="Malgun Gothic"/>
                <a:sym typeface="Malgun Gothic"/>
              </a:rPr>
              <a:t>&gt; 77 </a:t>
            </a:r>
            <a:r>
              <a:rPr lang="zh-TW" altLang="en-US" dirty="0">
                <a:latin typeface="微軟正黑體" panose="020B0604030504040204" pitchFamily="34" charset="-120"/>
                <a:ea typeface="微軟正黑體" panose="020B0604030504040204" pitchFamily="34" charset="-120"/>
                <a:cs typeface="Malgun Gothic"/>
                <a:sym typeface="Malgun Gothic"/>
              </a:rPr>
              <a:t>個月→保單解約比例 </a:t>
            </a:r>
            <a:r>
              <a:rPr lang="en-US" altLang="zh-TW" dirty="0">
                <a:latin typeface="微軟正黑體" panose="020B0604030504040204" pitchFamily="34" charset="-120"/>
                <a:ea typeface="微軟正黑體" panose="020B0604030504040204" pitchFamily="34" charset="-120"/>
                <a:cs typeface="Malgun Gothic"/>
                <a:sym typeface="Malgun Gothic"/>
              </a:rPr>
              <a:t>&gt; 4.8%</a:t>
            </a:r>
            <a:r>
              <a:rPr lang="zh-TW" altLang="en-US" dirty="0">
                <a:latin typeface="微軟正黑體" panose="020B0604030504040204" pitchFamily="34" charset="-120"/>
                <a:ea typeface="微軟正黑體" panose="020B0604030504040204" pitchFamily="34" charset="-120"/>
                <a:cs typeface="Malgun Gothic"/>
                <a:sym typeface="Malgun Gothic"/>
              </a:rPr>
              <a:t>→業務員近</a:t>
            </a:r>
            <a:r>
              <a:rPr lang="en-US" altLang="zh-TW" dirty="0">
                <a:latin typeface="微軟正黑體" panose="020B0604030504040204" pitchFamily="34" charset="-120"/>
                <a:ea typeface="微軟正黑體" panose="020B0604030504040204" pitchFamily="34" charset="-120"/>
                <a:cs typeface="Malgun Gothic"/>
                <a:sym typeface="Malgun Gothic"/>
              </a:rPr>
              <a:t>12 - 9</a:t>
            </a:r>
            <a:r>
              <a:rPr lang="zh-TW" altLang="en-US" dirty="0">
                <a:latin typeface="微軟正黑體" panose="020B0604030504040204" pitchFamily="34" charset="-120"/>
                <a:ea typeface="微軟正黑體" panose="020B0604030504040204" pitchFamily="34" charset="-120"/>
                <a:cs typeface="Malgun Gothic"/>
                <a:sym typeface="Malgun Gothic"/>
              </a:rPr>
              <a:t>個月平均</a:t>
            </a:r>
            <a:r>
              <a:rPr lang="en-US" altLang="zh-TW" dirty="0">
                <a:latin typeface="微軟正黑體" panose="020B0604030504040204" pitchFamily="34" charset="-120"/>
                <a:ea typeface="微軟正黑體" panose="020B0604030504040204" pitchFamily="34" charset="-120"/>
                <a:cs typeface="Malgun Gothic"/>
                <a:sym typeface="Malgun Gothic"/>
              </a:rPr>
              <a:t>(</a:t>
            </a:r>
            <a:r>
              <a:rPr lang="zh-TW" altLang="en-US" dirty="0">
                <a:latin typeface="微軟正黑體" panose="020B0604030504040204" pitchFamily="34" charset="-120"/>
                <a:ea typeface="微軟正黑體" panose="020B0604030504040204" pitchFamily="34" charset="-120"/>
                <a:cs typeface="Malgun Gothic"/>
                <a:sym typeface="Malgun Gothic"/>
              </a:rPr>
              <a:t>件數</a:t>
            </a:r>
            <a:r>
              <a:rPr lang="en-US" altLang="zh-TW" dirty="0">
                <a:latin typeface="微軟正黑體" panose="020B0604030504040204" pitchFamily="34" charset="-120"/>
                <a:ea typeface="微軟正黑體" panose="020B0604030504040204" pitchFamily="34" charset="-120"/>
                <a:cs typeface="Malgun Gothic"/>
                <a:sym typeface="Malgun Gothic"/>
              </a:rPr>
              <a:t>)</a:t>
            </a:r>
            <a:r>
              <a:rPr lang="zh-TW" altLang="en-US" dirty="0">
                <a:latin typeface="微軟正黑體" panose="020B0604030504040204" pitchFamily="34" charset="-120"/>
                <a:ea typeface="微軟正黑體" panose="020B0604030504040204" pitchFamily="34" charset="-120"/>
                <a:cs typeface="Malgun Gothic"/>
                <a:sym typeface="Malgun Gothic"/>
              </a:rPr>
              <a:t>理賠金額 </a:t>
            </a:r>
            <a:r>
              <a:rPr lang="en-US" altLang="zh-TW" dirty="0">
                <a:latin typeface="微軟正黑體" panose="020B0604030504040204" pitchFamily="34" charset="-120"/>
                <a:ea typeface="微軟正黑體" panose="020B0604030504040204" pitchFamily="34" charset="-120"/>
                <a:cs typeface="Malgun Gothic"/>
                <a:sym typeface="Malgun Gothic"/>
              </a:rPr>
              <a:t>&lt;= -443.5</a:t>
            </a:r>
            <a:endParaRPr lang="zh-TW" altLang="en-US" dirty="0">
              <a:latin typeface="微軟正黑體" panose="020B0604030504040204" pitchFamily="34" charset="-120"/>
              <a:ea typeface="微軟正黑體" panose="020B0604030504040204" pitchFamily="34" charset="-120"/>
              <a:cs typeface="Malgun Gothic"/>
              <a:sym typeface="Malgun Gothic"/>
            </a:endParaRPr>
          </a:p>
          <a:p>
            <a:pPr lvl="0">
              <a:spcAft>
                <a:spcPts val="600"/>
              </a:spcAft>
            </a:pPr>
            <a:r>
              <a:rPr lang="zh-TW" altLang="en-US" dirty="0">
                <a:latin typeface="微軟正黑體" panose="020B0604030504040204" pitchFamily="34" charset="-120"/>
                <a:ea typeface="微軟正黑體" panose="020B0604030504040204" pitchFamily="34" charset="-120"/>
                <a:cs typeface="Malgun Gothic"/>
                <a:sym typeface="Malgun Gothic"/>
              </a:rPr>
              <a:t> →近</a:t>
            </a:r>
            <a:r>
              <a:rPr lang="en-US" altLang="zh-TW" dirty="0">
                <a:latin typeface="微軟正黑體" panose="020B0604030504040204" pitchFamily="34" charset="-120"/>
                <a:ea typeface="微軟正黑體" panose="020B0604030504040204" pitchFamily="34" charset="-120"/>
                <a:cs typeface="Malgun Gothic"/>
                <a:sym typeface="Malgun Gothic"/>
              </a:rPr>
              <a:t>6</a:t>
            </a:r>
            <a:r>
              <a:rPr lang="zh-TW" altLang="en-US" dirty="0">
                <a:latin typeface="微軟正黑體" panose="020B0604030504040204" pitchFamily="34" charset="-120"/>
                <a:ea typeface="微軟正黑體" panose="020B0604030504040204" pitchFamily="34" charset="-120"/>
                <a:cs typeface="Malgun Gothic"/>
                <a:sym typeface="Malgun Gothic"/>
              </a:rPr>
              <a:t>個月保單失效總數 </a:t>
            </a:r>
            <a:r>
              <a:rPr lang="en-US" altLang="zh-TW" dirty="0">
                <a:latin typeface="微軟正黑體" panose="020B0604030504040204" pitchFamily="34" charset="-120"/>
                <a:ea typeface="微軟正黑體" panose="020B0604030504040204" pitchFamily="34" charset="-120"/>
                <a:cs typeface="Malgun Gothic"/>
                <a:sym typeface="Malgun Gothic"/>
              </a:rPr>
              <a:t>&gt; 5.5</a:t>
            </a:r>
            <a:endParaRPr lang="zh-TW" altLang="en-US" dirty="0">
              <a:latin typeface="微軟正黑體" panose="020B0604030504040204" pitchFamily="34" charset="-120"/>
              <a:ea typeface="微軟正黑體" panose="020B0604030504040204" pitchFamily="34" charset="-120"/>
              <a:cs typeface="Malgun Gothic"/>
              <a:sym typeface="Malgun Gothic"/>
            </a:endParaRPr>
          </a:p>
          <a:p>
            <a:pPr marL="425450" lvl="0" indent="-285750">
              <a:spcAft>
                <a:spcPts val="600"/>
              </a:spcAft>
              <a:buSzPts val="1400"/>
              <a:buFont typeface="Wingdings" panose="05000000000000000000" pitchFamily="2" charset="2"/>
              <a:buChar char="ü"/>
            </a:pPr>
            <a:r>
              <a:rPr lang="zh-TW" altLang="en-US" sz="1600" dirty="0">
                <a:latin typeface="微軟正黑體" panose="020B0604030504040204" pitchFamily="34" charset="-120"/>
                <a:ea typeface="微軟正黑體" panose="020B0604030504040204" pitchFamily="34" charset="-120"/>
                <a:cs typeface="Malgun Gothic"/>
                <a:sym typeface="Malgun Gothic"/>
              </a:rPr>
              <a:t>條件 </a:t>
            </a:r>
            <a:r>
              <a:rPr lang="en-US" altLang="zh-TW" sz="1600" dirty="0">
                <a:latin typeface="微軟正黑體" panose="020B0604030504040204" pitchFamily="34" charset="-120"/>
                <a:ea typeface="微軟正黑體" panose="020B0604030504040204" pitchFamily="34" charset="-120"/>
                <a:cs typeface="Malgun Gothic"/>
                <a:sym typeface="Malgun Gothic"/>
              </a:rPr>
              <a:t>3</a:t>
            </a:r>
            <a:endParaRPr lang="zh-TW" altLang="en-US" sz="1600" dirty="0">
              <a:latin typeface="微軟正黑體" panose="020B0604030504040204" pitchFamily="34" charset="-120"/>
              <a:ea typeface="微軟正黑體" panose="020B0604030504040204" pitchFamily="34" charset="-120"/>
              <a:cs typeface="Malgun Gothic"/>
              <a:sym typeface="Malgun Gothic"/>
            </a:endParaRPr>
          </a:p>
          <a:p>
            <a:pPr lvl="0">
              <a:spcAft>
                <a:spcPts val="600"/>
              </a:spcAft>
            </a:pPr>
            <a:r>
              <a:rPr lang="zh-TW" altLang="en-US" dirty="0">
                <a:solidFill>
                  <a:schemeClr val="dk1"/>
                </a:solidFill>
                <a:latin typeface="微軟正黑體" panose="020B0604030504040204" pitchFamily="34" charset="-120"/>
                <a:ea typeface="微軟正黑體" panose="020B0604030504040204" pitchFamily="34" charset="-120"/>
              </a:rPr>
              <a:t>過往有不當行為</a:t>
            </a:r>
            <a:r>
              <a:rPr lang="zh-TW" altLang="en-US" dirty="0">
                <a:latin typeface="微軟正黑體" panose="020B0604030504040204" pitchFamily="34" charset="-120"/>
                <a:ea typeface="微軟正黑體" panose="020B0604030504040204" pitchFamily="34" charset="-120"/>
                <a:sym typeface="Malgun Gothic"/>
              </a:rPr>
              <a:t> </a:t>
            </a:r>
            <a:r>
              <a:rPr lang="zh-TW" altLang="en-US" dirty="0">
                <a:latin typeface="微軟正黑體" panose="020B0604030504040204" pitchFamily="34" charset="-120"/>
                <a:ea typeface="微軟正黑體" panose="020B0604030504040204" pitchFamily="34" charset="-120"/>
                <a:cs typeface="Malgun Gothic"/>
                <a:sym typeface="Malgun Gothic"/>
              </a:rPr>
              <a:t>→ </a:t>
            </a:r>
            <a:r>
              <a:rPr lang="zh-TW" altLang="en-US" dirty="0">
                <a:solidFill>
                  <a:schemeClr val="dk1"/>
                </a:solidFill>
                <a:latin typeface="微軟正黑體" panose="020B0604030504040204" pitchFamily="34" charset="-120"/>
                <a:ea typeface="微軟正黑體" panose="020B0604030504040204" pitchFamily="34" charset="-120"/>
              </a:rPr>
              <a:t>過往舞弊行為</a:t>
            </a:r>
            <a:r>
              <a:rPr lang="en-US" altLang="zh-TW" dirty="0" err="1">
                <a:solidFill>
                  <a:schemeClr val="dk1"/>
                </a:solidFill>
                <a:latin typeface="微軟正黑體" panose="020B0604030504040204" pitchFamily="34" charset="-120"/>
                <a:ea typeface="微軟正黑體" panose="020B0604030504040204" pitchFamily="34" charset="-120"/>
              </a:rPr>
              <a:t>Recency</a:t>
            </a:r>
            <a:r>
              <a:rPr lang="en-US" altLang="zh-TW" dirty="0">
                <a:latin typeface="微軟正黑體" panose="020B0604030504040204" pitchFamily="34" charset="-120"/>
                <a:ea typeface="微軟正黑體" panose="020B0604030504040204" pitchFamily="34" charset="-120"/>
                <a:cs typeface="Malgun Gothic"/>
                <a:sym typeface="Malgun Gothic"/>
              </a:rPr>
              <a:t>&lt;= 77.5</a:t>
            </a:r>
            <a:endParaRPr lang="zh-TW" altLang="en-US" dirty="0">
              <a:latin typeface="微軟正黑體" panose="020B0604030504040204" pitchFamily="34" charset="-120"/>
              <a:ea typeface="微軟正黑體" panose="020B0604030504040204" pitchFamily="34" charset="-120"/>
              <a:cs typeface="Malgun Gothic"/>
              <a:sym typeface="Malgun Gothic"/>
            </a:endParaRPr>
          </a:p>
          <a:p>
            <a:pPr marL="425450" lvl="0" indent="-285750">
              <a:spcAft>
                <a:spcPts val="600"/>
              </a:spcAft>
              <a:buSzPts val="1400"/>
              <a:buFont typeface="Wingdings" panose="05000000000000000000" pitchFamily="2" charset="2"/>
              <a:buChar char="ü"/>
            </a:pPr>
            <a:r>
              <a:rPr lang="zh-TW" altLang="en-US" sz="1600" dirty="0">
                <a:latin typeface="微軟正黑體" panose="020B0604030504040204" pitchFamily="34" charset="-120"/>
                <a:ea typeface="微軟正黑體" panose="020B0604030504040204" pitchFamily="34" charset="-120"/>
                <a:cs typeface="Malgun Gothic"/>
                <a:sym typeface="Malgun Gothic"/>
              </a:rPr>
              <a:t>條件 </a:t>
            </a:r>
            <a:r>
              <a:rPr lang="en-US" altLang="zh-TW" sz="1600" dirty="0">
                <a:latin typeface="微軟正黑體" panose="020B0604030504040204" pitchFamily="34" charset="-120"/>
                <a:ea typeface="微軟正黑體" panose="020B0604030504040204" pitchFamily="34" charset="-120"/>
                <a:cs typeface="Malgun Gothic"/>
                <a:sym typeface="Malgun Gothic"/>
              </a:rPr>
              <a:t>4</a:t>
            </a:r>
            <a:endParaRPr lang="zh-TW" altLang="en-US" sz="1600" dirty="0">
              <a:latin typeface="微軟正黑體" panose="020B0604030504040204" pitchFamily="34" charset="-120"/>
              <a:ea typeface="微軟正黑體" panose="020B0604030504040204" pitchFamily="34" charset="-120"/>
              <a:cs typeface="Malgun Gothic"/>
              <a:sym typeface="Malgun Gothic"/>
            </a:endParaRPr>
          </a:p>
          <a:p>
            <a:pPr lvl="0">
              <a:spcAft>
                <a:spcPts val="600"/>
              </a:spcAft>
            </a:pPr>
            <a:r>
              <a:rPr lang="zh-TW" altLang="zh-TW" dirty="0">
                <a:latin typeface="微軟正黑體" panose="020B0604030504040204" pitchFamily="34" charset="-120"/>
                <a:ea typeface="微軟正黑體" panose="020B0604030504040204" pitchFamily="34" charset="-120"/>
                <a:cs typeface="Malgun Gothic"/>
                <a:sym typeface="Malgun Gothic"/>
              </a:rPr>
              <a:t>持有失效保單之客戶數占比 &gt; 8.3%</a:t>
            </a:r>
            <a:r>
              <a:rPr lang="zh-TW" altLang="en-US" dirty="0">
                <a:latin typeface="微軟正黑體" panose="020B0604030504040204" pitchFamily="34" charset="-120"/>
                <a:ea typeface="微軟正黑體" panose="020B0604030504040204" pitchFamily="34" charset="-120"/>
                <a:cs typeface="Malgun Gothic"/>
                <a:sym typeface="Malgun Gothic"/>
              </a:rPr>
              <a:t> → </a:t>
            </a:r>
            <a:r>
              <a:rPr lang="zh-TW" altLang="zh-TW" dirty="0">
                <a:solidFill>
                  <a:schemeClr val="dk1"/>
                </a:solidFill>
                <a:latin typeface="微軟正黑體" panose="020B0604030504040204" pitchFamily="34" charset="-120"/>
                <a:ea typeface="微軟正黑體" panose="020B0604030504040204" pitchFamily="34" charset="-120"/>
              </a:rPr>
              <a:t>過往舞弊行為Recency</a:t>
            </a:r>
            <a:r>
              <a:rPr lang="zh-TW" altLang="zh-TW" dirty="0">
                <a:solidFill>
                  <a:schemeClr val="dk1"/>
                </a:solidFill>
                <a:latin typeface="微軟正黑體" panose="020B0604030504040204" pitchFamily="34" charset="-120"/>
                <a:ea typeface="微軟正黑體" panose="020B0604030504040204" pitchFamily="34" charset="-120"/>
                <a:cs typeface="Malgun Gothic"/>
                <a:sym typeface="Malgun Gothic"/>
              </a:rPr>
              <a:t>&lt;= 78.5</a:t>
            </a:r>
            <a:endParaRPr dirty="0">
              <a:latin typeface="微軟正黑體" panose="020B0604030504040204" pitchFamily="34" charset="-120"/>
              <a:ea typeface="微軟正黑體" panose="020B0604030504040204" pitchFamily="34" charset="-120"/>
              <a:cs typeface="Malgun Gothic"/>
              <a:sym typeface="Malgun Gothic"/>
            </a:endParaRPr>
          </a:p>
          <a:p>
            <a:pPr lvl="1">
              <a:spcAft>
                <a:spcPts val="600"/>
              </a:spcAft>
            </a:pPr>
            <a:endParaRPr sz="1600" dirty="0">
              <a:latin typeface="微軟正黑體" panose="020B0604030504040204" pitchFamily="34" charset="-120"/>
              <a:ea typeface="微軟正黑體" panose="020B0604030504040204" pitchFamily="34" charset="-120"/>
              <a:cs typeface="Malgun Gothic"/>
              <a:sym typeface="Malgun Gothic"/>
            </a:endParaRPr>
          </a:p>
          <a:p>
            <a:pPr marL="0" lvl="0" indent="0" rtl="0">
              <a:spcBef>
                <a:spcPts val="0"/>
              </a:spcBef>
              <a:spcAft>
                <a:spcPts val="600"/>
              </a:spcAft>
              <a:buNone/>
            </a:pPr>
            <a:r>
              <a:rPr lang="zh-TW" altLang="en-US" dirty="0">
                <a:latin typeface="微軟正黑體" panose="020B0604030504040204" pitchFamily="34" charset="-120"/>
                <a:ea typeface="微軟正黑體" panose="020B0604030504040204" pitchFamily="34" charset="-120"/>
                <a:cs typeface="Malgun Gothic"/>
                <a:sym typeface="Malgun Gothic"/>
              </a:rPr>
              <a:t>   </a:t>
            </a:r>
            <a:endParaRPr lang="en-US" altLang="zh-TW" dirty="0">
              <a:solidFill>
                <a:schemeClr val="dk1"/>
              </a:solidFill>
              <a:latin typeface="微軟正黑體" panose="020B0604030504040204" pitchFamily="34" charset="-120"/>
              <a:ea typeface="微軟正黑體" panose="020B0604030504040204" pitchFamily="34" charset="-120"/>
              <a:cs typeface="Malgun Gothic"/>
              <a:sym typeface="Malgun Gothic"/>
            </a:endParaRPr>
          </a:p>
          <a:p>
            <a:pPr marL="285750" lvl="0" indent="-285750" rtl="0">
              <a:spcBef>
                <a:spcPts val="0"/>
              </a:spcBef>
              <a:spcAft>
                <a:spcPts val="600"/>
              </a:spcAft>
              <a:buFont typeface="Wingdings" panose="05000000000000000000" pitchFamily="2" charset="2"/>
              <a:buChar char="ü"/>
            </a:pPr>
            <a:endParaRPr dirty="0">
              <a:latin typeface="微軟正黑體" panose="020B0604030504040204" pitchFamily="34" charset="-120"/>
              <a:ea typeface="微軟正黑體" panose="020B0604030504040204" pitchFamily="34" charset="-120"/>
              <a:cs typeface="Malgun Gothic"/>
              <a:sym typeface="Malgun Gothic"/>
            </a:endParaRPr>
          </a:p>
        </p:txBody>
      </p:sp>
      <p:graphicFrame>
        <p:nvGraphicFramePr>
          <p:cNvPr id="2" name="表格 1"/>
          <p:cNvGraphicFramePr>
            <a:graphicFrameLocks noGrp="1"/>
          </p:cNvGraphicFramePr>
          <p:nvPr>
            <p:extLst>
              <p:ext uri="{D42A27DB-BD31-4B8C-83A1-F6EECF244321}">
                <p14:modId xmlns:p14="http://schemas.microsoft.com/office/powerpoint/2010/main" val="1128067838"/>
              </p:ext>
            </p:extLst>
          </p:nvPr>
        </p:nvGraphicFramePr>
        <p:xfrm>
          <a:off x="1554480" y="3820160"/>
          <a:ext cx="8889040" cy="2457450"/>
        </p:xfrm>
        <a:graphic>
          <a:graphicData uri="http://schemas.openxmlformats.org/drawingml/2006/table">
            <a:tbl>
              <a:tblPr firstRow="1" firstCol="1" bandRow="1">
                <a:tableStyleId>{72FCF9FF-86DD-4F90-83C7-D16C962093AE}</a:tableStyleId>
              </a:tblPr>
              <a:tblGrid>
                <a:gridCol w="2926080">
                  <a:extLst>
                    <a:ext uri="{9D8B030D-6E8A-4147-A177-3AD203B41FA5}">
                      <a16:colId xmlns:a16="http://schemas.microsoft.com/office/drawing/2014/main" val="20000"/>
                    </a:ext>
                  </a:extLst>
                </a:gridCol>
                <a:gridCol w="1490740">
                  <a:extLst>
                    <a:ext uri="{9D8B030D-6E8A-4147-A177-3AD203B41FA5}">
                      <a16:colId xmlns:a16="http://schemas.microsoft.com/office/drawing/2014/main" val="20001"/>
                    </a:ext>
                  </a:extLst>
                </a:gridCol>
                <a:gridCol w="1490740">
                  <a:extLst>
                    <a:ext uri="{9D8B030D-6E8A-4147-A177-3AD203B41FA5}">
                      <a16:colId xmlns:a16="http://schemas.microsoft.com/office/drawing/2014/main" val="20002"/>
                    </a:ext>
                  </a:extLst>
                </a:gridCol>
                <a:gridCol w="1490740">
                  <a:extLst>
                    <a:ext uri="{9D8B030D-6E8A-4147-A177-3AD203B41FA5}">
                      <a16:colId xmlns:a16="http://schemas.microsoft.com/office/drawing/2014/main" val="20003"/>
                    </a:ext>
                  </a:extLst>
                </a:gridCol>
                <a:gridCol w="1490740">
                  <a:extLst>
                    <a:ext uri="{9D8B030D-6E8A-4147-A177-3AD203B41FA5}">
                      <a16:colId xmlns:a16="http://schemas.microsoft.com/office/drawing/2014/main" val="20004"/>
                    </a:ext>
                  </a:extLst>
                </a:gridCol>
              </a:tblGrid>
              <a:tr h="381000">
                <a:tc>
                  <a:txBody>
                    <a:bodyPr/>
                    <a:lstStyle/>
                    <a:p>
                      <a:pPr algn="ctr">
                        <a:spcAft>
                          <a:spcPts val="0"/>
                        </a:spcAft>
                      </a:pPr>
                      <a:r>
                        <a:rPr lang="en-US" sz="1400" b="1" kern="0" dirty="0">
                          <a:effectLst/>
                          <a:latin typeface="微軟正黑體" panose="020B0604030504040204" pitchFamily="34" charset="-120"/>
                          <a:ea typeface="微軟正黑體" panose="020B0604030504040204" pitchFamily="34" charset="-120"/>
                        </a:rPr>
                        <a:t> </a:t>
                      </a:r>
                      <a:r>
                        <a:rPr lang="zh-TW" altLang="en-US" sz="1400" b="1" kern="0" dirty="0">
                          <a:effectLst/>
                          <a:latin typeface="微軟正黑體" panose="020B0604030504040204" pitchFamily="34" charset="-120"/>
                          <a:ea typeface="微軟正黑體" panose="020B0604030504040204" pitchFamily="34" charset="-120"/>
                        </a:rPr>
                        <a:t>條件</a:t>
                      </a:r>
                      <a:endParaRPr lang="zh-TW" sz="1400" b="1" kern="100" dirty="0">
                        <a:effectLst/>
                        <a:latin typeface="微軟正黑體" panose="020B0604030504040204" pitchFamily="34" charset="-120"/>
                        <a:ea typeface="微軟正黑體" panose="020B0604030504040204" pitchFamily="34" charset="-120"/>
                      </a:endParaRPr>
                    </a:p>
                  </a:txBody>
                  <a:tcPr marL="95250" marR="95250" marT="95250" marB="95250"/>
                </a:tc>
                <a:tc>
                  <a:txBody>
                    <a:bodyPr/>
                    <a:lstStyle/>
                    <a:p>
                      <a:pPr algn="ctr">
                        <a:spcAft>
                          <a:spcPts val="0"/>
                        </a:spcAft>
                      </a:pPr>
                      <a:r>
                        <a:rPr lang="zh-TW" sz="1400" kern="0" dirty="0">
                          <a:effectLst/>
                          <a:latin typeface="微軟正黑體" panose="020B0604030504040204" pitchFamily="34" charset="-120"/>
                          <a:ea typeface="微軟正黑體" panose="020B0604030504040204" pitchFamily="34" charset="-120"/>
                        </a:rPr>
                        <a:t>符合人數</a:t>
                      </a:r>
                      <a:endParaRPr lang="zh-TW" sz="1400" kern="100" dirty="0">
                        <a:effectLst/>
                        <a:latin typeface="微軟正黑體" panose="020B0604030504040204" pitchFamily="34" charset="-120"/>
                        <a:ea typeface="微軟正黑體" panose="020B0604030504040204" pitchFamily="34" charset="-120"/>
                      </a:endParaRPr>
                    </a:p>
                  </a:txBody>
                  <a:tcPr marL="95250" marR="95250" marT="95250" marB="95250"/>
                </a:tc>
                <a:tc>
                  <a:txBody>
                    <a:bodyPr/>
                    <a:lstStyle/>
                    <a:p>
                      <a:pPr algn="ctr">
                        <a:spcAft>
                          <a:spcPts val="0"/>
                        </a:spcAft>
                      </a:pPr>
                      <a:r>
                        <a:rPr lang="zh-TW" sz="1400" kern="0" dirty="0">
                          <a:effectLst/>
                          <a:latin typeface="微軟正黑體" panose="020B0604030504040204" pitchFamily="34" charset="-120"/>
                          <a:ea typeface="微軟正黑體" panose="020B0604030504040204" pitchFamily="34" charset="-120"/>
                        </a:rPr>
                        <a:t>舞弊人數</a:t>
                      </a:r>
                      <a:endParaRPr lang="zh-TW" sz="1400" kern="100" dirty="0">
                        <a:effectLst/>
                        <a:latin typeface="微軟正黑體" panose="020B0604030504040204" pitchFamily="34" charset="-120"/>
                        <a:ea typeface="微軟正黑體" panose="020B0604030504040204" pitchFamily="34" charset="-120"/>
                      </a:endParaRPr>
                    </a:p>
                  </a:txBody>
                  <a:tcPr marL="95250" marR="95250" marT="95250" marB="95250"/>
                </a:tc>
                <a:tc>
                  <a:txBody>
                    <a:bodyPr/>
                    <a:lstStyle/>
                    <a:p>
                      <a:pPr algn="ctr">
                        <a:spcAft>
                          <a:spcPts val="0"/>
                        </a:spcAft>
                      </a:pPr>
                      <a:r>
                        <a:rPr lang="zh-TW" sz="1400" kern="0" dirty="0">
                          <a:effectLst/>
                          <a:latin typeface="微軟正黑體" panose="020B0604030504040204" pitchFamily="34" charset="-120"/>
                          <a:ea typeface="微軟正黑體" panose="020B0604030504040204" pitchFamily="34" charset="-120"/>
                        </a:rPr>
                        <a:t>舞弊發生率</a:t>
                      </a:r>
                      <a:endParaRPr lang="zh-TW" sz="1400" kern="100" dirty="0">
                        <a:effectLst/>
                        <a:latin typeface="微軟正黑體" panose="020B0604030504040204" pitchFamily="34" charset="-120"/>
                        <a:ea typeface="微軟正黑體" panose="020B0604030504040204" pitchFamily="34" charset="-120"/>
                      </a:endParaRPr>
                    </a:p>
                  </a:txBody>
                  <a:tcPr marL="95250" marR="95250" marT="95250" marB="95250"/>
                </a:tc>
                <a:tc>
                  <a:txBody>
                    <a:bodyPr/>
                    <a:lstStyle/>
                    <a:p>
                      <a:pPr algn="ctr">
                        <a:spcAft>
                          <a:spcPts val="0"/>
                        </a:spcAft>
                      </a:pPr>
                      <a:r>
                        <a:rPr lang="zh-TW" sz="1400" kern="0" dirty="0">
                          <a:effectLst/>
                          <a:latin typeface="微軟正黑體" panose="020B0604030504040204" pitchFamily="34" charset="-120"/>
                          <a:ea typeface="微軟正黑體" panose="020B0604030504040204" pitchFamily="34" charset="-120"/>
                        </a:rPr>
                        <a:t>捕捉率</a:t>
                      </a:r>
                      <a:endParaRPr lang="zh-TW" sz="1400" kern="100" dirty="0">
                        <a:effectLst/>
                        <a:latin typeface="微軟正黑體" panose="020B0604030504040204" pitchFamily="34" charset="-120"/>
                        <a:ea typeface="微軟正黑體" panose="020B0604030504040204" pitchFamily="34" charset="-120"/>
                      </a:endParaRPr>
                    </a:p>
                  </a:txBody>
                  <a:tcPr marL="95250" marR="95250" marT="95250" marB="95250"/>
                </a:tc>
                <a:extLst>
                  <a:ext uri="{0D108BD9-81ED-4DB2-BD59-A6C34878D82A}">
                    <a16:rowId xmlns:a16="http://schemas.microsoft.com/office/drawing/2014/main" val="10000"/>
                  </a:ext>
                </a:extLst>
              </a:tr>
              <a:tr h="438150">
                <a:tc>
                  <a:txBody>
                    <a:bodyPr/>
                    <a:lstStyle/>
                    <a:p>
                      <a:pPr algn="ctr">
                        <a:spcAft>
                          <a:spcPts val="0"/>
                        </a:spcAft>
                      </a:pPr>
                      <a:r>
                        <a:rPr lang="zh-TW" sz="1400" kern="0" dirty="0">
                          <a:effectLst/>
                        </a:rPr>
                        <a:t>過往不當行為</a:t>
                      </a:r>
                      <a:r>
                        <a:rPr lang="en-US" sz="1400" kern="0" dirty="0" err="1">
                          <a:effectLst/>
                        </a:rPr>
                        <a:t>Recency</a:t>
                      </a:r>
                      <a:r>
                        <a:rPr lang="en-US" sz="1400" kern="0" dirty="0">
                          <a:effectLst/>
                        </a:rPr>
                        <a:t> &lt;12</a:t>
                      </a:r>
                      <a:r>
                        <a:rPr lang="zh-TW" sz="1400" kern="0" dirty="0">
                          <a:effectLst/>
                        </a:rPr>
                        <a:t>個月</a:t>
                      </a:r>
                      <a:endParaRPr lang="zh-TW" sz="1200" kern="100" dirty="0">
                        <a:effectLst/>
                        <a:latin typeface="Times New Roman" panose="02020603050405020304" pitchFamily="18" charset="0"/>
                        <a:ea typeface="新細明體" panose="02020500000000000000" pitchFamily="18" charset="-120"/>
                      </a:endParaRPr>
                    </a:p>
                  </a:txBody>
                  <a:tcPr marL="95250" marR="95250" marT="95250" marB="95250"/>
                </a:tc>
                <a:tc>
                  <a:txBody>
                    <a:bodyPr/>
                    <a:lstStyle/>
                    <a:p>
                      <a:pPr algn="ctr">
                        <a:spcAft>
                          <a:spcPts val="0"/>
                        </a:spcAft>
                      </a:pPr>
                      <a:r>
                        <a:rPr lang="en-US" sz="1400" kern="0" dirty="0">
                          <a:effectLst/>
                          <a:latin typeface="微軟正黑體" panose="020B0604030504040204" pitchFamily="34" charset="-120"/>
                          <a:ea typeface="微軟正黑體" panose="020B0604030504040204" pitchFamily="34" charset="-120"/>
                        </a:rPr>
                        <a:t>252</a:t>
                      </a:r>
                      <a:endParaRPr lang="zh-TW" sz="1200" kern="100" dirty="0">
                        <a:effectLst/>
                        <a:latin typeface="微軟正黑體" panose="020B0604030504040204" pitchFamily="34" charset="-120"/>
                        <a:ea typeface="微軟正黑體" panose="020B0604030504040204" pitchFamily="34" charset="-120"/>
                      </a:endParaRPr>
                    </a:p>
                  </a:txBody>
                  <a:tcPr marL="95250" marR="95250" marT="95250" marB="95250"/>
                </a:tc>
                <a:tc>
                  <a:txBody>
                    <a:bodyPr/>
                    <a:lstStyle/>
                    <a:p>
                      <a:pPr algn="ctr">
                        <a:spcAft>
                          <a:spcPts val="0"/>
                        </a:spcAft>
                      </a:pPr>
                      <a:r>
                        <a:rPr lang="en-US" sz="1400" kern="0" dirty="0">
                          <a:effectLst/>
                          <a:latin typeface="微軟正黑體" panose="020B0604030504040204" pitchFamily="34" charset="-120"/>
                          <a:ea typeface="微軟正黑體" panose="020B0604030504040204" pitchFamily="34" charset="-120"/>
                        </a:rPr>
                        <a:t>49</a:t>
                      </a:r>
                      <a:endParaRPr lang="zh-TW" sz="1200" kern="100" dirty="0">
                        <a:effectLst/>
                        <a:latin typeface="微軟正黑體" panose="020B0604030504040204" pitchFamily="34" charset="-120"/>
                        <a:ea typeface="微軟正黑體" panose="020B0604030504040204" pitchFamily="34" charset="-120"/>
                      </a:endParaRPr>
                    </a:p>
                  </a:txBody>
                  <a:tcPr marL="95250" marR="95250" marT="95250" marB="95250"/>
                </a:tc>
                <a:tc>
                  <a:txBody>
                    <a:bodyPr/>
                    <a:lstStyle/>
                    <a:p>
                      <a:pPr algn="ctr">
                        <a:spcAft>
                          <a:spcPts val="0"/>
                        </a:spcAft>
                      </a:pPr>
                      <a:r>
                        <a:rPr lang="en-US" sz="1400" kern="0" dirty="0">
                          <a:effectLst/>
                          <a:latin typeface="微軟正黑體" panose="020B0604030504040204" pitchFamily="34" charset="-120"/>
                          <a:ea typeface="微軟正黑體" panose="020B0604030504040204" pitchFamily="34" charset="-120"/>
                        </a:rPr>
                        <a:t>19.4%</a:t>
                      </a:r>
                      <a:endParaRPr lang="zh-TW" sz="1200" kern="100" dirty="0">
                        <a:effectLst/>
                        <a:latin typeface="微軟正黑體" panose="020B0604030504040204" pitchFamily="34" charset="-120"/>
                        <a:ea typeface="微軟正黑體" panose="020B0604030504040204" pitchFamily="34" charset="-120"/>
                      </a:endParaRPr>
                    </a:p>
                  </a:txBody>
                  <a:tcPr marL="95250" marR="95250" marT="95250" marB="95250"/>
                </a:tc>
                <a:tc>
                  <a:txBody>
                    <a:bodyPr/>
                    <a:lstStyle/>
                    <a:p>
                      <a:pPr algn="ctr">
                        <a:spcAft>
                          <a:spcPts val="0"/>
                        </a:spcAft>
                      </a:pPr>
                      <a:r>
                        <a:rPr lang="en-US" sz="1400" kern="0" dirty="0">
                          <a:effectLst/>
                          <a:latin typeface="微軟正黑體" panose="020B0604030504040204" pitchFamily="34" charset="-120"/>
                          <a:ea typeface="微軟正黑體" panose="020B0604030504040204" pitchFamily="34" charset="-120"/>
                        </a:rPr>
                        <a:t>25.13%</a:t>
                      </a:r>
                      <a:endParaRPr lang="zh-TW" sz="1200" kern="100" dirty="0">
                        <a:effectLst/>
                        <a:latin typeface="微軟正黑體" panose="020B0604030504040204" pitchFamily="34" charset="-120"/>
                        <a:ea typeface="微軟正黑體" panose="020B0604030504040204" pitchFamily="34" charset="-120"/>
                      </a:endParaRPr>
                    </a:p>
                  </a:txBody>
                  <a:tcPr marL="95250" marR="95250" marT="95250" marB="95250"/>
                </a:tc>
                <a:extLst>
                  <a:ext uri="{0D108BD9-81ED-4DB2-BD59-A6C34878D82A}">
                    <a16:rowId xmlns:a16="http://schemas.microsoft.com/office/drawing/2014/main" val="10001"/>
                  </a:ext>
                </a:extLst>
              </a:tr>
              <a:tr h="381000">
                <a:tc>
                  <a:txBody>
                    <a:bodyPr/>
                    <a:lstStyle/>
                    <a:p>
                      <a:pPr algn="ctr">
                        <a:spcAft>
                          <a:spcPts val="0"/>
                        </a:spcAft>
                      </a:pPr>
                      <a:r>
                        <a:rPr lang="en-US" sz="1400" kern="0" dirty="0">
                          <a:effectLst/>
                        </a:rPr>
                        <a:t>1</a:t>
                      </a:r>
                      <a:endParaRPr lang="zh-TW" sz="1200" kern="100" dirty="0">
                        <a:effectLst/>
                        <a:latin typeface="Times New Roman" panose="02020603050405020304" pitchFamily="18" charset="0"/>
                        <a:ea typeface="新細明體" panose="02020500000000000000" pitchFamily="18" charset="-120"/>
                      </a:endParaRPr>
                    </a:p>
                  </a:txBody>
                  <a:tcPr marL="95250" marR="95250" marT="95250" marB="95250"/>
                </a:tc>
                <a:tc>
                  <a:txBody>
                    <a:bodyPr/>
                    <a:lstStyle/>
                    <a:p>
                      <a:pPr algn="ctr">
                        <a:spcAft>
                          <a:spcPts val="0"/>
                        </a:spcAft>
                      </a:pPr>
                      <a:r>
                        <a:rPr lang="en-US" sz="1400" kern="0" dirty="0">
                          <a:effectLst/>
                          <a:latin typeface="微軟正黑體" panose="020B0604030504040204" pitchFamily="34" charset="-120"/>
                          <a:ea typeface="微軟正黑體" panose="020B0604030504040204" pitchFamily="34" charset="-120"/>
                        </a:rPr>
                        <a:t>700</a:t>
                      </a:r>
                      <a:endParaRPr lang="zh-TW" sz="1200" kern="100" dirty="0">
                        <a:effectLst/>
                        <a:latin typeface="微軟正黑體" panose="020B0604030504040204" pitchFamily="34" charset="-120"/>
                        <a:ea typeface="微軟正黑體" panose="020B0604030504040204" pitchFamily="34" charset="-120"/>
                      </a:endParaRPr>
                    </a:p>
                  </a:txBody>
                  <a:tcPr marL="95250" marR="95250" marT="95250" marB="95250"/>
                </a:tc>
                <a:tc>
                  <a:txBody>
                    <a:bodyPr/>
                    <a:lstStyle/>
                    <a:p>
                      <a:pPr algn="ctr">
                        <a:spcAft>
                          <a:spcPts val="0"/>
                        </a:spcAft>
                      </a:pPr>
                      <a:r>
                        <a:rPr lang="en-US" sz="1400" kern="0" dirty="0">
                          <a:effectLst/>
                          <a:latin typeface="微軟正黑體" panose="020B0604030504040204" pitchFamily="34" charset="-120"/>
                          <a:ea typeface="微軟正黑體" panose="020B0604030504040204" pitchFamily="34" charset="-120"/>
                        </a:rPr>
                        <a:t>17</a:t>
                      </a:r>
                      <a:endParaRPr lang="zh-TW" sz="1200" kern="100" dirty="0">
                        <a:effectLst/>
                        <a:latin typeface="微軟正黑體" panose="020B0604030504040204" pitchFamily="34" charset="-120"/>
                        <a:ea typeface="微軟正黑體" panose="020B0604030504040204" pitchFamily="34" charset="-120"/>
                      </a:endParaRPr>
                    </a:p>
                  </a:txBody>
                  <a:tcPr marL="95250" marR="95250" marT="95250" marB="95250"/>
                </a:tc>
                <a:tc>
                  <a:txBody>
                    <a:bodyPr/>
                    <a:lstStyle/>
                    <a:p>
                      <a:pPr algn="ctr">
                        <a:spcAft>
                          <a:spcPts val="0"/>
                        </a:spcAft>
                      </a:pPr>
                      <a:r>
                        <a:rPr lang="en-US" sz="1400" kern="0" dirty="0">
                          <a:effectLst/>
                          <a:latin typeface="微軟正黑體" panose="020B0604030504040204" pitchFamily="34" charset="-120"/>
                          <a:ea typeface="微軟正黑體" panose="020B0604030504040204" pitchFamily="34" charset="-120"/>
                        </a:rPr>
                        <a:t>2.43%</a:t>
                      </a:r>
                      <a:endParaRPr lang="zh-TW" sz="1200" kern="100" dirty="0">
                        <a:effectLst/>
                        <a:latin typeface="微軟正黑體" panose="020B0604030504040204" pitchFamily="34" charset="-120"/>
                        <a:ea typeface="微軟正黑體" panose="020B0604030504040204" pitchFamily="34" charset="-120"/>
                      </a:endParaRPr>
                    </a:p>
                  </a:txBody>
                  <a:tcPr marL="95250" marR="95250" marT="95250" marB="95250"/>
                </a:tc>
                <a:tc>
                  <a:txBody>
                    <a:bodyPr/>
                    <a:lstStyle/>
                    <a:p>
                      <a:pPr algn="ctr">
                        <a:spcAft>
                          <a:spcPts val="0"/>
                        </a:spcAft>
                      </a:pPr>
                      <a:r>
                        <a:rPr lang="en-US" sz="1400" kern="0" dirty="0">
                          <a:effectLst/>
                          <a:latin typeface="微軟正黑體" panose="020B0604030504040204" pitchFamily="34" charset="-120"/>
                          <a:ea typeface="微軟正黑體" panose="020B0604030504040204" pitchFamily="34" charset="-120"/>
                        </a:rPr>
                        <a:t>8.72%</a:t>
                      </a:r>
                      <a:endParaRPr lang="zh-TW" sz="1200" kern="100" dirty="0">
                        <a:effectLst/>
                        <a:latin typeface="微軟正黑體" panose="020B0604030504040204" pitchFamily="34" charset="-120"/>
                        <a:ea typeface="微軟正黑體" panose="020B0604030504040204" pitchFamily="34" charset="-120"/>
                      </a:endParaRPr>
                    </a:p>
                  </a:txBody>
                  <a:tcPr marL="95250" marR="95250" marT="95250" marB="95250"/>
                </a:tc>
                <a:extLst>
                  <a:ext uri="{0D108BD9-81ED-4DB2-BD59-A6C34878D82A}">
                    <a16:rowId xmlns:a16="http://schemas.microsoft.com/office/drawing/2014/main" val="10002"/>
                  </a:ext>
                </a:extLst>
              </a:tr>
              <a:tr h="381000">
                <a:tc>
                  <a:txBody>
                    <a:bodyPr/>
                    <a:lstStyle/>
                    <a:p>
                      <a:pPr algn="ctr">
                        <a:spcAft>
                          <a:spcPts val="0"/>
                        </a:spcAft>
                      </a:pPr>
                      <a:r>
                        <a:rPr lang="en-US" sz="1400" kern="0" dirty="0">
                          <a:effectLst/>
                        </a:rPr>
                        <a:t>2</a:t>
                      </a:r>
                      <a:endParaRPr lang="zh-TW" sz="1200" kern="100" dirty="0">
                        <a:effectLst/>
                        <a:latin typeface="Times New Roman" panose="02020603050405020304" pitchFamily="18" charset="0"/>
                        <a:ea typeface="新細明體" panose="02020500000000000000" pitchFamily="18" charset="-120"/>
                      </a:endParaRPr>
                    </a:p>
                  </a:txBody>
                  <a:tcPr marL="95250" marR="95250" marT="95250" marB="95250"/>
                </a:tc>
                <a:tc>
                  <a:txBody>
                    <a:bodyPr/>
                    <a:lstStyle/>
                    <a:p>
                      <a:pPr algn="ctr">
                        <a:spcAft>
                          <a:spcPts val="0"/>
                        </a:spcAft>
                      </a:pPr>
                      <a:r>
                        <a:rPr lang="en-US" sz="1400" kern="0">
                          <a:effectLst/>
                          <a:latin typeface="微軟正黑體" panose="020B0604030504040204" pitchFamily="34" charset="-120"/>
                          <a:ea typeface="微軟正黑體" panose="020B0604030504040204" pitchFamily="34" charset="-120"/>
                        </a:rPr>
                        <a:t>704</a:t>
                      </a:r>
                      <a:endParaRPr lang="zh-TW" sz="1200" kern="100">
                        <a:effectLst/>
                        <a:latin typeface="微軟正黑體" panose="020B0604030504040204" pitchFamily="34" charset="-120"/>
                        <a:ea typeface="微軟正黑體" panose="020B0604030504040204" pitchFamily="34" charset="-120"/>
                      </a:endParaRPr>
                    </a:p>
                  </a:txBody>
                  <a:tcPr marL="95250" marR="95250" marT="95250" marB="95250"/>
                </a:tc>
                <a:tc>
                  <a:txBody>
                    <a:bodyPr/>
                    <a:lstStyle/>
                    <a:p>
                      <a:pPr algn="ctr">
                        <a:spcAft>
                          <a:spcPts val="0"/>
                        </a:spcAft>
                      </a:pPr>
                      <a:r>
                        <a:rPr lang="en-US" sz="1400" kern="0" dirty="0">
                          <a:effectLst/>
                          <a:latin typeface="微軟正黑體" panose="020B0604030504040204" pitchFamily="34" charset="-120"/>
                          <a:ea typeface="微軟正黑體" panose="020B0604030504040204" pitchFamily="34" charset="-120"/>
                        </a:rPr>
                        <a:t>24</a:t>
                      </a:r>
                      <a:endParaRPr lang="zh-TW" sz="1200" kern="100" dirty="0">
                        <a:effectLst/>
                        <a:latin typeface="微軟正黑體" panose="020B0604030504040204" pitchFamily="34" charset="-120"/>
                        <a:ea typeface="微軟正黑體" panose="020B0604030504040204" pitchFamily="34" charset="-120"/>
                      </a:endParaRPr>
                    </a:p>
                  </a:txBody>
                  <a:tcPr marL="95250" marR="95250" marT="95250" marB="95250"/>
                </a:tc>
                <a:tc>
                  <a:txBody>
                    <a:bodyPr/>
                    <a:lstStyle/>
                    <a:p>
                      <a:pPr algn="ctr">
                        <a:spcAft>
                          <a:spcPts val="0"/>
                        </a:spcAft>
                      </a:pPr>
                      <a:r>
                        <a:rPr lang="en-US" sz="1400" kern="0" dirty="0">
                          <a:effectLst/>
                          <a:latin typeface="微軟正黑體" panose="020B0604030504040204" pitchFamily="34" charset="-120"/>
                          <a:ea typeface="微軟正黑體" panose="020B0604030504040204" pitchFamily="34" charset="-120"/>
                        </a:rPr>
                        <a:t>3.41%</a:t>
                      </a:r>
                      <a:endParaRPr lang="zh-TW" sz="1200" kern="100" dirty="0">
                        <a:effectLst/>
                        <a:latin typeface="微軟正黑體" panose="020B0604030504040204" pitchFamily="34" charset="-120"/>
                        <a:ea typeface="微軟正黑體" panose="020B0604030504040204" pitchFamily="34" charset="-120"/>
                      </a:endParaRPr>
                    </a:p>
                  </a:txBody>
                  <a:tcPr marL="95250" marR="95250" marT="95250" marB="95250"/>
                </a:tc>
                <a:tc>
                  <a:txBody>
                    <a:bodyPr/>
                    <a:lstStyle/>
                    <a:p>
                      <a:pPr algn="ctr">
                        <a:spcAft>
                          <a:spcPts val="0"/>
                        </a:spcAft>
                      </a:pPr>
                      <a:r>
                        <a:rPr lang="en-US" sz="1400" kern="0" dirty="0">
                          <a:effectLst/>
                          <a:latin typeface="微軟正黑體" panose="020B0604030504040204" pitchFamily="34" charset="-120"/>
                          <a:ea typeface="微軟正黑體" panose="020B0604030504040204" pitchFamily="34" charset="-120"/>
                        </a:rPr>
                        <a:t>12.31%</a:t>
                      </a:r>
                      <a:endParaRPr lang="zh-TW" sz="1200" kern="100" dirty="0">
                        <a:effectLst/>
                        <a:latin typeface="微軟正黑體" panose="020B0604030504040204" pitchFamily="34" charset="-120"/>
                        <a:ea typeface="微軟正黑體" panose="020B0604030504040204" pitchFamily="34" charset="-120"/>
                      </a:endParaRPr>
                    </a:p>
                  </a:txBody>
                  <a:tcPr marL="95250" marR="95250" marT="95250" marB="95250"/>
                </a:tc>
                <a:extLst>
                  <a:ext uri="{0D108BD9-81ED-4DB2-BD59-A6C34878D82A}">
                    <a16:rowId xmlns:a16="http://schemas.microsoft.com/office/drawing/2014/main" val="10003"/>
                  </a:ext>
                </a:extLst>
              </a:tr>
              <a:tr h="381000">
                <a:tc>
                  <a:txBody>
                    <a:bodyPr/>
                    <a:lstStyle/>
                    <a:p>
                      <a:pPr algn="ctr">
                        <a:spcAft>
                          <a:spcPts val="0"/>
                        </a:spcAft>
                      </a:pPr>
                      <a:r>
                        <a:rPr lang="en-US" sz="1400" kern="0" dirty="0">
                          <a:effectLst/>
                        </a:rPr>
                        <a:t>3</a:t>
                      </a:r>
                      <a:endParaRPr lang="zh-TW" sz="1200" kern="100" dirty="0">
                        <a:effectLst/>
                        <a:latin typeface="Times New Roman" panose="02020603050405020304" pitchFamily="18" charset="0"/>
                        <a:ea typeface="新細明體" panose="02020500000000000000" pitchFamily="18" charset="-120"/>
                      </a:endParaRPr>
                    </a:p>
                  </a:txBody>
                  <a:tcPr marL="95250" marR="95250" marT="95250" marB="95250"/>
                </a:tc>
                <a:tc>
                  <a:txBody>
                    <a:bodyPr/>
                    <a:lstStyle/>
                    <a:p>
                      <a:pPr algn="ctr">
                        <a:spcAft>
                          <a:spcPts val="0"/>
                        </a:spcAft>
                      </a:pPr>
                      <a:r>
                        <a:rPr lang="en-US" sz="1400" kern="0">
                          <a:effectLst/>
                          <a:latin typeface="微軟正黑體" panose="020B0604030504040204" pitchFamily="34" charset="-120"/>
                          <a:ea typeface="微軟正黑體" panose="020B0604030504040204" pitchFamily="34" charset="-120"/>
                        </a:rPr>
                        <a:t>706</a:t>
                      </a:r>
                      <a:endParaRPr lang="zh-TW" sz="1200" kern="100">
                        <a:effectLst/>
                        <a:latin typeface="微軟正黑體" panose="020B0604030504040204" pitchFamily="34" charset="-120"/>
                        <a:ea typeface="微軟正黑體" panose="020B0604030504040204" pitchFamily="34" charset="-120"/>
                      </a:endParaRPr>
                    </a:p>
                  </a:txBody>
                  <a:tcPr marL="95250" marR="95250" marT="95250" marB="95250"/>
                </a:tc>
                <a:tc>
                  <a:txBody>
                    <a:bodyPr/>
                    <a:lstStyle/>
                    <a:p>
                      <a:pPr algn="ctr">
                        <a:spcAft>
                          <a:spcPts val="0"/>
                        </a:spcAft>
                      </a:pPr>
                      <a:r>
                        <a:rPr lang="en-US" sz="1400" kern="0" dirty="0">
                          <a:effectLst/>
                          <a:latin typeface="微軟正黑體" panose="020B0604030504040204" pitchFamily="34" charset="-120"/>
                          <a:ea typeface="微軟正黑體" panose="020B0604030504040204" pitchFamily="34" charset="-120"/>
                        </a:rPr>
                        <a:t>52</a:t>
                      </a:r>
                      <a:endParaRPr lang="zh-TW" sz="1200" kern="100" dirty="0">
                        <a:effectLst/>
                        <a:latin typeface="微軟正黑體" panose="020B0604030504040204" pitchFamily="34" charset="-120"/>
                        <a:ea typeface="微軟正黑體" panose="020B0604030504040204" pitchFamily="34" charset="-120"/>
                      </a:endParaRPr>
                    </a:p>
                  </a:txBody>
                  <a:tcPr marL="95250" marR="95250" marT="95250" marB="95250"/>
                </a:tc>
                <a:tc>
                  <a:txBody>
                    <a:bodyPr/>
                    <a:lstStyle/>
                    <a:p>
                      <a:pPr algn="ctr">
                        <a:spcAft>
                          <a:spcPts val="0"/>
                        </a:spcAft>
                      </a:pPr>
                      <a:r>
                        <a:rPr lang="en-US" sz="1400" kern="0">
                          <a:effectLst/>
                          <a:latin typeface="微軟正黑體" panose="020B0604030504040204" pitchFamily="34" charset="-120"/>
                          <a:ea typeface="微軟正黑體" panose="020B0604030504040204" pitchFamily="34" charset="-120"/>
                        </a:rPr>
                        <a:t>7.37%</a:t>
                      </a:r>
                      <a:endParaRPr lang="zh-TW" sz="1200" kern="100">
                        <a:effectLst/>
                        <a:latin typeface="微軟正黑體" panose="020B0604030504040204" pitchFamily="34" charset="-120"/>
                        <a:ea typeface="微軟正黑體" panose="020B0604030504040204" pitchFamily="34" charset="-120"/>
                      </a:endParaRPr>
                    </a:p>
                  </a:txBody>
                  <a:tcPr marL="95250" marR="95250" marT="95250" marB="95250"/>
                </a:tc>
                <a:tc>
                  <a:txBody>
                    <a:bodyPr/>
                    <a:lstStyle/>
                    <a:p>
                      <a:pPr algn="ctr">
                        <a:spcAft>
                          <a:spcPts val="0"/>
                        </a:spcAft>
                      </a:pPr>
                      <a:r>
                        <a:rPr lang="en-US" sz="1400" kern="0" dirty="0">
                          <a:effectLst/>
                          <a:latin typeface="微軟正黑體" panose="020B0604030504040204" pitchFamily="34" charset="-120"/>
                          <a:ea typeface="微軟正黑體" panose="020B0604030504040204" pitchFamily="34" charset="-120"/>
                        </a:rPr>
                        <a:t>26.67%</a:t>
                      </a:r>
                      <a:endParaRPr lang="zh-TW" sz="1200" kern="100" dirty="0">
                        <a:effectLst/>
                        <a:latin typeface="微軟正黑體" panose="020B0604030504040204" pitchFamily="34" charset="-120"/>
                        <a:ea typeface="微軟正黑體" panose="020B0604030504040204" pitchFamily="34" charset="-120"/>
                      </a:endParaRPr>
                    </a:p>
                  </a:txBody>
                  <a:tcPr marL="95250" marR="95250" marT="95250" marB="95250"/>
                </a:tc>
                <a:extLst>
                  <a:ext uri="{0D108BD9-81ED-4DB2-BD59-A6C34878D82A}">
                    <a16:rowId xmlns:a16="http://schemas.microsoft.com/office/drawing/2014/main" val="10004"/>
                  </a:ext>
                </a:extLst>
              </a:tr>
              <a:tr h="381000">
                <a:tc>
                  <a:txBody>
                    <a:bodyPr/>
                    <a:lstStyle/>
                    <a:p>
                      <a:pPr algn="ctr">
                        <a:spcAft>
                          <a:spcPts val="0"/>
                        </a:spcAft>
                      </a:pPr>
                      <a:r>
                        <a:rPr lang="en-US" sz="1400" kern="0" dirty="0">
                          <a:effectLst/>
                        </a:rPr>
                        <a:t>4</a:t>
                      </a:r>
                      <a:endParaRPr lang="zh-TW" sz="1200" kern="100" dirty="0">
                        <a:effectLst/>
                        <a:latin typeface="Times New Roman" panose="02020603050405020304" pitchFamily="18" charset="0"/>
                        <a:ea typeface="新細明體" panose="02020500000000000000" pitchFamily="18" charset="-120"/>
                      </a:endParaRPr>
                    </a:p>
                  </a:txBody>
                  <a:tcPr marL="95250" marR="95250" marT="95250" marB="95250"/>
                </a:tc>
                <a:tc>
                  <a:txBody>
                    <a:bodyPr/>
                    <a:lstStyle/>
                    <a:p>
                      <a:pPr algn="ctr">
                        <a:spcAft>
                          <a:spcPts val="0"/>
                        </a:spcAft>
                      </a:pPr>
                      <a:r>
                        <a:rPr lang="en-US" sz="1400" kern="0" dirty="0">
                          <a:effectLst/>
                          <a:latin typeface="微軟正黑體" panose="020B0604030504040204" pitchFamily="34" charset="-120"/>
                          <a:ea typeface="微軟正黑體" panose="020B0604030504040204" pitchFamily="34" charset="-120"/>
                        </a:rPr>
                        <a:t>711</a:t>
                      </a:r>
                      <a:endParaRPr lang="zh-TW" sz="1200" kern="100" dirty="0">
                        <a:effectLst/>
                        <a:latin typeface="微軟正黑體" panose="020B0604030504040204" pitchFamily="34" charset="-120"/>
                        <a:ea typeface="微軟正黑體" panose="020B0604030504040204" pitchFamily="34" charset="-120"/>
                      </a:endParaRPr>
                    </a:p>
                  </a:txBody>
                  <a:tcPr marL="95250" marR="95250" marT="95250" marB="95250"/>
                </a:tc>
                <a:tc>
                  <a:txBody>
                    <a:bodyPr/>
                    <a:lstStyle/>
                    <a:p>
                      <a:pPr algn="ctr">
                        <a:spcAft>
                          <a:spcPts val="0"/>
                        </a:spcAft>
                      </a:pPr>
                      <a:r>
                        <a:rPr lang="en-US" sz="1400" kern="0" dirty="0">
                          <a:effectLst/>
                          <a:latin typeface="微軟正黑體" panose="020B0604030504040204" pitchFamily="34" charset="-120"/>
                          <a:ea typeface="微軟正黑體" panose="020B0604030504040204" pitchFamily="34" charset="-120"/>
                        </a:rPr>
                        <a:t>52</a:t>
                      </a:r>
                      <a:endParaRPr lang="zh-TW" sz="1200" kern="100" dirty="0">
                        <a:effectLst/>
                        <a:latin typeface="微軟正黑體" panose="020B0604030504040204" pitchFamily="34" charset="-120"/>
                        <a:ea typeface="微軟正黑體" panose="020B0604030504040204" pitchFamily="34" charset="-120"/>
                      </a:endParaRPr>
                    </a:p>
                  </a:txBody>
                  <a:tcPr marL="95250" marR="95250" marT="95250" marB="95250"/>
                </a:tc>
                <a:tc>
                  <a:txBody>
                    <a:bodyPr/>
                    <a:lstStyle/>
                    <a:p>
                      <a:pPr algn="ctr">
                        <a:spcAft>
                          <a:spcPts val="0"/>
                        </a:spcAft>
                      </a:pPr>
                      <a:r>
                        <a:rPr lang="en-US" sz="1400" kern="0" dirty="0">
                          <a:effectLst/>
                          <a:latin typeface="微軟正黑體" panose="020B0604030504040204" pitchFamily="34" charset="-120"/>
                          <a:ea typeface="微軟正黑體" panose="020B0604030504040204" pitchFamily="34" charset="-120"/>
                        </a:rPr>
                        <a:t>7.31%</a:t>
                      </a:r>
                      <a:endParaRPr lang="zh-TW" sz="1200" kern="100" dirty="0">
                        <a:effectLst/>
                        <a:latin typeface="微軟正黑體" panose="020B0604030504040204" pitchFamily="34" charset="-120"/>
                        <a:ea typeface="微軟正黑體" panose="020B0604030504040204" pitchFamily="34" charset="-120"/>
                      </a:endParaRPr>
                    </a:p>
                  </a:txBody>
                  <a:tcPr marL="95250" marR="95250" marT="95250" marB="95250"/>
                </a:tc>
                <a:tc>
                  <a:txBody>
                    <a:bodyPr/>
                    <a:lstStyle/>
                    <a:p>
                      <a:pPr algn="ctr">
                        <a:spcAft>
                          <a:spcPts val="0"/>
                        </a:spcAft>
                      </a:pPr>
                      <a:r>
                        <a:rPr lang="en-US" sz="1400" kern="0" dirty="0">
                          <a:effectLst/>
                          <a:latin typeface="微軟正黑體" panose="020B0604030504040204" pitchFamily="34" charset="-120"/>
                          <a:ea typeface="微軟正黑體" panose="020B0604030504040204" pitchFamily="34" charset="-120"/>
                        </a:rPr>
                        <a:t>26.67%</a:t>
                      </a:r>
                      <a:endParaRPr lang="zh-TW" sz="1200" kern="100" dirty="0">
                        <a:effectLst/>
                        <a:latin typeface="微軟正黑體" panose="020B0604030504040204" pitchFamily="34" charset="-120"/>
                        <a:ea typeface="微軟正黑體" panose="020B0604030504040204" pitchFamily="34" charset="-120"/>
                      </a:endParaRPr>
                    </a:p>
                  </a:txBody>
                  <a:tcPr marL="95250" marR="95250" marT="95250" marB="95250"/>
                </a:tc>
                <a:extLst>
                  <a:ext uri="{0D108BD9-81ED-4DB2-BD59-A6C34878D82A}">
                    <a16:rowId xmlns:a16="http://schemas.microsoft.com/office/drawing/2014/main" val="10005"/>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gd9279c01cd_0_26"/>
          <p:cNvSpPr/>
          <p:nvPr/>
        </p:nvSpPr>
        <p:spPr>
          <a:xfrm>
            <a:off x="1848142" y="329912"/>
            <a:ext cx="3194100" cy="387300"/>
          </a:xfrm>
          <a:prstGeom prst="parallelogram">
            <a:avLst>
              <a:gd name="adj" fmla="val 69898"/>
            </a:avLst>
          </a:prstGeom>
          <a:solidFill>
            <a:srgbClr val="21BFCA"/>
          </a:solidFill>
          <a:ln w="161925" cap="sq" cmpd="sng">
            <a:solidFill>
              <a:srgbClr val="1E868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297" name="Google Shape;297;gd9279c01cd_0_26"/>
          <p:cNvSpPr/>
          <p:nvPr/>
        </p:nvSpPr>
        <p:spPr>
          <a:xfrm>
            <a:off x="1833992" y="329256"/>
            <a:ext cx="3194100" cy="387300"/>
          </a:xfrm>
          <a:prstGeom prst="parallelogram">
            <a:avLst>
              <a:gd name="adj" fmla="val 69898"/>
            </a:avLst>
          </a:prstGeom>
          <a:solidFill>
            <a:srgbClr val="21BFCA"/>
          </a:solidFill>
          <a:ln w="161925" cap="sq" cmpd="sng">
            <a:solidFill>
              <a:srgbClr val="21BFC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298" name="Google Shape;298;gd9279c01cd_0_26"/>
          <p:cNvSpPr/>
          <p:nvPr/>
        </p:nvSpPr>
        <p:spPr>
          <a:xfrm>
            <a:off x="4581237" y="329912"/>
            <a:ext cx="7524900" cy="387300"/>
          </a:xfrm>
          <a:prstGeom prst="parallelogram">
            <a:avLst>
              <a:gd name="adj" fmla="val 0"/>
            </a:avLst>
          </a:prstGeom>
          <a:solidFill>
            <a:srgbClr val="21BFCA"/>
          </a:solidFill>
          <a:ln w="161925" cap="sq" cmpd="sng">
            <a:solidFill>
              <a:srgbClr val="21BFC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299" name="Google Shape;299;gd9279c01cd_0_26"/>
          <p:cNvSpPr/>
          <p:nvPr/>
        </p:nvSpPr>
        <p:spPr>
          <a:xfrm>
            <a:off x="2066647" y="271786"/>
            <a:ext cx="6678600" cy="523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zh-TW" sz="2800" b="0" i="0" u="none" strike="noStrike" cap="none">
                <a:solidFill>
                  <a:srgbClr val="FFFFFF"/>
                </a:solidFill>
                <a:latin typeface="Microsoft JhengHei"/>
                <a:ea typeface="Microsoft JhengHei"/>
                <a:cs typeface="Microsoft JhengHei"/>
                <a:sym typeface="Microsoft JhengHei"/>
              </a:rPr>
              <a:t>Tree Model 實務觀點</a:t>
            </a:r>
            <a:endParaRPr sz="2800" b="0" i="0" u="none" strike="noStrike" cap="none">
              <a:solidFill>
                <a:srgbClr val="FFFFFF"/>
              </a:solidFill>
              <a:latin typeface="Microsoft JhengHei"/>
              <a:ea typeface="Microsoft JhengHei"/>
              <a:cs typeface="Microsoft JhengHei"/>
              <a:sym typeface="Microsoft JhengHei"/>
            </a:endParaRPr>
          </a:p>
        </p:txBody>
      </p:sp>
      <p:cxnSp>
        <p:nvCxnSpPr>
          <p:cNvPr id="300" name="Google Shape;300;gd9279c01cd_0_26"/>
          <p:cNvCxnSpPr/>
          <p:nvPr/>
        </p:nvCxnSpPr>
        <p:spPr>
          <a:xfrm>
            <a:off x="157389" y="1269734"/>
            <a:ext cx="1224000" cy="0"/>
          </a:xfrm>
          <a:prstGeom prst="straightConnector1">
            <a:avLst/>
          </a:prstGeom>
          <a:noFill/>
          <a:ln w="15875" cap="rnd" cmpd="sng">
            <a:solidFill>
              <a:srgbClr val="21BFCA"/>
            </a:solidFill>
            <a:prstDash val="solid"/>
            <a:round/>
            <a:headEnd type="none" w="sm" len="sm"/>
            <a:tailEnd type="none" w="sm" len="sm"/>
          </a:ln>
        </p:spPr>
      </p:cxnSp>
      <p:graphicFrame>
        <p:nvGraphicFramePr>
          <p:cNvPr id="301" name="Google Shape;301;gd9279c01cd_0_26"/>
          <p:cNvGraphicFramePr/>
          <p:nvPr/>
        </p:nvGraphicFramePr>
        <p:xfrm>
          <a:off x="298393" y="6487160"/>
          <a:ext cx="11096375" cy="370850"/>
        </p:xfrm>
        <a:graphic>
          <a:graphicData uri="http://schemas.openxmlformats.org/drawingml/2006/table">
            <a:tbl>
              <a:tblPr firstRow="1" bandRow="1">
                <a:noFill/>
                <a:tableStyleId>{72FCF9FF-86DD-4F90-83C7-D16C962093AE}</a:tableStyleId>
              </a:tblPr>
              <a:tblGrid>
                <a:gridCol w="11096375">
                  <a:extLst>
                    <a:ext uri="{9D8B030D-6E8A-4147-A177-3AD203B41FA5}">
                      <a16:colId xmlns:a16="http://schemas.microsoft.com/office/drawing/2014/main" val="20000"/>
                    </a:ext>
                  </a:extLst>
                </a:gridCol>
              </a:tblGrid>
              <a:tr h="370850">
                <a:tc>
                  <a:txBody>
                    <a:bodyPr/>
                    <a:lstStyle/>
                    <a:p>
                      <a:pPr marL="0" marR="0" lvl="0" indent="0" algn="ctr" rtl="0">
                        <a:lnSpc>
                          <a:spcPct val="150000"/>
                        </a:lnSpc>
                        <a:spcBef>
                          <a:spcPts val="0"/>
                        </a:spcBef>
                        <a:spcAft>
                          <a:spcPts val="0"/>
                        </a:spcAft>
                        <a:buClr>
                          <a:srgbClr val="BFBFBF"/>
                        </a:buClr>
                        <a:buSzPts val="700"/>
                        <a:buFont typeface="Malgun Gothic"/>
                        <a:buNone/>
                      </a:pPr>
                      <a:r>
                        <a:rPr lang="zh-TW" sz="700" b="0" i="0" u="none" strike="noStrike" cap="none" dirty="0">
                          <a:solidFill>
                            <a:srgbClr val="BFBFBF"/>
                          </a:solidFill>
                          <a:latin typeface="Malgun Gothic"/>
                          <a:ea typeface="Malgun Gothic"/>
                          <a:cs typeface="Malgun Gothic"/>
                          <a:sym typeface="Malgun Gothic"/>
                        </a:rPr>
                        <a:t>Enjoy your stylish business and campus life with BIZCAM</a:t>
                      </a:r>
                      <a:endParaRPr sz="4800" b="0" i="0" u="none" strike="noStrike" cap="none" dirty="0">
                        <a:solidFill>
                          <a:srgbClr val="BFBFBF"/>
                        </a:solidFill>
                        <a:latin typeface="Malgun Gothic"/>
                        <a:ea typeface="Malgun Gothic"/>
                        <a:cs typeface="Malgun Gothic"/>
                        <a:sym typeface="Malgun Gothic"/>
                      </a:endParaRPr>
                    </a:p>
                  </a:txBody>
                  <a:tcPr marL="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02" name="Google Shape;302;gd9279c01cd_0_26"/>
          <p:cNvSpPr/>
          <p:nvPr/>
        </p:nvSpPr>
        <p:spPr>
          <a:xfrm>
            <a:off x="158593" y="808069"/>
            <a:ext cx="540600" cy="461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zh-TW" sz="2400" b="1" i="1" u="none" strike="noStrike" cap="none" dirty="0">
                <a:solidFill>
                  <a:srgbClr val="21BFCA"/>
                </a:solidFill>
                <a:latin typeface="Malgun Gothic"/>
                <a:ea typeface="Malgun Gothic"/>
                <a:cs typeface="Malgun Gothic"/>
                <a:sym typeface="Malgun Gothic"/>
              </a:rPr>
              <a:t>0</a:t>
            </a:r>
            <a:r>
              <a:rPr lang="en-US" altLang="zh-TW" sz="2400" b="1" i="1" u="none" strike="noStrike" cap="none" dirty="0">
                <a:solidFill>
                  <a:srgbClr val="21BFCA"/>
                </a:solidFill>
                <a:latin typeface="Malgun Gothic"/>
                <a:ea typeface="Malgun Gothic"/>
                <a:cs typeface="Malgun Gothic"/>
                <a:sym typeface="Malgun Gothic"/>
              </a:rPr>
              <a:t>4</a:t>
            </a:r>
            <a:endParaRPr sz="2400" b="0" i="0" u="none" strike="noStrike" cap="none" dirty="0">
              <a:solidFill>
                <a:srgbClr val="21BFCA"/>
              </a:solidFill>
              <a:latin typeface="Malgun Gothic"/>
              <a:ea typeface="Malgun Gothic"/>
              <a:cs typeface="Malgun Gothic"/>
              <a:sym typeface="Malgun Gothic"/>
            </a:endParaRPr>
          </a:p>
        </p:txBody>
      </p:sp>
      <p:sp>
        <p:nvSpPr>
          <p:cNvPr id="303" name="Google Shape;303;gd9279c01cd_0_26"/>
          <p:cNvSpPr txBox="1"/>
          <p:nvPr/>
        </p:nvSpPr>
        <p:spPr>
          <a:xfrm>
            <a:off x="163240" y="1389048"/>
            <a:ext cx="6694760" cy="1954351"/>
          </a:xfrm>
          <a:prstGeom prst="rect">
            <a:avLst/>
          </a:prstGeom>
          <a:noFill/>
          <a:ln>
            <a:noFill/>
          </a:ln>
        </p:spPr>
        <p:txBody>
          <a:bodyPr spcFirstLastPara="1" wrap="square" lIns="91425" tIns="91425" rIns="91425" bIns="91425" anchor="t" anchorCtr="0">
            <a:spAutoFit/>
          </a:bodyPr>
          <a:lstStyle/>
          <a:p>
            <a:pPr>
              <a:spcAft>
                <a:spcPts val="600"/>
              </a:spcAft>
              <a:buSzPts val="2000"/>
            </a:pPr>
            <a:r>
              <a:rPr lang="zh-TW" sz="2000" b="1" dirty="0">
                <a:solidFill>
                  <a:srgbClr val="002060"/>
                </a:solidFill>
                <a:latin typeface="Microsoft JhengHei"/>
                <a:ea typeface="Microsoft JhengHei"/>
                <a:cs typeface="Microsoft JhengHei"/>
                <a:sym typeface="Microsoft JhengHei"/>
              </a:rPr>
              <a:t>觀點</a:t>
            </a:r>
            <a:r>
              <a:rPr lang="zh-TW" sz="2000" b="1" i="0" u="none" strike="noStrike" cap="none" dirty="0">
                <a:solidFill>
                  <a:srgbClr val="002060"/>
                </a:solidFill>
                <a:latin typeface="Microsoft JhengHei"/>
                <a:ea typeface="Microsoft JhengHei"/>
                <a:cs typeface="Microsoft JhengHei"/>
                <a:sym typeface="Microsoft JhengHei"/>
              </a:rPr>
              <a:t>一</a:t>
            </a:r>
            <a:r>
              <a:rPr lang="zh-TW" altLang="en-US" sz="2000" b="1" i="0" u="none" strike="noStrike" cap="none" dirty="0">
                <a:solidFill>
                  <a:srgbClr val="002060"/>
                </a:solidFill>
                <a:latin typeface="Microsoft JhengHei"/>
                <a:ea typeface="Microsoft JhengHei"/>
                <a:cs typeface="Microsoft JhengHei"/>
                <a:sym typeface="Microsoft JhengHei"/>
              </a:rPr>
              <a:t>：</a:t>
            </a:r>
            <a:r>
              <a:rPr lang="zh-TW" altLang="en-US" sz="2000" b="1" dirty="0">
                <a:solidFill>
                  <a:srgbClr val="002060"/>
                </a:solidFill>
                <a:latin typeface="Microsoft JhengHei"/>
                <a:ea typeface="Microsoft JhengHei"/>
                <a:cs typeface="Microsoft JhengHei"/>
                <a:sym typeface="Microsoft JhengHei"/>
              </a:rPr>
              <a:t>不當行為發生時間越接近，越可能發生舞弊</a:t>
            </a:r>
            <a:endParaRPr lang="en-US" altLang="zh-TW" sz="2000" b="1" i="0" u="none" strike="noStrike" cap="none" dirty="0">
              <a:solidFill>
                <a:srgbClr val="002060"/>
              </a:solidFill>
              <a:latin typeface="Microsoft JhengHei"/>
              <a:ea typeface="Microsoft JhengHei"/>
              <a:cs typeface="Microsoft JhengHei"/>
              <a:sym typeface="Microsoft JhengHei"/>
            </a:endParaRPr>
          </a:p>
          <a:p>
            <a:pPr marL="0" marR="0" lvl="0" indent="0" algn="l" rtl="0">
              <a:lnSpc>
                <a:spcPct val="100000"/>
              </a:lnSpc>
              <a:spcBef>
                <a:spcPts val="0"/>
              </a:spcBef>
              <a:spcAft>
                <a:spcPts val="0"/>
              </a:spcAft>
              <a:buClr>
                <a:srgbClr val="000000"/>
              </a:buClr>
              <a:buSzPts val="2000"/>
              <a:buFont typeface="Arial"/>
              <a:buNone/>
            </a:pPr>
            <a:r>
              <a:rPr lang="zh-TW" sz="1800" b="0" i="0" u="none" strike="noStrike" cap="none" dirty="0">
                <a:solidFill>
                  <a:srgbClr val="000000"/>
                </a:solidFill>
                <a:latin typeface="Microsoft JhengHei"/>
                <a:ea typeface="Microsoft JhengHei"/>
                <a:cs typeface="Microsoft JhengHei"/>
                <a:sym typeface="Microsoft JhengHei"/>
              </a:rPr>
              <a:t>以近期是否發生不當行為為出發點，過往不當行為的發生時間越近，越能抓出舞弊，若近期有發生不當行為，則</a:t>
            </a:r>
            <a:r>
              <a:rPr lang="zh-TW" sz="1800" b="1" i="0" u="none" strike="noStrike" cap="none" dirty="0">
                <a:solidFill>
                  <a:srgbClr val="000000"/>
                </a:solidFill>
                <a:latin typeface="Microsoft JhengHei"/>
                <a:ea typeface="Microsoft JhengHei"/>
                <a:cs typeface="Microsoft JhengHei"/>
                <a:sym typeface="Microsoft JhengHei"/>
              </a:rPr>
              <a:t>再犯可能性高</a:t>
            </a:r>
            <a:r>
              <a:rPr lang="zh-TW" sz="1800" b="0" i="0" u="none" strike="noStrike" cap="none" dirty="0">
                <a:solidFill>
                  <a:srgbClr val="000000"/>
                </a:solidFill>
                <a:latin typeface="Microsoft JhengHei"/>
                <a:ea typeface="Microsoft JhengHei"/>
                <a:cs typeface="Microsoft JhengHei"/>
                <a:sym typeface="Microsoft JhengHei"/>
              </a:rPr>
              <a:t>。</a:t>
            </a:r>
            <a:endParaRPr sz="1800" b="0" i="0" u="none" strike="noStrike" cap="none" dirty="0">
              <a:solidFill>
                <a:srgbClr val="000000"/>
              </a:solidFill>
              <a:latin typeface="Microsoft JhengHei"/>
              <a:ea typeface="Microsoft JhengHei"/>
              <a:cs typeface="Microsoft JhengHei"/>
              <a:sym typeface="Microsoft JhengHei"/>
            </a:endParaRPr>
          </a:p>
          <a:p>
            <a:pPr marL="0" marR="0" lvl="0" indent="0" algn="l" rtl="0">
              <a:lnSpc>
                <a:spcPct val="100000"/>
              </a:lnSpc>
              <a:spcBef>
                <a:spcPts val="0"/>
              </a:spcBef>
              <a:spcAft>
                <a:spcPts val="0"/>
              </a:spcAft>
              <a:buClr>
                <a:srgbClr val="000000"/>
              </a:buClr>
              <a:buSzPts val="2000"/>
              <a:buFont typeface="Arial"/>
              <a:buNone/>
            </a:pPr>
            <a:r>
              <a:rPr lang="zh-TW" altLang="en-US" sz="1800" dirty="0">
                <a:latin typeface="Microsoft JhengHei"/>
                <a:ea typeface="Microsoft JhengHei"/>
                <a:cs typeface="Microsoft JhengHei"/>
                <a:sym typeface="Microsoft JhengHei"/>
              </a:rPr>
              <a:t>下</a:t>
            </a:r>
            <a:r>
              <a:rPr lang="zh-TW" sz="1800" b="0" i="0" u="none" strike="noStrike" cap="none" dirty="0">
                <a:solidFill>
                  <a:srgbClr val="000000"/>
                </a:solidFill>
                <a:latin typeface="Microsoft JhengHei"/>
                <a:ea typeface="Microsoft JhengHei"/>
                <a:cs typeface="Microsoft JhengHei"/>
                <a:sym typeface="Microsoft JhengHei"/>
              </a:rPr>
              <a:t>圖可看見，當11個月內有不當行為，則能抓出大部分的舞弊業務員。</a:t>
            </a:r>
            <a:endParaRPr sz="1800" b="0" i="0" u="none" strike="noStrike" cap="none" dirty="0">
              <a:solidFill>
                <a:srgbClr val="000000"/>
              </a:solidFill>
              <a:latin typeface="Microsoft JhengHei"/>
              <a:ea typeface="Microsoft JhengHei"/>
              <a:cs typeface="Microsoft JhengHei"/>
              <a:sym typeface="Microsoft JhengHei"/>
            </a:endParaRPr>
          </a:p>
          <a:p>
            <a:pPr marL="0" marR="0" lvl="0" indent="0" algn="l" rtl="0">
              <a:lnSpc>
                <a:spcPct val="100000"/>
              </a:lnSpc>
              <a:spcBef>
                <a:spcPts val="0"/>
              </a:spcBef>
              <a:spcAft>
                <a:spcPts val="0"/>
              </a:spcAft>
              <a:buClr>
                <a:srgbClr val="000000"/>
              </a:buClr>
              <a:buSzPts val="2000"/>
              <a:buFont typeface="Arial"/>
              <a:buNone/>
            </a:pPr>
            <a:endParaRPr sz="1800" b="0" i="0" u="none" strike="noStrike" cap="none" dirty="0">
              <a:solidFill>
                <a:srgbClr val="000000"/>
              </a:solidFill>
              <a:latin typeface="Microsoft JhengHei"/>
              <a:ea typeface="Microsoft JhengHei"/>
              <a:cs typeface="Microsoft JhengHei"/>
              <a:sym typeface="Microsoft JhengHei"/>
            </a:endParaRPr>
          </a:p>
        </p:txBody>
      </p:sp>
      <p:pic>
        <p:nvPicPr>
          <p:cNvPr id="304" name="Google Shape;304;gd9279c01cd_0_26"/>
          <p:cNvPicPr preferRelativeResize="0"/>
          <p:nvPr/>
        </p:nvPicPr>
        <p:blipFill rotWithShape="1">
          <a:blip r:embed="rId3">
            <a:alphaModFix/>
          </a:blip>
          <a:srcRect/>
          <a:stretch/>
        </p:blipFill>
        <p:spPr>
          <a:xfrm>
            <a:off x="870643" y="3266455"/>
            <a:ext cx="3620823" cy="2553241"/>
          </a:xfrm>
          <a:prstGeom prst="rect">
            <a:avLst/>
          </a:prstGeom>
          <a:noFill/>
          <a:ln>
            <a:noFill/>
          </a:ln>
        </p:spPr>
      </p:pic>
      <p:pic>
        <p:nvPicPr>
          <p:cNvPr id="305" name="Google Shape;305;gd9279c01cd_0_26"/>
          <p:cNvPicPr preferRelativeResize="0"/>
          <p:nvPr/>
        </p:nvPicPr>
        <p:blipFill>
          <a:blip r:embed="rId4">
            <a:alphaModFix/>
          </a:blip>
          <a:stretch>
            <a:fillRect/>
          </a:stretch>
        </p:blipFill>
        <p:spPr>
          <a:xfrm>
            <a:off x="6294917" y="3175927"/>
            <a:ext cx="4525483" cy="2824823"/>
          </a:xfrm>
          <a:prstGeom prst="rect">
            <a:avLst/>
          </a:prstGeom>
          <a:noFill/>
          <a:ln>
            <a:noFill/>
          </a:ln>
        </p:spPr>
      </p:pic>
      <p:sp>
        <p:nvSpPr>
          <p:cNvPr id="2" name="文字方塊 1"/>
          <p:cNvSpPr txBox="1"/>
          <p:nvPr/>
        </p:nvSpPr>
        <p:spPr>
          <a:xfrm>
            <a:off x="1571625" y="6000750"/>
            <a:ext cx="1109429" cy="307777"/>
          </a:xfrm>
          <a:prstGeom prst="rect">
            <a:avLst/>
          </a:prstGeom>
          <a:noFill/>
        </p:spPr>
        <p:txBody>
          <a:bodyPr wrap="square" rtlCol="0">
            <a:spAutoFit/>
          </a:bodyPr>
          <a:lstStyle/>
          <a:p>
            <a:pPr algn="ctr"/>
            <a:r>
              <a:rPr lang="zh-TW" altLang="en-US" dirty="0">
                <a:latin typeface="微軟正黑體" panose="020B0604030504040204" pitchFamily="34" charset="-120"/>
                <a:ea typeface="微軟正黑體" panose="020B0604030504040204" pitchFamily="34" charset="-120"/>
              </a:rPr>
              <a:t>圖一</a:t>
            </a:r>
          </a:p>
        </p:txBody>
      </p:sp>
      <p:sp>
        <p:nvSpPr>
          <p:cNvPr id="13" name="文字方塊 12"/>
          <p:cNvSpPr txBox="1"/>
          <p:nvPr/>
        </p:nvSpPr>
        <p:spPr>
          <a:xfrm>
            <a:off x="8343687" y="6000750"/>
            <a:ext cx="1109429" cy="307777"/>
          </a:xfrm>
          <a:prstGeom prst="rect">
            <a:avLst/>
          </a:prstGeom>
          <a:noFill/>
        </p:spPr>
        <p:txBody>
          <a:bodyPr wrap="square" rtlCol="0">
            <a:spAutoFit/>
          </a:bodyPr>
          <a:lstStyle/>
          <a:p>
            <a:pPr algn="ctr"/>
            <a:r>
              <a:rPr lang="zh-TW" altLang="en-US" dirty="0">
                <a:latin typeface="微軟正黑體" panose="020B0604030504040204" pitchFamily="34" charset="-120"/>
                <a:ea typeface="微軟正黑體" panose="020B0604030504040204" pitchFamily="34" charset="-120"/>
              </a:rPr>
              <a:t>圖二</a:t>
            </a:r>
          </a:p>
        </p:txBody>
      </p:sp>
      <p:graphicFrame>
        <p:nvGraphicFramePr>
          <p:cNvPr id="14" name="Google Shape;275;gded498c5cf_0_0"/>
          <p:cNvGraphicFramePr/>
          <p:nvPr>
            <p:extLst>
              <p:ext uri="{D42A27DB-BD31-4B8C-83A1-F6EECF244321}">
                <p14:modId xmlns:p14="http://schemas.microsoft.com/office/powerpoint/2010/main" val="1856430080"/>
              </p:ext>
            </p:extLst>
          </p:nvPr>
        </p:nvGraphicFramePr>
        <p:xfrm>
          <a:off x="298393" y="6487160"/>
          <a:ext cx="11096375" cy="371930"/>
        </p:xfrm>
        <a:graphic>
          <a:graphicData uri="http://schemas.openxmlformats.org/drawingml/2006/table">
            <a:tbl>
              <a:tblPr firstRow="1" bandRow="1">
                <a:noFill/>
                <a:tableStyleId>{72FCF9FF-86DD-4F90-83C7-D16C962093AE}</a:tableStyleId>
              </a:tblPr>
              <a:tblGrid>
                <a:gridCol w="11096375">
                  <a:extLst>
                    <a:ext uri="{9D8B030D-6E8A-4147-A177-3AD203B41FA5}">
                      <a16:colId xmlns:a16="http://schemas.microsoft.com/office/drawing/2014/main" val="20000"/>
                    </a:ext>
                  </a:extLst>
                </a:gridCol>
              </a:tblGrid>
              <a:tr h="370850">
                <a:tc>
                  <a:txBody>
                    <a:bodyPr/>
                    <a:lstStyle/>
                    <a:p>
                      <a:pPr marL="0" marR="0" lvl="0" indent="0" algn="ctr" rtl="0">
                        <a:lnSpc>
                          <a:spcPct val="150000"/>
                        </a:lnSpc>
                        <a:spcBef>
                          <a:spcPts val="0"/>
                        </a:spcBef>
                        <a:spcAft>
                          <a:spcPts val="0"/>
                        </a:spcAft>
                        <a:buClr>
                          <a:srgbClr val="BFBFBF"/>
                        </a:buClr>
                        <a:buSzPts val="700"/>
                        <a:buFont typeface="Malgun Gothic"/>
                        <a:buNone/>
                      </a:pPr>
                      <a:r>
                        <a:rPr lang="en-US" sz="1400" b="0" i="0" u="none" strike="noStrike" cap="none" dirty="0">
                          <a:solidFill>
                            <a:schemeClr val="bg1"/>
                          </a:solidFill>
                          <a:latin typeface="Cambria Math" panose="02040503050406030204" pitchFamily="18" charset="0"/>
                          <a:ea typeface="Cambria Math" panose="02040503050406030204" pitchFamily="18" charset="0"/>
                          <a:cs typeface="Malgun Gothic"/>
                          <a:sym typeface="Malgun Gothic"/>
                        </a:rPr>
                        <a:t>1</a:t>
                      </a:r>
                      <a:r>
                        <a:rPr lang="en-US" altLang="zh-TW" sz="1400" b="0" i="0" u="none" strike="noStrike" cap="none" dirty="0">
                          <a:solidFill>
                            <a:schemeClr val="bg1"/>
                          </a:solidFill>
                          <a:latin typeface="Cambria Math" panose="02040503050406030204" pitchFamily="18" charset="0"/>
                          <a:ea typeface="Cambria Math" panose="02040503050406030204" pitchFamily="18" charset="0"/>
                          <a:cs typeface="Malgun Gothic"/>
                          <a:sym typeface="Malgun Gothic"/>
                        </a:rPr>
                        <a:t>9</a:t>
                      </a:r>
                      <a:endParaRPr sz="1400" b="0" i="0" u="none" strike="noStrike" cap="none" dirty="0">
                        <a:solidFill>
                          <a:schemeClr val="bg1"/>
                        </a:solidFill>
                        <a:latin typeface="Cambria Math" panose="02040503050406030204" pitchFamily="18" charset="0"/>
                        <a:ea typeface="Cambria Math" panose="02040503050406030204" pitchFamily="18" charset="0"/>
                        <a:cs typeface="Malgun Gothic"/>
                        <a:sym typeface="Malgun Gothic"/>
                      </a:endParaRPr>
                    </a:p>
                  </a:txBody>
                  <a:tcPr marL="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gd9279c01cd_0_26"/>
          <p:cNvSpPr/>
          <p:nvPr/>
        </p:nvSpPr>
        <p:spPr>
          <a:xfrm>
            <a:off x="1848142" y="329912"/>
            <a:ext cx="3194100" cy="387300"/>
          </a:xfrm>
          <a:prstGeom prst="parallelogram">
            <a:avLst>
              <a:gd name="adj" fmla="val 69898"/>
            </a:avLst>
          </a:prstGeom>
          <a:solidFill>
            <a:srgbClr val="21BFCA"/>
          </a:solidFill>
          <a:ln w="161925" cap="sq" cmpd="sng">
            <a:solidFill>
              <a:srgbClr val="1E868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297" name="Google Shape;297;gd9279c01cd_0_26"/>
          <p:cNvSpPr/>
          <p:nvPr/>
        </p:nvSpPr>
        <p:spPr>
          <a:xfrm>
            <a:off x="1833992" y="329256"/>
            <a:ext cx="3194100" cy="387300"/>
          </a:xfrm>
          <a:prstGeom prst="parallelogram">
            <a:avLst>
              <a:gd name="adj" fmla="val 69898"/>
            </a:avLst>
          </a:prstGeom>
          <a:solidFill>
            <a:srgbClr val="21BFCA"/>
          </a:solidFill>
          <a:ln w="161925" cap="sq" cmpd="sng">
            <a:solidFill>
              <a:srgbClr val="21BFC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298" name="Google Shape;298;gd9279c01cd_0_26"/>
          <p:cNvSpPr/>
          <p:nvPr/>
        </p:nvSpPr>
        <p:spPr>
          <a:xfrm>
            <a:off x="4581237" y="329912"/>
            <a:ext cx="7524900" cy="387300"/>
          </a:xfrm>
          <a:prstGeom prst="parallelogram">
            <a:avLst>
              <a:gd name="adj" fmla="val 0"/>
            </a:avLst>
          </a:prstGeom>
          <a:solidFill>
            <a:srgbClr val="21BFCA"/>
          </a:solidFill>
          <a:ln w="161925" cap="sq" cmpd="sng">
            <a:solidFill>
              <a:srgbClr val="21BFC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299" name="Google Shape;299;gd9279c01cd_0_26"/>
          <p:cNvSpPr/>
          <p:nvPr/>
        </p:nvSpPr>
        <p:spPr>
          <a:xfrm>
            <a:off x="2066647" y="271786"/>
            <a:ext cx="6678600" cy="523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zh-TW" sz="2800" b="0" i="0" u="none" strike="noStrike" cap="none">
                <a:solidFill>
                  <a:srgbClr val="FFFFFF"/>
                </a:solidFill>
                <a:latin typeface="Microsoft JhengHei"/>
                <a:ea typeface="Microsoft JhengHei"/>
                <a:cs typeface="Microsoft JhengHei"/>
                <a:sym typeface="Microsoft JhengHei"/>
              </a:rPr>
              <a:t>Tree Model 實務觀點</a:t>
            </a:r>
            <a:endParaRPr sz="2800" b="0" i="0" u="none" strike="noStrike" cap="none">
              <a:solidFill>
                <a:srgbClr val="FFFFFF"/>
              </a:solidFill>
              <a:latin typeface="Microsoft JhengHei"/>
              <a:ea typeface="Microsoft JhengHei"/>
              <a:cs typeface="Microsoft JhengHei"/>
              <a:sym typeface="Microsoft JhengHei"/>
            </a:endParaRPr>
          </a:p>
        </p:txBody>
      </p:sp>
      <p:cxnSp>
        <p:nvCxnSpPr>
          <p:cNvPr id="300" name="Google Shape;300;gd9279c01cd_0_26"/>
          <p:cNvCxnSpPr/>
          <p:nvPr/>
        </p:nvCxnSpPr>
        <p:spPr>
          <a:xfrm>
            <a:off x="157389" y="1269734"/>
            <a:ext cx="1224000" cy="0"/>
          </a:xfrm>
          <a:prstGeom prst="straightConnector1">
            <a:avLst/>
          </a:prstGeom>
          <a:noFill/>
          <a:ln w="15875" cap="rnd" cmpd="sng">
            <a:solidFill>
              <a:srgbClr val="21BFCA"/>
            </a:solidFill>
            <a:prstDash val="solid"/>
            <a:round/>
            <a:headEnd type="none" w="sm" len="sm"/>
            <a:tailEnd type="none" w="sm" len="sm"/>
          </a:ln>
        </p:spPr>
      </p:cxnSp>
      <p:graphicFrame>
        <p:nvGraphicFramePr>
          <p:cNvPr id="301" name="Google Shape;301;gd9279c01cd_0_26"/>
          <p:cNvGraphicFramePr/>
          <p:nvPr/>
        </p:nvGraphicFramePr>
        <p:xfrm>
          <a:off x="298393" y="6487160"/>
          <a:ext cx="11096375" cy="370850"/>
        </p:xfrm>
        <a:graphic>
          <a:graphicData uri="http://schemas.openxmlformats.org/drawingml/2006/table">
            <a:tbl>
              <a:tblPr firstRow="1" bandRow="1">
                <a:noFill/>
                <a:tableStyleId>{72FCF9FF-86DD-4F90-83C7-D16C962093AE}</a:tableStyleId>
              </a:tblPr>
              <a:tblGrid>
                <a:gridCol w="11096375">
                  <a:extLst>
                    <a:ext uri="{9D8B030D-6E8A-4147-A177-3AD203B41FA5}">
                      <a16:colId xmlns:a16="http://schemas.microsoft.com/office/drawing/2014/main" val="20000"/>
                    </a:ext>
                  </a:extLst>
                </a:gridCol>
              </a:tblGrid>
              <a:tr h="370850">
                <a:tc>
                  <a:txBody>
                    <a:bodyPr/>
                    <a:lstStyle/>
                    <a:p>
                      <a:pPr marL="0" marR="0" lvl="0" indent="0" algn="ctr" rtl="0">
                        <a:lnSpc>
                          <a:spcPct val="150000"/>
                        </a:lnSpc>
                        <a:spcBef>
                          <a:spcPts val="0"/>
                        </a:spcBef>
                        <a:spcAft>
                          <a:spcPts val="0"/>
                        </a:spcAft>
                        <a:buClr>
                          <a:srgbClr val="BFBFBF"/>
                        </a:buClr>
                        <a:buSzPts val="700"/>
                        <a:buFont typeface="Malgun Gothic"/>
                        <a:buNone/>
                      </a:pPr>
                      <a:r>
                        <a:rPr lang="zh-TW" sz="700" b="0" i="0" u="none" strike="noStrike" cap="none" dirty="0">
                          <a:solidFill>
                            <a:srgbClr val="BFBFBF"/>
                          </a:solidFill>
                          <a:latin typeface="Malgun Gothic"/>
                          <a:ea typeface="Malgun Gothic"/>
                          <a:cs typeface="Malgun Gothic"/>
                          <a:sym typeface="Malgun Gothic"/>
                        </a:rPr>
                        <a:t>Enjoy your stylish business and campus life with BIZCAM</a:t>
                      </a:r>
                      <a:endParaRPr sz="4800" b="0" i="0" u="none" strike="noStrike" cap="none" dirty="0">
                        <a:solidFill>
                          <a:srgbClr val="BFBFBF"/>
                        </a:solidFill>
                        <a:latin typeface="Malgun Gothic"/>
                        <a:ea typeface="Malgun Gothic"/>
                        <a:cs typeface="Malgun Gothic"/>
                        <a:sym typeface="Malgun Gothic"/>
                      </a:endParaRPr>
                    </a:p>
                  </a:txBody>
                  <a:tcPr marL="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02" name="Google Shape;302;gd9279c01cd_0_26"/>
          <p:cNvSpPr/>
          <p:nvPr/>
        </p:nvSpPr>
        <p:spPr>
          <a:xfrm>
            <a:off x="158593" y="808069"/>
            <a:ext cx="540600" cy="461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zh-TW" sz="2400" b="1" i="1" u="none" strike="noStrike" cap="none" dirty="0">
                <a:solidFill>
                  <a:srgbClr val="21BFCA"/>
                </a:solidFill>
                <a:latin typeface="Malgun Gothic"/>
                <a:ea typeface="Malgun Gothic"/>
                <a:cs typeface="Malgun Gothic"/>
                <a:sym typeface="Malgun Gothic"/>
              </a:rPr>
              <a:t>0</a:t>
            </a:r>
            <a:r>
              <a:rPr lang="en-US" altLang="zh-TW" sz="2400" b="1" i="1" u="none" strike="noStrike" cap="none" dirty="0">
                <a:solidFill>
                  <a:srgbClr val="21BFCA"/>
                </a:solidFill>
                <a:latin typeface="Malgun Gothic"/>
                <a:ea typeface="Malgun Gothic"/>
                <a:cs typeface="Malgun Gothic"/>
                <a:sym typeface="Malgun Gothic"/>
              </a:rPr>
              <a:t>4</a:t>
            </a:r>
            <a:endParaRPr sz="2400" b="0" i="0" u="none" strike="noStrike" cap="none" dirty="0">
              <a:solidFill>
                <a:srgbClr val="21BFCA"/>
              </a:solidFill>
              <a:latin typeface="Malgun Gothic"/>
              <a:ea typeface="Malgun Gothic"/>
              <a:cs typeface="Malgun Gothic"/>
              <a:sym typeface="Malgun Gothic"/>
            </a:endParaRPr>
          </a:p>
        </p:txBody>
      </p:sp>
      <p:sp>
        <p:nvSpPr>
          <p:cNvPr id="303" name="Google Shape;303;gd9279c01cd_0_26"/>
          <p:cNvSpPr txBox="1"/>
          <p:nvPr/>
        </p:nvSpPr>
        <p:spPr>
          <a:xfrm>
            <a:off x="157388" y="1512873"/>
            <a:ext cx="7112321" cy="3939510"/>
          </a:xfrm>
          <a:prstGeom prst="rect">
            <a:avLst/>
          </a:prstGeom>
          <a:noFill/>
          <a:ln>
            <a:noFill/>
          </a:ln>
        </p:spPr>
        <p:txBody>
          <a:bodyPr spcFirstLastPara="1" wrap="square" lIns="91425" tIns="91425" rIns="91425" bIns="91425" anchor="t" anchorCtr="0">
            <a:spAutoFit/>
          </a:bodyPr>
          <a:lstStyle/>
          <a:p>
            <a:pPr lvl="0">
              <a:spcAft>
                <a:spcPts val="600"/>
              </a:spcAft>
              <a:buSzPts val="2000"/>
            </a:pPr>
            <a:r>
              <a:rPr lang="zh-TW" sz="2000" b="1" dirty="0">
                <a:solidFill>
                  <a:srgbClr val="002060"/>
                </a:solidFill>
                <a:latin typeface="Microsoft JhengHei"/>
                <a:ea typeface="Microsoft JhengHei"/>
                <a:cs typeface="Microsoft JhengHei"/>
                <a:sym typeface="Microsoft JhengHei"/>
              </a:rPr>
              <a:t>觀點</a:t>
            </a:r>
            <a:r>
              <a:rPr lang="zh-TW" altLang="en-US" sz="2000" b="1" dirty="0">
                <a:solidFill>
                  <a:srgbClr val="002060"/>
                </a:solidFill>
                <a:latin typeface="Microsoft JhengHei"/>
                <a:ea typeface="Microsoft JhengHei"/>
                <a:cs typeface="Microsoft JhengHei"/>
                <a:sym typeface="Microsoft JhengHei"/>
              </a:rPr>
              <a:t>二：</a:t>
            </a:r>
            <a:endParaRPr lang="en-US" altLang="zh-TW" sz="2000" b="1" dirty="0">
              <a:solidFill>
                <a:srgbClr val="002060"/>
              </a:solidFill>
              <a:latin typeface="Microsoft JhengHei"/>
              <a:ea typeface="Microsoft JhengHei"/>
              <a:cs typeface="Microsoft JhengHei"/>
              <a:sym typeface="Microsoft JhengHei"/>
            </a:endParaRPr>
          </a:p>
          <a:p>
            <a:pPr lvl="0">
              <a:spcAft>
                <a:spcPts val="600"/>
              </a:spcAft>
              <a:buSzPts val="2000"/>
            </a:pPr>
            <a:r>
              <a:rPr lang="zh-TW" altLang="zh-TW" sz="2000" b="1" dirty="0">
                <a:solidFill>
                  <a:srgbClr val="002060"/>
                </a:solidFill>
                <a:latin typeface="Microsoft JhengHei"/>
                <a:ea typeface="Microsoft JhengHei"/>
                <a:cs typeface="Microsoft JhengHei"/>
                <a:sym typeface="Microsoft JhengHei"/>
              </a:rPr>
              <a:t>失效保單總數越</a:t>
            </a:r>
            <a:r>
              <a:rPr lang="zh-TW" altLang="en-US" sz="2000" b="1" dirty="0">
                <a:solidFill>
                  <a:srgbClr val="002060"/>
                </a:solidFill>
                <a:latin typeface="Microsoft JhengHei"/>
                <a:ea typeface="Microsoft JhengHei"/>
                <a:cs typeface="Microsoft JhengHei"/>
                <a:sym typeface="Microsoft JhengHei"/>
              </a:rPr>
              <a:t>高</a:t>
            </a:r>
            <a:r>
              <a:rPr lang="zh-TW" altLang="zh-TW" sz="2000" b="1" dirty="0">
                <a:solidFill>
                  <a:srgbClr val="002060"/>
                </a:solidFill>
                <a:latin typeface="Microsoft JhengHei"/>
                <a:ea typeface="Microsoft JhengHei"/>
                <a:cs typeface="Microsoft JhengHei"/>
                <a:sym typeface="Microsoft JhengHei"/>
              </a:rPr>
              <a:t>，舞弊可能性越</a:t>
            </a:r>
            <a:r>
              <a:rPr lang="zh-TW" altLang="en-US" sz="2000" b="1" dirty="0">
                <a:solidFill>
                  <a:srgbClr val="002060"/>
                </a:solidFill>
                <a:latin typeface="Microsoft JhengHei"/>
                <a:ea typeface="Microsoft JhengHei"/>
                <a:cs typeface="Microsoft JhengHei"/>
                <a:sym typeface="Microsoft JhengHei"/>
              </a:rPr>
              <a:t>高（須滿足觀點一條件）</a:t>
            </a:r>
            <a:endParaRPr lang="en-US" altLang="zh-TW" sz="2000" b="1" i="0" u="none" strike="noStrike" cap="none" dirty="0">
              <a:solidFill>
                <a:srgbClr val="002060"/>
              </a:solidFill>
              <a:latin typeface="Microsoft JhengHei"/>
              <a:ea typeface="Microsoft JhengHei"/>
              <a:cs typeface="Microsoft JhengHei"/>
              <a:sym typeface="Microsoft JhengHei"/>
            </a:endParaRPr>
          </a:p>
          <a:p>
            <a:pPr lvl="0">
              <a:buSzPts val="2000"/>
            </a:pPr>
            <a:r>
              <a:rPr lang="zh-TW" altLang="en-US" sz="1800" dirty="0">
                <a:latin typeface="Microsoft JhengHei"/>
                <a:ea typeface="Microsoft JhengHei"/>
                <a:cs typeface="Microsoft JhengHei"/>
                <a:sym typeface="Microsoft JhengHei"/>
              </a:rPr>
              <a:t>過往不當行為在近期內發生，加上保單失效總數高，可能代表業務員態度不佳，或者未妥善處理客戶保單，導致失效保單增加。</a:t>
            </a:r>
            <a:endParaRPr lang="en-US" altLang="zh-TW" sz="1800" dirty="0">
              <a:latin typeface="Microsoft JhengHei"/>
              <a:ea typeface="Microsoft JhengHei"/>
              <a:cs typeface="Microsoft JhengHei"/>
              <a:sym typeface="Microsoft JhengHei"/>
            </a:endParaRPr>
          </a:p>
          <a:p>
            <a:pPr lvl="0">
              <a:buSzPts val="2000"/>
            </a:pPr>
            <a:endParaRPr lang="en-US" altLang="zh-TW" sz="1800" dirty="0">
              <a:latin typeface="Microsoft JhengHei"/>
              <a:ea typeface="Microsoft JhengHei"/>
              <a:cs typeface="Microsoft JhengHei"/>
              <a:sym typeface="Microsoft JhengHei"/>
            </a:endParaRPr>
          </a:p>
          <a:p>
            <a:pPr>
              <a:buSzPts val="2000"/>
            </a:pPr>
            <a:endParaRPr lang="en-US" altLang="zh-TW" sz="1800" b="1" dirty="0">
              <a:solidFill>
                <a:srgbClr val="002060"/>
              </a:solidFill>
              <a:latin typeface="Microsoft JhengHei"/>
              <a:ea typeface="Microsoft JhengHei"/>
              <a:cs typeface="Microsoft JhengHei"/>
              <a:sym typeface="Microsoft JhengHei"/>
            </a:endParaRPr>
          </a:p>
          <a:p>
            <a:pPr>
              <a:buSzPts val="2000"/>
            </a:pPr>
            <a:endParaRPr lang="en-US" altLang="zh-TW" sz="1800" b="1" dirty="0">
              <a:solidFill>
                <a:srgbClr val="002060"/>
              </a:solidFill>
              <a:latin typeface="Microsoft JhengHei"/>
              <a:ea typeface="Microsoft JhengHei"/>
              <a:cs typeface="Microsoft JhengHei"/>
              <a:sym typeface="Microsoft JhengHei"/>
            </a:endParaRPr>
          </a:p>
          <a:p>
            <a:pPr>
              <a:spcAft>
                <a:spcPts val="600"/>
              </a:spcAft>
              <a:buSzPts val="2000"/>
            </a:pPr>
            <a:r>
              <a:rPr lang="zh-TW" altLang="zh-TW" sz="2000" b="1" dirty="0">
                <a:solidFill>
                  <a:srgbClr val="002060"/>
                </a:solidFill>
                <a:latin typeface="Microsoft JhengHei"/>
                <a:ea typeface="Microsoft JhengHei"/>
                <a:cs typeface="Microsoft JhengHei"/>
                <a:sym typeface="Microsoft JhengHei"/>
              </a:rPr>
              <a:t>觀點</a:t>
            </a:r>
            <a:r>
              <a:rPr lang="zh-TW" altLang="en-US" sz="2000" b="1" dirty="0">
                <a:solidFill>
                  <a:srgbClr val="002060"/>
                </a:solidFill>
                <a:latin typeface="Microsoft JhengHei"/>
                <a:ea typeface="Microsoft JhengHei"/>
                <a:cs typeface="Microsoft JhengHei"/>
                <a:sym typeface="Microsoft JhengHei"/>
              </a:rPr>
              <a:t>三：</a:t>
            </a:r>
            <a:endParaRPr lang="en-US" altLang="zh-TW" sz="2000" b="1" dirty="0">
              <a:solidFill>
                <a:srgbClr val="002060"/>
              </a:solidFill>
              <a:latin typeface="Microsoft JhengHei"/>
              <a:ea typeface="Microsoft JhengHei"/>
              <a:cs typeface="Microsoft JhengHei"/>
              <a:sym typeface="Microsoft JhengHei"/>
            </a:endParaRPr>
          </a:p>
          <a:p>
            <a:pPr>
              <a:spcAft>
                <a:spcPts val="600"/>
              </a:spcAft>
              <a:buSzPts val="2000"/>
            </a:pPr>
            <a:r>
              <a:rPr lang="zh-TW" altLang="en-US" sz="2000" b="1" dirty="0">
                <a:solidFill>
                  <a:srgbClr val="002060"/>
                </a:solidFill>
                <a:latin typeface="Microsoft JhengHei"/>
                <a:ea typeface="Microsoft JhengHei"/>
                <a:cs typeface="Microsoft JhengHei"/>
                <a:sym typeface="Microsoft JhengHei"/>
              </a:rPr>
              <a:t>近期保單失效比例越高，舞弊可能性越高（須滿足觀點二條件）</a:t>
            </a:r>
            <a:endParaRPr lang="en-US" altLang="zh-TW" sz="2000" b="1" dirty="0">
              <a:solidFill>
                <a:srgbClr val="002060"/>
              </a:solidFill>
              <a:latin typeface="Microsoft JhengHei"/>
              <a:ea typeface="Microsoft JhengHei"/>
              <a:cs typeface="Microsoft JhengHei"/>
              <a:sym typeface="Microsoft JhengHei"/>
            </a:endParaRPr>
          </a:p>
          <a:p>
            <a:pPr>
              <a:buSzPts val="2000"/>
            </a:pPr>
            <a:r>
              <a:rPr lang="zh-TW" altLang="zh-TW" sz="1800" dirty="0">
                <a:latin typeface="Microsoft JhengHei"/>
                <a:ea typeface="Microsoft JhengHei"/>
                <a:cs typeface="Microsoft JhengHei"/>
                <a:sym typeface="Microsoft JhengHei"/>
              </a:rPr>
              <a:t>若近12個月失效保單比例高，可能代表業務員最近出了狀況，更有可能從事舞弊行為。</a:t>
            </a:r>
            <a:endParaRPr lang="zh-TW" altLang="en-US" sz="1800" b="1" dirty="0">
              <a:solidFill>
                <a:srgbClr val="002060"/>
              </a:solidFill>
              <a:latin typeface="Microsoft JhengHei"/>
              <a:ea typeface="Microsoft JhengHei"/>
              <a:cs typeface="Microsoft JhengHei"/>
              <a:sym typeface="Microsoft JhengHei"/>
            </a:endParaRPr>
          </a:p>
          <a:p>
            <a:pPr lvl="0">
              <a:buSzPts val="2000"/>
            </a:pPr>
            <a:endParaRPr lang="zh-TW" altLang="en-US" sz="1800" dirty="0">
              <a:latin typeface="Microsoft JhengHei"/>
              <a:ea typeface="Microsoft JhengHei"/>
              <a:cs typeface="Microsoft JhengHei"/>
              <a:sym typeface="Microsoft JhengHei"/>
            </a:endParaRPr>
          </a:p>
        </p:txBody>
      </p:sp>
      <p:sp>
        <p:nvSpPr>
          <p:cNvPr id="2" name="文字方塊 1"/>
          <p:cNvSpPr txBox="1"/>
          <p:nvPr/>
        </p:nvSpPr>
        <p:spPr>
          <a:xfrm>
            <a:off x="6297434" y="3219152"/>
            <a:ext cx="1109429" cy="307777"/>
          </a:xfrm>
          <a:prstGeom prst="rect">
            <a:avLst/>
          </a:prstGeom>
          <a:noFill/>
        </p:spPr>
        <p:txBody>
          <a:bodyPr wrap="square" rtlCol="0">
            <a:spAutoFit/>
          </a:bodyPr>
          <a:lstStyle/>
          <a:p>
            <a:pPr algn="ctr"/>
            <a:r>
              <a:rPr lang="zh-TW" altLang="en-US" dirty="0">
                <a:latin typeface="微軟正黑體" panose="020B0604030504040204" pitchFamily="34" charset="-120"/>
                <a:ea typeface="微軟正黑體" panose="020B0604030504040204" pitchFamily="34" charset="-120"/>
              </a:rPr>
              <a:t>圖三</a:t>
            </a:r>
          </a:p>
        </p:txBody>
      </p:sp>
      <p:sp>
        <p:nvSpPr>
          <p:cNvPr id="13" name="文字方塊 12"/>
          <p:cNvSpPr txBox="1"/>
          <p:nvPr/>
        </p:nvSpPr>
        <p:spPr>
          <a:xfrm>
            <a:off x="6297434" y="5864240"/>
            <a:ext cx="1109429" cy="307777"/>
          </a:xfrm>
          <a:prstGeom prst="rect">
            <a:avLst/>
          </a:prstGeom>
          <a:noFill/>
        </p:spPr>
        <p:txBody>
          <a:bodyPr wrap="square" rtlCol="0">
            <a:spAutoFit/>
          </a:bodyPr>
          <a:lstStyle/>
          <a:p>
            <a:pPr algn="ctr"/>
            <a:r>
              <a:rPr lang="zh-TW" altLang="en-US" dirty="0">
                <a:latin typeface="微軟正黑體" panose="020B0604030504040204" pitchFamily="34" charset="-120"/>
                <a:ea typeface="微軟正黑體" panose="020B0604030504040204" pitchFamily="34" charset="-120"/>
              </a:rPr>
              <a:t>圖四</a:t>
            </a:r>
          </a:p>
        </p:txBody>
      </p:sp>
      <p:graphicFrame>
        <p:nvGraphicFramePr>
          <p:cNvPr id="14" name="Google Shape;275;gded498c5cf_0_0"/>
          <p:cNvGraphicFramePr/>
          <p:nvPr>
            <p:extLst>
              <p:ext uri="{D42A27DB-BD31-4B8C-83A1-F6EECF244321}">
                <p14:modId xmlns:p14="http://schemas.microsoft.com/office/powerpoint/2010/main" val="4028953784"/>
              </p:ext>
            </p:extLst>
          </p:nvPr>
        </p:nvGraphicFramePr>
        <p:xfrm>
          <a:off x="298393" y="6487160"/>
          <a:ext cx="11096375" cy="371930"/>
        </p:xfrm>
        <a:graphic>
          <a:graphicData uri="http://schemas.openxmlformats.org/drawingml/2006/table">
            <a:tbl>
              <a:tblPr firstRow="1" bandRow="1">
                <a:noFill/>
                <a:tableStyleId>{72FCF9FF-86DD-4F90-83C7-D16C962093AE}</a:tableStyleId>
              </a:tblPr>
              <a:tblGrid>
                <a:gridCol w="11096375">
                  <a:extLst>
                    <a:ext uri="{9D8B030D-6E8A-4147-A177-3AD203B41FA5}">
                      <a16:colId xmlns:a16="http://schemas.microsoft.com/office/drawing/2014/main" val="20000"/>
                    </a:ext>
                  </a:extLst>
                </a:gridCol>
              </a:tblGrid>
              <a:tr h="370850">
                <a:tc>
                  <a:txBody>
                    <a:bodyPr/>
                    <a:lstStyle/>
                    <a:p>
                      <a:pPr marL="0" marR="0" lvl="0" indent="0" algn="ctr" rtl="0">
                        <a:lnSpc>
                          <a:spcPct val="150000"/>
                        </a:lnSpc>
                        <a:spcBef>
                          <a:spcPts val="0"/>
                        </a:spcBef>
                        <a:spcAft>
                          <a:spcPts val="0"/>
                        </a:spcAft>
                        <a:buClr>
                          <a:srgbClr val="BFBFBF"/>
                        </a:buClr>
                        <a:buSzPts val="700"/>
                        <a:buFont typeface="Malgun Gothic"/>
                        <a:buNone/>
                      </a:pPr>
                      <a:r>
                        <a:rPr lang="en-US" altLang="zh-TW" sz="1400" b="0" i="0" u="none" strike="noStrike" cap="none" dirty="0">
                          <a:solidFill>
                            <a:schemeClr val="bg1"/>
                          </a:solidFill>
                          <a:latin typeface="Cambria Math" panose="02040503050406030204" pitchFamily="18" charset="0"/>
                          <a:ea typeface="Cambria Math" panose="02040503050406030204" pitchFamily="18" charset="0"/>
                          <a:cs typeface="Malgun Gothic"/>
                          <a:sym typeface="Malgun Gothic"/>
                        </a:rPr>
                        <a:t>20</a:t>
                      </a:r>
                      <a:endParaRPr sz="1400" b="0" i="0" u="none" strike="noStrike" cap="none" dirty="0">
                        <a:solidFill>
                          <a:schemeClr val="bg1"/>
                        </a:solidFill>
                        <a:latin typeface="Cambria Math" panose="02040503050406030204" pitchFamily="18" charset="0"/>
                        <a:ea typeface="Cambria Math" panose="02040503050406030204" pitchFamily="18" charset="0"/>
                        <a:cs typeface="Malgun Gothic"/>
                        <a:sym typeface="Malgun Gothic"/>
                      </a:endParaRPr>
                    </a:p>
                  </a:txBody>
                  <a:tcPr marL="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67789" y="1038919"/>
            <a:ext cx="4133241" cy="2577470"/>
          </a:xfrm>
          <a:prstGeom prst="rect">
            <a:avLst/>
          </a:prstGeom>
        </p:spPr>
      </p:pic>
      <p:pic>
        <p:nvPicPr>
          <p:cNvPr id="5" name="圖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69710" y="3687831"/>
            <a:ext cx="4057632" cy="2627244"/>
          </a:xfrm>
          <a:prstGeom prst="rect">
            <a:avLst/>
          </a:prstGeom>
        </p:spPr>
      </p:pic>
    </p:spTree>
    <p:extLst>
      <p:ext uri="{BB962C8B-B14F-4D97-AF65-F5344CB8AC3E}">
        <p14:creationId xmlns:p14="http://schemas.microsoft.com/office/powerpoint/2010/main" val="33391925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gd9279c01cd_0_26"/>
          <p:cNvSpPr/>
          <p:nvPr/>
        </p:nvSpPr>
        <p:spPr>
          <a:xfrm>
            <a:off x="1848142" y="329912"/>
            <a:ext cx="3194100" cy="387300"/>
          </a:xfrm>
          <a:prstGeom prst="parallelogram">
            <a:avLst>
              <a:gd name="adj" fmla="val 69898"/>
            </a:avLst>
          </a:prstGeom>
          <a:solidFill>
            <a:srgbClr val="21BFCA"/>
          </a:solidFill>
          <a:ln w="161925" cap="sq" cmpd="sng">
            <a:solidFill>
              <a:srgbClr val="1E868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297" name="Google Shape;297;gd9279c01cd_0_26"/>
          <p:cNvSpPr/>
          <p:nvPr/>
        </p:nvSpPr>
        <p:spPr>
          <a:xfrm>
            <a:off x="1833992" y="329256"/>
            <a:ext cx="3194100" cy="387300"/>
          </a:xfrm>
          <a:prstGeom prst="parallelogram">
            <a:avLst>
              <a:gd name="adj" fmla="val 69898"/>
            </a:avLst>
          </a:prstGeom>
          <a:solidFill>
            <a:srgbClr val="21BFCA"/>
          </a:solidFill>
          <a:ln w="161925" cap="sq" cmpd="sng">
            <a:solidFill>
              <a:srgbClr val="21BFC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298" name="Google Shape;298;gd9279c01cd_0_26"/>
          <p:cNvSpPr/>
          <p:nvPr/>
        </p:nvSpPr>
        <p:spPr>
          <a:xfrm>
            <a:off x="4581237" y="329912"/>
            <a:ext cx="7524900" cy="387300"/>
          </a:xfrm>
          <a:prstGeom prst="parallelogram">
            <a:avLst>
              <a:gd name="adj" fmla="val 0"/>
            </a:avLst>
          </a:prstGeom>
          <a:solidFill>
            <a:srgbClr val="21BFCA"/>
          </a:solidFill>
          <a:ln w="161925" cap="sq" cmpd="sng">
            <a:solidFill>
              <a:srgbClr val="21BFC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299" name="Google Shape;299;gd9279c01cd_0_26"/>
          <p:cNvSpPr/>
          <p:nvPr/>
        </p:nvSpPr>
        <p:spPr>
          <a:xfrm>
            <a:off x="2066647" y="271786"/>
            <a:ext cx="6678600" cy="523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zh-TW" sz="2800" b="0" i="0" u="none" strike="noStrike" cap="none">
                <a:solidFill>
                  <a:srgbClr val="FFFFFF"/>
                </a:solidFill>
                <a:latin typeface="Microsoft JhengHei"/>
                <a:ea typeface="Microsoft JhengHei"/>
                <a:cs typeface="Microsoft JhengHei"/>
                <a:sym typeface="Microsoft JhengHei"/>
              </a:rPr>
              <a:t>Tree Model 實務觀點</a:t>
            </a:r>
            <a:endParaRPr sz="2800" b="0" i="0" u="none" strike="noStrike" cap="none">
              <a:solidFill>
                <a:srgbClr val="FFFFFF"/>
              </a:solidFill>
              <a:latin typeface="Microsoft JhengHei"/>
              <a:ea typeface="Microsoft JhengHei"/>
              <a:cs typeface="Microsoft JhengHei"/>
              <a:sym typeface="Microsoft JhengHei"/>
            </a:endParaRPr>
          </a:p>
        </p:txBody>
      </p:sp>
      <p:cxnSp>
        <p:nvCxnSpPr>
          <p:cNvPr id="300" name="Google Shape;300;gd9279c01cd_0_26"/>
          <p:cNvCxnSpPr/>
          <p:nvPr/>
        </p:nvCxnSpPr>
        <p:spPr>
          <a:xfrm>
            <a:off x="157389" y="1269734"/>
            <a:ext cx="1224000" cy="0"/>
          </a:xfrm>
          <a:prstGeom prst="straightConnector1">
            <a:avLst/>
          </a:prstGeom>
          <a:noFill/>
          <a:ln w="15875" cap="rnd" cmpd="sng">
            <a:solidFill>
              <a:srgbClr val="21BFCA"/>
            </a:solidFill>
            <a:prstDash val="solid"/>
            <a:round/>
            <a:headEnd type="none" w="sm" len="sm"/>
            <a:tailEnd type="none" w="sm" len="sm"/>
          </a:ln>
        </p:spPr>
      </p:cxnSp>
      <p:graphicFrame>
        <p:nvGraphicFramePr>
          <p:cNvPr id="301" name="Google Shape;301;gd9279c01cd_0_26"/>
          <p:cNvGraphicFramePr/>
          <p:nvPr/>
        </p:nvGraphicFramePr>
        <p:xfrm>
          <a:off x="298393" y="6487160"/>
          <a:ext cx="11096375" cy="370850"/>
        </p:xfrm>
        <a:graphic>
          <a:graphicData uri="http://schemas.openxmlformats.org/drawingml/2006/table">
            <a:tbl>
              <a:tblPr firstRow="1" bandRow="1">
                <a:noFill/>
                <a:tableStyleId>{72FCF9FF-86DD-4F90-83C7-D16C962093AE}</a:tableStyleId>
              </a:tblPr>
              <a:tblGrid>
                <a:gridCol w="11096375">
                  <a:extLst>
                    <a:ext uri="{9D8B030D-6E8A-4147-A177-3AD203B41FA5}">
                      <a16:colId xmlns:a16="http://schemas.microsoft.com/office/drawing/2014/main" val="20000"/>
                    </a:ext>
                  </a:extLst>
                </a:gridCol>
              </a:tblGrid>
              <a:tr h="370850">
                <a:tc>
                  <a:txBody>
                    <a:bodyPr/>
                    <a:lstStyle/>
                    <a:p>
                      <a:pPr marL="0" marR="0" lvl="0" indent="0" algn="ctr" rtl="0">
                        <a:lnSpc>
                          <a:spcPct val="150000"/>
                        </a:lnSpc>
                        <a:spcBef>
                          <a:spcPts val="0"/>
                        </a:spcBef>
                        <a:spcAft>
                          <a:spcPts val="0"/>
                        </a:spcAft>
                        <a:buClr>
                          <a:srgbClr val="BFBFBF"/>
                        </a:buClr>
                        <a:buSzPts val="700"/>
                        <a:buFont typeface="Malgun Gothic"/>
                        <a:buNone/>
                      </a:pPr>
                      <a:r>
                        <a:rPr lang="zh-TW" sz="700" b="0" i="0" u="none" strike="noStrike" cap="none" dirty="0">
                          <a:solidFill>
                            <a:srgbClr val="BFBFBF"/>
                          </a:solidFill>
                          <a:latin typeface="Malgun Gothic"/>
                          <a:ea typeface="Malgun Gothic"/>
                          <a:cs typeface="Malgun Gothic"/>
                          <a:sym typeface="Malgun Gothic"/>
                        </a:rPr>
                        <a:t>Enjoy your stylish business and campus life with BIZCAM</a:t>
                      </a:r>
                      <a:endParaRPr sz="4800" b="0" i="0" u="none" strike="noStrike" cap="none" dirty="0">
                        <a:solidFill>
                          <a:srgbClr val="BFBFBF"/>
                        </a:solidFill>
                        <a:latin typeface="Malgun Gothic"/>
                        <a:ea typeface="Malgun Gothic"/>
                        <a:cs typeface="Malgun Gothic"/>
                        <a:sym typeface="Malgun Gothic"/>
                      </a:endParaRPr>
                    </a:p>
                  </a:txBody>
                  <a:tcPr marL="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02" name="Google Shape;302;gd9279c01cd_0_26"/>
          <p:cNvSpPr/>
          <p:nvPr/>
        </p:nvSpPr>
        <p:spPr>
          <a:xfrm>
            <a:off x="158593" y="808069"/>
            <a:ext cx="540600" cy="461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zh-TW" sz="2400" b="1" i="1" u="none" strike="noStrike" cap="none" dirty="0">
                <a:solidFill>
                  <a:srgbClr val="21BFCA"/>
                </a:solidFill>
                <a:latin typeface="Malgun Gothic"/>
                <a:ea typeface="Malgun Gothic"/>
                <a:cs typeface="Malgun Gothic"/>
                <a:sym typeface="Malgun Gothic"/>
              </a:rPr>
              <a:t>0</a:t>
            </a:r>
            <a:r>
              <a:rPr lang="en-US" altLang="zh-TW" sz="2400" b="1" i="1" u="none" strike="noStrike" cap="none" dirty="0">
                <a:solidFill>
                  <a:srgbClr val="21BFCA"/>
                </a:solidFill>
                <a:latin typeface="Malgun Gothic"/>
                <a:ea typeface="Malgun Gothic"/>
                <a:cs typeface="Malgun Gothic"/>
                <a:sym typeface="Malgun Gothic"/>
              </a:rPr>
              <a:t>4</a:t>
            </a:r>
            <a:endParaRPr sz="2400" b="0" i="0" u="none" strike="noStrike" cap="none" dirty="0">
              <a:solidFill>
                <a:srgbClr val="21BFCA"/>
              </a:solidFill>
              <a:latin typeface="Malgun Gothic"/>
              <a:ea typeface="Malgun Gothic"/>
              <a:cs typeface="Malgun Gothic"/>
              <a:sym typeface="Malgun Gothic"/>
            </a:endParaRPr>
          </a:p>
        </p:txBody>
      </p:sp>
      <p:sp>
        <p:nvSpPr>
          <p:cNvPr id="303" name="Google Shape;303;gd9279c01cd_0_26"/>
          <p:cNvSpPr txBox="1"/>
          <p:nvPr/>
        </p:nvSpPr>
        <p:spPr>
          <a:xfrm>
            <a:off x="157389" y="1512873"/>
            <a:ext cx="6694760" cy="4170342"/>
          </a:xfrm>
          <a:prstGeom prst="rect">
            <a:avLst/>
          </a:prstGeom>
          <a:noFill/>
          <a:ln>
            <a:noFill/>
          </a:ln>
        </p:spPr>
        <p:txBody>
          <a:bodyPr spcFirstLastPara="1" wrap="square" lIns="91425" tIns="91425" rIns="91425" bIns="91425" anchor="t" anchorCtr="0">
            <a:spAutoFit/>
          </a:bodyPr>
          <a:lstStyle/>
          <a:p>
            <a:pPr>
              <a:spcAft>
                <a:spcPts val="600"/>
              </a:spcAft>
              <a:buSzPts val="2000"/>
            </a:pPr>
            <a:r>
              <a:rPr lang="zh-TW" sz="2000" b="1" dirty="0">
                <a:solidFill>
                  <a:srgbClr val="002060"/>
                </a:solidFill>
                <a:latin typeface="Microsoft JhengHei"/>
                <a:ea typeface="Microsoft JhengHei"/>
                <a:cs typeface="Microsoft JhengHei"/>
                <a:sym typeface="Microsoft JhengHei"/>
              </a:rPr>
              <a:t>觀點</a:t>
            </a:r>
            <a:r>
              <a:rPr lang="zh-TW" altLang="en-US" sz="2000" b="1" dirty="0">
                <a:solidFill>
                  <a:srgbClr val="002060"/>
                </a:solidFill>
                <a:latin typeface="Microsoft JhengHei"/>
                <a:ea typeface="Microsoft JhengHei"/>
                <a:cs typeface="Microsoft JhengHei"/>
                <a:sym typeface="Microsoft JhengHei"/>
              </a:rPr>
              <a:t>四：</a:t>
            </a:r>
            <a:endParaRPr lang="en-US" altLang="zh-TW" sz="2000" b="1" dirty="0">
              <a:solidFill>
                <a:srgbClr val="002060"/>
              </a:solidFill>
              <a:latin typeface="Microsoft JhengHei"/>
              <a:ea typeface="Microsoft JhengHei"/>
              <a:cs typeface="Microsoft JhengHei"/>
              <a:sym typeface="Microsoft JhengHei"/>
            </a:endParaRPr>
          </a:p>
          <a:p>
            <a:pPr>
              <a:spcAft>
                <a:spcPts val="600"/>
              </a:spcAft>
              <a:buSzPts val="2000"/>
            </a:pPr>
            <a:r>
              <a:rPr lang="zh-TW" altLang="en-US" sz="2000" b="1" dirty="0">
                <a:solidFill>
                  <a:srgbClr val="002060"/>
                </a:solidFill>
                <a:latin typeface="Microsoft JhengHei"/>
                <a:ea typeface="Microsoft JhengHei"/>
                <a:cs typeface="Microsoft JhengHei"/>
                <a:sym typeface="Microsoft JhengHei"/>
              </a:rPr>
              <a:t>墊繳比例高，較可能出現舞弊（須滿足觀點三條件）</a:t>
            </a:r>
          </a:p>
          <a:p>
            <a:pPr>
              <a:spcAft>
                <a:spcPts val="600"/>
              </a:spcAft>
              <a:buSzPts val="2000"/>
            </a:pPr>
            <a:r>
              <a:rPr lang="zh-TW" altLang="en-US" sz="1800" dirty="0">
                <a:latin typeface="Microsoft JhengHei"/>
                <a:ea typeface="Microsoft JhengHei"/>
                <a:cs typeface="Microsoft JhengHei"/>
                <a:sym typeface="Microsoft JhengHei"/>
              </a:rPr>
              <a:t>墊繳情況發生，表示客戶未準時繳費。與舞弊相關可能原因有業務員未按時催繳，沒有用心經營客戶；業務員主要經營短期關係，勸說親朋好友購買人情保單，以達成業績。</a:t>
            </a:r>
          </a:p>
          <a:p>
            <a:pPr>
              <a:buSzPts val="2000"/>
            </a:pPr>
            <a:endParaRPr lang="en-US" altLang="zh-TW" sz="1800" b="1" dirty="0">
              <a:solidFill>
                <a:srgbClr val="002060"/>
              </a:solidFill>
              <a:latin typeface="Microsoft JhengHei"/>
              <a:ea typeface="Microsoft JhengHei"/>
              <a:cs typeface="Microsoft JhengHei"/>
              <a:sym typeface="Microsoft JhengHei"/>
            </a:endParaRPr>
          </a:p>
          <a:p>
            <a:pPr>
              <a:buSzPts val="2000"/>
            </a:pPr>
            <a:endParaRPr lang="en-US" altLang="zh-TW" sz="1800" b="1" dirty="0">
              <a:solidFill>
                <a:srgbClr val="002060"/>
              </a:solidFill>
              <a:latin typeface="Microsoft JhengHei"/>
              <a:ea typeface="Microsoft JhengHei"/>
              <a:cs typeface="Microsoft JhengHei"/>
              <a:sym typeface="Microsoft JhengHei"/>
            </a:endParaRPr>
          </a:p>
          <a:p>
            <a:pPr>
              <a:spcAft>
                <a:spcPts val="600"/>
              </a:spcAft>
              <a:buSzPts val="2000"/>
            </a:pPr>
            <a:r>
              <a:rPr lang="zh-TW" altLang="zh-TW" sz="2000" b="1" dirty="0">
                <a:solidFill>
                  <a:srgbClr val="002060"/>
                </a:solidFill>
                <a:latin typeface="Microsoft JhengHei"/>
                <a:ea typeface="Microsoft JhengHei"/>
                <a:cs typeface="Microsoft JhengHei"/>
                <a:sym typeface="Microsoft JhengHei"/>
              </a:rPr>
              <a:t>觀點</a:t>
            </a:r>
            <a:r>
              <a:rPr lang="zh-TW" altLang="en-US" sz="2000" b="1" dirty="0">
                <a:solidFill>
                  <a:srgbClr val="002060"/>
                </a:solidFill>
                <a:latin typeface="Microsoft JhengHei"/>
                <a:ea typeface="Microsoft JhengHei"/>
                <a:cs typeface="Microsoft JhengHei"/>
                <a:sym typeface="Microsoft JhengHei"/>
              </a:rPr>
              <a:t>五：</a:t>
            </a:r>
            <a:endParaRPr lang="en-US" altLang="zh-TW" sz="2000" b="1" dirty="0">
              <a:solidFill>
                <a:srgbClr val="002060"/>
              </a:solidFill>
              <a:latin typeface="Microsoft JhengHei"/>
              <a:ea typeface="Microsoft JhengHei"/>
              <a:cs typeface="Microsoft JhengHei"/>
              <a:sym typeface="Microsoft JhengHei"/>
            </a:endParaRPr>
          </a:p>
          <a:p>
            <a:pPr>
              <a:spcAft>
                <a:spcPts val="600"/>
              </a:spcAft>
              <a:buSzPts val="2000"/>
            </a:pPr>
            <a:r>
              <a:rPr lang="zh-TW" altLang="en-US" sz="2000" b="1" dirty="0">
                <a:solidFill>
                  <a:srgbClr val="002060"/>
                </a:solidFill>
                <a:latin typeface="Microsoft JhengHei"/>
                <a:ea typeface="Microsoft JhengHei"/>
                <a:cs typeface="Microsoft JhengHei"/>
                <a:sym typeface="Microsoft JhengHei"/>
              </a:rPr>
              <a:t>期繳平均保費高，較可能出現舞弊（須滿足觀點四條件）</a:t>
            </a:r>
            <a:endParaRPr lang="en-US" altLang="zh-TW" sz="2000" b="1" dirty="0">
              <a:solidFill>
                <a:srgbClr val="002060"/>
              </a:solidFill>
              <a:latin typeface="Microsoft JhengHei"/>
              <a:ea typeface="Microsoft JhengHei"/>
              <a:cs typeface="Microsoft JhengHei"/>
              <a:sym typeface="Microsoft JhengHei"/>
            </a:endParaRPr>
          </a:p>
          <a:p>
            <a:pPr>
              <a:spcAft>
                <a:spcPts val="600"/>
              </a:spcAft>
              <a:buSzPts val="2000"/>
            </a:pPr>
            <a:r>
              <a:rPr lang="zh-TW" altLang="en-US" sz="1800" dirty="0">
                <a:solidFill>
                  <a:schemeClr val="tx1"/>
                </a:solidFill>
                <a:latin typeface="Microsoft JhengHei"/>
                <a:ea typeface="Microsoft JhengHei"/>
                <a:cs typeface="Microsoft JhengHei"/>
                <a:sym typeface="Microsoft JhengHei"/>
              </a:rPr>
              <a:t>客戶為每期繳交保費，比起一次繳清，業務員有更多的機會從中舞弊，控制金錢流動。</a:t>
            </a:r>
            <a:endParaRPr lang="en-US" altLang="zh-TW" sz="1800" dirty="0">
              <a:solidFill>
                <a:schemeClr val="tx1"/>
              </a:solidFill>
              <a:latin typeface="Microsoft JhengHei"/>
              <a:ea typeface="Microsoft JhengHei"/>
              <a:cs typeface="Microsoft JhengHei"/>
              <a:sym typeface="Microsoft JhengHei"/>
            </a:endParaRPr>
          </a:p>
          <a:p>
            <a:pPr>
              <a:spcAft>
                <a:spcPts val="600"/>
              </a:spcAft>
              <a:buSzPts val="2000"/>
            </a:pPr>
            <a:endParaRPr lang="zh-TW" altLang="en-US" sz="1800" dirty="0">
              <a:latin typeface="Microsoft JhengHei"/>
              <a:ea typeface="Microsoft JhengHei"/>
              <a:cs typeface="Microsoft JhengHei"/>
              <a:sym typeface="Microsoft JhengHei"/>
            </a:endParaRPr>
          </a:p>
        </p:txBody>
      </p:sp>
      <p:sp>
        <p:nvSpPr>
          <p:cNvPr id="2" name="文字方塊 1"/>
          <p:cNvSpPr txBox="1"/>
          <p:nvPr/>
        </p:nvSpPr>
        <p:spPr>
          <a:xfrm>
            <a:off x="6297434" y="3174999"/>
            <a:ext cx="1109429" cy="307777"/>
          </a:xfrm>
          <a:prstGeom prst="rect">
            <a:avLst/>
          </a:prstGeom>
          <a:noFill/>
        </p:spPr>
        <p:txBody>
          <a:bodyPr wrap="square" rtlCol="0">
            <a:spAutoFit/>
          </a:bodyPr>
          <a:lstStyle/>
          <a:p>
            <a:pPr algn="ctr"/>
            <a:r>
              <a:rPr lang="zh-TW" altLang="en-US" dirty="0">
                <a:latin typeface="微軟正黑體" panose="020B0604030504040204" pitchFamily="34" charset="-120"/>
                <a:ea typeface="微軟正黑體" panose="020B0604030504040204" pitchFamily="34" charset="-120"/>
              </a:rPr>
              <a:t>圖五</a:t>
            </a:r>
          </a:p>
        </p:txBody>
      </p:sp>
      <p:sp>
        <p:nvSpPr>
          <p:cNvPr id="13" name="文字方塊 12"/>
          <p:cNvSpPr txBox="1"/>
          <p:nvPr/>
        </p:nvSpPr>
        <p:spPr>
          <a:xfrm>
            <a:off x="6297434" y="5864240"/>
            <a:ext cx="1109429" cy="307777"/>
          </a:xfrm>
          <a:prstGeom prst="rect">
            <a:avLst/>
          </a:prstGeom>
          <a:noFill/>
        </p:spPr>
        <p:txBody>
          <a:bodyPr wrap="square" rtlCol="0">
            <a:spAutoFit/>
          </a:bodyPr>
          <a:lstStyle/>
          <a:p>
            <a:pPr algn="ctr"/>
            <a:r>
              <a:rPr lang="zh-TW" altLang="en-US" dirty="0">
                <a:latin typeface="微軟正黑體" panose="020B0604030504040204" pitchFamily="34" charset="-120"/>
                <a:ea typeface="微軟正黑體" panose="020B0604030504040204" pitchFamily="34" charset="-120"/>
              </a:rPr>
              <a:t>圖六</a:t>
            </a:r>
          </a:p>
        </p:txBody>
      </p:sp>
      <p:graphicFrame>
        <p:nvGraphicFramePr>
          <p:cNvPr id="14" name="Google Shape;275;gded498c5cf_0_0"/>
          <p:cNvGraphicFramePr/>
          <p:nvPr>
            <p:extLst>
              <p:ext uri="{D42A27DB-BD31-4B8C-83A1-F6EECF244321}">
                <p14:modId xmlns:p14="http://schemas.microsoft.com/office/powerpoint/2010/main" val="983890457"/>
              </p:ext>
            </p:extLst>
          </p:nvPr>
        </p:nvGraphicFramePr>
        <p:xfrm>
          <a:off x="298393" y="6487160"/>
          <a:ext cx="11096375" cy="371930"/>
        </p:xfrm>
        <a:graphic>
          <a:graphicData uri="http://schemas.openxmlformats.org/drawingml/2006/table">
            <a:tbl>
              <a:tblPr firstRow="1" bandRow="1">
                <a:noFill/>
                <a:tableStyleId>{72FCF9FF-86DD-4F90-83C7-D16C962093AE}</a:tableStyleId>
              </a:tblPr>
              <a:tblGrid>
                <a:gridCol w="11096375">
                  <a:extLst>
                    <a:ext uri="{9D8B030D-6E8A-4147-A177-3AD203B41FA5}">
                      <a16:colId xmlns:a16="http://schemas.microsoft.com/office/drawing/2014/main" val="20000"/>
                    </a:ext>
                  </a:extLst>
                </a:gridCol>
              </a:tblGrid>
              <a:tr h="370850">
                <a:tc>
                  <a:txBody>
                    <a:bodyPr/>
                    <a:lstStyle/>
                    <a:p>
                      <a:pPr marL="0" marR="0" lvl="0" indent="0" algn="ctr" rtl="0">
                        <a:lnSpc>
                          <a:spcPct val="150000"/>
                        </a:lnSpc>
                        <a:spcBef>
                          <a:spcPts val="0"/>
                        </a:spcBef>
                        <a:spcAft>
                          <a:spcPts val="0"/>
                        </a:spcAft>
                        <a:buClr>
                          <a:srgbClr val="BFBFBF"/>
                        </a:buClr>
                        <a:buSzPts val="700"/>
                        <a:buFont typeface="Malgun Gothic"/>
                        <a:buNone/>
                      </a:pPr>
                      <a:r>
                        <a:rPr lang="en-US" altLang="zh-TW" sz="1400" b="0" i="0" u="none" strike="noStrike" cap="none" dirty="0">
                          <a:solidFill>
                            <a:schemeClr val="bg1"/>
                          </a:solidFill>
                          <a:latin typeface="Cambria Math" panose="02040503050406030204" pitchFamily="18" charset="0"/>
                          <a:ea typeface="Cambria Math" panose="02040503050406030204" pitchFamily="18" charset="0"/>
                          <a:cs typeface="Malgun Gothic"/>
                          <a:sym typeface="Malgun Gothic"/>
                        </a:rPr>
                        <a:t>21</a:t>
                      </a:r>
                      <a:endParaRPr sz="1400" b="0" i="0" u="none" strike="noStrike" cap="none" dirty="0">
                        <a:solidFill>
                          <a:schemeClr val="bg1"/>
                        </a:solidFill>
                        <a:latin typeface="Cambria Math" panose="02040503050406030204" pitchFamily="18" charset="0"/>
                        <a:ea typeface="Cambria Math" panose="02040503050406030204" pitchFamily="18" charset="0"/>
                        <a:cs typeface="Malgun Gothic"/>
                        <a:sym typeface="Malgun Gothic"/>
                      </a:endParaRPr>
                    </a:p>
                  </a:txBody>
                  <a:tcPr marL="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67790" y="1038919"/>
            <a:ext cx="4133240" cy="2577470"/>
          </a:xfrm>
          <a:prstGeom prst="rect">
            <a:avLst/>
          </a:prstGeom>
        </p:spPr>
      </p:pic>
      <p:pic>
        <p:nvPicPr>
          <p:cNvPr id="5" name="圖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69710" y="3688017"/>
            <a:ext cx="4057632" cy="2626872"/>
          </a:xfrm>
          <a:prstGeom prst="rect">
            <a:avLst/>
          </a:prstGeom>
        </p:spPr>
      </p:pic>
    </p:spTree>
    <p:extLst>
      <p:ext uri="{BB962C8B-B14F-4D97-AF65-F5344CB8AC3E}">
        <p14:creationId xmlns:p14="http://schemas.microsoft.com/office/powerpoint/2010/main" val="38449930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gd9279c01cd_0_26"/>
          <p:cNvSpPr/>
          <p:nvPr/>
        </p:nvSpPr>
        <p:spPr>
          <a:xfrm>
            <a:off x="1848142" y="329912"/>
            <a:ext cx="3194100" cy="387300"/>
          </a:xfrm>
          <a:prstGeom prst="parallelogram">
            <a:avLst>
              <a:gd name="adj" fmla="val 69898"/>
            </a:avLst>
          </a:prstGeom>
          <a:solidFill>
            <a:srgbClr val="21BFCA"/>
          </a:solidFill>
          <a:ln w="161925" cap="sq" cmpd="sng">
            <a:solidFill>
              <a:srgbClr val="1E868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297" name="Google Shape;297;gd9279c01cd_0_26"/>
          <p:cNvSpPr/>
          <p:nvPr/>
        </p:nvSpPr>
        <p:spPr>
          <a:xfrm>
            <a:off x="1833992" y="329256"/>
            <a:ext cx="3194100" cy="387300"/>
          </a:xfrm>
          <a:prstGeom prst="parallelogram">
            <a:avLst>
              <a:gd name="adj" fmla="val 69898"/>
            </a:avLst>
          </a:prstGeom>
          <a:solidFill>
            <a:srgbClr val="21BFCA"/>
          </a:solidFill>
          <a:ln w="161925" cap="sq" cmpd="sng">
            <a:solidFill>
              <a:srgbClr val="21BFC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298" name="Google Shape;298;gd9279c01cd_0_26"/>
          <p:cNvSpPr/>
          <p:nvPr/>
        </p:nvSpPr>
        <p:spPr>
          <a:xfrm>
            <a:off x="4581237" y="329912"/>
            <a:ext cx="7524900" cy="387300"/>
          </a:xfrm>
          <a:prstGeom prst="parallelogram">
            <a:avLst>
              <a:gd name="adj" fmla="val 0"/>
            </a:avLst>
          </a:prstGeom>
          <a:solidFill>
            <a:srgbClr val="21BFCA"/>
          </a:solidFill>
          <a:ln w="161925" cap="sq" cmpd="sng">
            <a:solidFill>
              <a:srgbClr val="21BFC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299" name="Google Shape;299;gd9279c01cd_0_26"/>
          <p:cNvSpPr/>
          <p:nvPr/>
        </p:nvSpPr>
        <p:spPr>
          <a:xfrm>
            <a:off x="2066647" y="271786"/>
            <a:ext cx="6678600" cy="523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zh-TW" sz="2800" b="0" i="0" u="none" strike="noStrike" cap="none">
                <a:solidFill>
                  <a:srgbClr val="FFFFFF"/>
                </a:solidFill>
                <a:latin typeface="Microsoft JhengHei"/>
                <a:ea typeface="Microsoft JhengHei"/>
                <a:cs typeface="Microsoft JhengHei"/>
                <a:sym typeface="Microsoft JhengHei"/>
              </a:rPr>
              <a:t>Tree Model 實務觀點</a:t>
            </a:r>
            <a:endParaRPr sz="2800" b="0" i="0" u="none" strike="noStrike" cap="none">
              <a:solidFill>
                <a:srgbClr val="FFFFFF"/>
              </a:solidFill>
              <a:latin typeface="Microsoft JhengHei"/>
              <a:ea typeface="Microsoft JhengHei"/>
              <a:cs typeface="Microsoft JhengHei"/>
              <a:sym typeface="Microsoft JhengHei"/>
            </a:endParaRPr>
          </a:p>
        </p:txBody>
      </p:sp>
      <p:cxnSp>
        <p:nvCxnSpPr>
          <p:cNvPr id="300" name="Google Shape;300;gd9279c01cd_0_26"/>
          <p:cNvCxnSpPr/>
          <p:nvPr/>
        </p:nvCxnSpPr>
        <p:spPr>
          <a:xfrm>
            <a:off x="157389" y="1269734"/>
            <a:ext cx="1224000" cy="0"/>
          </a:xfrm>
          <a:prstGeom prst="straightConnector1">
            <a:avLst/>
          </a:prstGeom>
          <a:noFill/>
          <a:ln w="15875" cap="rnd" cmpd="sng">
            <a:solidFill>
              <a:srgbClr val="21BFCA"/>
            </a:solidFill>
            <a:prstDash val="solid"/>
            <a:round/>
            <a:headEnd type="none" w="sm" len="sm"/>
            <a:tailEnd type="none" w="sm" len="sm"/>
          </a:ln>
        </p:spPr>
      </p:cxnSp>
      <p:graphicFrame>
        <p:nvGraphicFramePr>
          <p:cNvPr id="301" name="Google Shape;301;gd9279c01cd_0_26"/>
          <p:cNvGraphicFramePr/>
          <p:nvPr/>
        </p:nvGraphicFramePr>
        <p:xfrm>
          <a:off x="298393" y="6487160"/>
          <a:ext cx="11096375" cy="370850"/>
        </p:xfrm>
        <a:graphic>
          <a:graphicData uri="http://schemas.openxmlformats.org/drawingml/2006/table">
            <a:tbl>
              <a:tblPr firstRow="1" bandRow="1">
                <a:noFill/>
                <a:tableStyleId>{72FCF9FF-86DD-4F90-83C7-D16C962093AE}</a:tableStyleId>
              </a:tblPr>
              <a:tblGrid>
                <a:gridCol w="11096375">
                  <a:extLst>
                    <a:ext uri="{9D8B030D-6E8A-4147-A177-3AD203B41FA5}">
                      <a16:colId xmlns:a16="http://schemas.microsoft.com/office/drawing/2014/main" val="20000"/>
                    </a:ext>
                  </a:extLst>
                </a:gridCol>
              </a:tblGrid>
              <a:tr h="370850">
                <a:tc>
                  <a:txBody>
                    <a:bodyPr/>
                    <a:lstStyle/>
                    <a:p>
                      <a:pPr marL="0" marR="0" lvl="0" indent="0" algn="ctr" rtl="0">
                        <a:lnSpc>
                          <a:spcPct val="150000"/>
                        </a:lnSpc>
                        <a:spcBef>
                          <a:spcPts val="0"/>
                        </a:spcBef>
                        <a:spcAft>
                          <a:spcPts val="0"/>
                        </a:spcAft>
                        <a:buClr>
                          <a:srgbClr val="BFBFBF"/>
                        </a:buClr>
                        <a:buSzPts val="700"/>
                        <a:buFont typeface="Malgun Gothic"/>
                        <a:buNone/>
                      </a:pPr>
                      <a:r>
                        <a:rPr lang="zh-TW" sz="700" b="0" i="0" u="none" strike="noStrike" cap="none" dirty="0">
                          <a:solidFill>
                            <a:srgbClr val="BFBFBF"/>
                          </a:solidFill>
                          <a:latin typeface="Malgun Gothic"/>
                          <a:ea typeface="Malgun Gothic"/>
                          <a:cs typeface="Malgun Gothic"/>
                          <a:sym typeface="Malgun Gothic"/>
                        </a:rPr>
                        <a:t>Enjoy your stylish business and campus life with BIZCAM</a:t>
                      </a:r>
                      <a:endParaRPr sz="4800" b="0" i="0" u="none" strike="noStrike" cap="none" dirty="0">
                        <a:solidFill>
                          <a:srgbClr val="BFBFBF"/>
                        </a:solidFill>
                        <a:latin typeface="Malgun Gothic"/>
                        <a:ea typeface="Malgun Gothic"/>
                        <a:cs typeface="Malgun Gothic"/>
                        <a:sym typeface="Malgun Gothic"/>
                      </a:endParaRPr>
                    </a:p>
                  </a:txBody>
                  <a:tcPr marL="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02" name="Google Shape;302;gd9279c01cd_0_26"/>
          <p:cNvSpPr/>
          <p:nvPr/>
        </p:nvSpPr>
        <p:spPr>
          <a:xfrm>
            <a:off x="158593" y="808069"/>
            <a:ext cx="540600" cy="461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zh-TW" sz="2400" b="1" i="1" u="none" strike="noStrike" cap="none" dirty="0">
                <a:solidFill>
                  <a:srgbClr val="21BFCA"/>
                </a:solidFill>
                <a:latin typeface="Malgun Gothic"/>
                <a:ea typeface="Malgun Gothic"/>
                <a:cs typeface="Malgun Gothic"/>
                <a:sym typeface="Malgun Gothic"/>
              </a:rPr>
              <a:t>0</a:t>
            </a:r>
            <a:r>
              <a:rPr lang="en-US" altLang="zh-TW" sz="2400" b="1" i="1" u="none" strike="noStrike" cap="none" dirty="0">
                <a:solidFill>
                  <a:srgbClr val="21BFCA"/>
                </a:solidFill>
                <a:latin typeface="Malgun Gothic"/>
                <a:ea typeface="Malgun Gothic"/>
                <a:cs typeface="Malgun Gothic"/>
                <a:sym typeface="Malgun Gothic"/>
              </a:rPr>
              <a:t>4</a:t>
            </a:r>
            <a:endParaRPr sz="2400" b="0" i="0" u="none" strike="noStrike" cap="none" dirty="0">
              <a:solidFill>
                <a:srgbClr val="21BFCA"/>
              </a:solidFill>
              <a:latin typeface="Malgun Gothic"/>
              <a:ea typeface="Malgun Gothic"/>
              <a:cs typeface="Malgun Gothic"/>
              <a:sym typeface="Malgun Gothic"/>
            </a:endParaRPr>
          </a:p>
        </p:txBody>
      </p:sp>
      <p:sp>
        <p:nvSpPr>
          <p:cNvPr id="303" name="Google Shape;303;gd9279c01cd_0_26"/>
          <p:cNvSpPr txBox="1"/>
          <p:nvPr/>
        </p:nvSpPr>
        <p:spPr>
          <a:xfrm>
            <a:off x="157389" y="1512873"/>
            <a:ext cx="6694760" cy="4955172"/>
          </a:xfrm>
          <a:prstGeom prst="rect">
            <a:avLst/>
          </a:prstGeom>
          <a:noFill/>
          <a:ln>
            <a:noFill/>
          </a:ln>
        </p:spPr>
        <p:txBody>
          <a:bodyPr spcFirstLastPara="1" wrap="square" lIns="91425" tIns="91425" rIns="91425" bIns="91425" anchor="t" anchorCtr="0">
            <a:spAutoFit/>
          </a:bodyPr>
          <a:lstStyle/>
          <a:p>
            <a:pPr>
              <a:spcAft>
                <a:spcPts val="600"/>
              </a:spcAft>
              <a:buSzPts val="2000"/>
            </a:pPr>
            <a:r>
              <a:rPr lang="zh-TW" altLang="zh-TW" sz="2000" b="1" dirty="0">
                <a:solidFill>
                  <a:srgbClr val="002060"/>
                </a:solidFill>
                <a:latin typeface="Microsoft JhengHei"/>
                <a:ea typeface="Microsoft JhengHei"/>
                <a:cs typeface="Microsoft JhengHei"/>
                <a:sym typeface="Microsoft JhengHei"/>
              </a:rPr>
              <a:t>觀點</a:t>
            </a:r>
            <a:r>
              <a:rPr lang="zh-TW" altLang="en-US" sz="2000" b="1" dirty="0">
                <a:solidFill>
                  <a:srgbClr val="002060"/>
                </a:solidFill>
                <a:latin typeface="Microsoft JhengHei"/>
                <a:ea typeface="Microsoft JhengHei"/>
                <a:cs typeface="Microsoft JhengHei"/>
                <a:sym typeface="Microsoft JhengHei"/>
              </a:rPr>
              <a:t>七：</a:t>
            </a:r>
            <a:endParaRPr lang="en-US" altLang="zh-TW" sz="2000" b="1" dirty="0">
              <a:solidFill>
                <a:srgbClr val="002060"/>
              </a:solidFill>
              <a:latin typeface="Microsoft JhengHei"/>
              <a:ea typeface="Microsoft JhengHei"/>
              <a:cs typeface="Microsoft JhengHei"/>
              <a:sym typeface="Microsoft JhengHei"/>
            </a:endParaRPr>
          </a:p>
          <a:p>
            <a:pPr>
              <a:spcAft>
                <a:spcPts val="600"/>
              </a:spcAft>
              <a:buSzPts val="2000"/>
            </a:pPr>
            <a:r>
              <a:rPr lang="zh-TW" altLang="en-US" sz="2000" b="1" dirty="0">
                <a:solidFill>
                  <a:srgbClr val="002060"/>
                </a:solidFill>
                <a:latin typeface="Microsoft JhengHei"/>
                <a:ea typeface="Microsoft JhengHei"/>
                <a:cs typeface="Microsoft JhengHei"/>
                <a:sym typeface="Microsoft JhengHei"/>
              </a:rPr>
              <a:t>沒有舞弊行為者，業務表現可能影響舞弊機率</a:t>
            </a:r>
            <a:endParaRPr lang="en-US" altLang="zh-TW" sz="2000" b="1" dirty="0">
              <a:solidFill>
                <a:srgbClr val="002060"/>
              </a:solidFill>
              <a:latin typeface="Microsoft JhengHei"/>
              <a:ea typeface="Microsoft JhengHei"/>
              <a:cs typeface="Microsoft JhengHei"/>
              <a:sym typeface="Microsoft JhengHei"/>
            </a:endParaRPr>
          </a:p>
          <a:p>
            <a:pPr>
              <a:spcAft>
                <a:spcPts val="600"/>
              </a:spcAft>
              <a:buSzPts val="2000"/>
            </a:pPr>
            <a:r>
              <a:rPr lang="zh-TW" altLang="en-US" sz="1800" dirty="0">
                <a:solidFill>
                  <a:schemeClr val="tx1"/>
                </a:solidFill>
                <a:latin typeface="Microsoft JhengHei"/>
                <a:ea typeface="Microsoft JhengHei"/>
                <a:cs typeface="Microsoft JhengHei"/>
                <a:sym typeface="Microsoft JhengHei"/>
              </a:rPr>
              <a:t>業務員在</a:t>
            </a:r>
            <a:r>
              <a:rPr lang="zh-TW" altLang="en-US" sz="1800" u="sng" dirty="0">
                <a:solidFill>
                  <a:schemeClr val="tx1"/>
                </a:solidFill>
                <a:latin typeface="Microsoft JhengHei"/>
                <a:ea typeface="Microsoft JhengHei"/>
                <a:cs typeface="Microsoft JhengHei"/>
                <a:sym typeface="Microsoft JhengHei"/>
              </a:rPr>
              <a:t>保單解約比例較高</a:t>
            </a:r>
            <a:r>
              <a:rPr lang="zh-TW" altLang="en-US" sz="1800" dirty="0">
                <a:solidFill>
                  <a:schemeClr val="tx1"/>
                </a:solidFill>
                <a:latin typeface="Microsoft JhengHei"/>
                <a:ea typeface="Microsoft JhengHei"/>
                <a:cs typeface="Microsoft JhengHei"/>
                <a:sym typeface="Microsoft JhengHei"/>
              </a:rPr>
              <a:t>、</a:t>
            </a:r>
            <a:r>
              <a:rPr lang="zh-TW" altLang="en-US" sz="1800" u="sng" dirty="0">
                <a:solidFill>
                  <a:schemeClr val="tx1"/>
                </a:solidFill>
                <a:latin typeface="Microsoft JhengHei"/>
                <a:ea typeface="Microsoft JhengHei"/>
                <a:cs typeface="Microsoft JhengHei"/>
                <a:sym typeface="Microsoft JhengHei"/>
              </a:rPr>
              <a:t>客戶總繳保費低</a:t>
            </a:r>
            <a:r>
              <a:rPr lang="zh-TW" altLang="en-US" sz="1800" dirty="0">
                <a:solidFill>
                  <a:schemeClr val="tx1"/>
                </a:solidFill>
                <a:latin typeface="Microsoft JhengHei"/>
                <a:ea typeface="Microsoft JhengHei"/>
                <a:cs typeface="Microsoft JhengHei"/>
                <a:sym typeface="Microsoft JhengHei"/>
              </a:rPr>
              <a:t>的前提下，短期總保費較高有較高的舞弊機率。</a:t>
            </a:r>
            <a:endParaRPr lang="en-US" altLang="zh-TW" sz="1800" dirty="0">
              <a:solidFill>
                <a:schemeClr val="tx1"/>
              </a:solidFill>
              <a:latin typeface="Microsoft JhengHei"/>
              <a:ea typeface="Microsoft JhengHei"/>
              <a:cs typeface="Microsoft JhengHei"/>
              <a:sym typeface="Microsoft JhengHei"/>
            </a:endParaRPr>
          </a:p>
          <a:p>
            <a:pPr>
              <a:spcAft>
                <a:spcPts val="600"/>
              </a:spcAft>
              <a:buSzPts val="2000"/>
            </a:pPr>
            <a:r>
              <a:rPr lang="zh-TW" altLang="en-US" sz="1800" dirty="0">
                <a:latin typeface="Microsoft JhengHei"/>
                <a:ea typeface="Microsoft JhengHei"/>
                <a:cs typeface="Microsoft JhengHei"/>
                <a:sym typeface="Microsoft JhengHei"/>
              </a:rPr>
              <a:t>可能表示業務員為了挪用客戶保費，增加更多保單但總繳保費並未同時上升。客戶單方面發現後逕行解約，未進一步投訴。</a:t>
            </a:r>
            <a:endParaRPr lang="en-US" altLang="zh-TW" sz="1800" dirty="0">
              <a:latin typeface="Microsoft JhengHei"/>
              <a:ea typeface="Microsoft JhengHei"/>
              <a:cs typeface="Microsoft JhengHei"/>
              <a:sym typeface="Microsoft JhengHei"/>
            </a:endParaRPr>
          </a:p>
          <a:p>
            <a:pPr>
              <a:spcAft>
                <a:spcPts val="600"/>
              </a:spcAft>
              <a:buSzPts val="2000"/>
            </a:pPr>
            <a:endParaRPr lang="en-US" altLang="zh-TW" sz="1800" dirty="0">
              <a:latin typeface="Microsoft JhengHei"/>
              <a:ea typeface="Microsoft JhengHei"/>
              <a:cs typeface="Microsoft JhengHei"/>
              <a:sym typeface="Microsoft JhengHei"/>
            </a:endParaRPr>
          </a:p>
          <a:p>
            <a:pPr>
              <a:spcAft>
                <a:spcPts val="600"/>
              </a:spcAft>
              <a:buSzPts val="2000"/>
            </a:pPr>
            <a:r>
              <a:rPr lang="zh-TW" altLang="zh-TW" sz="2000" b="1" dirty="0">
                <a:solidFill>
                  <a:srgbClr val="002060"/>
                </a:solidFill>
                <a:latin typeface="Microsoft JhengHei"/>
                <a:ea typeface="Microsoft JhengHei"/>
                <a:cs typeface="Microsoft JhengHei"/>
                <a:sym typeface="Microsoft JhengHei"/>
              </a:rPr>
              <a:t>觀點</a:t>
            </a:r>
            <a:r>
              <a:rPr lang="zh-TW" altLang="en-US" sz="2000" b="1" dirty="0">
                <a:solidFill>
                  <a:srgbClr val="002060"/>
                </a:solidFill>
                <a:latin typeface="Microsoft JhengHei"/>
                <a:ea typeface="Microsoft JhengHei"/>
                <a:cs typeface="Microsoft JhengHei"/>
                <a:sym typeface="Microsoft JhengHei"/>
              </a:rPr>
              <a:t>八：</a:t>
            </a:r>
            <a:endParaRPr lang="en-US" altLang="zh-TW" sz="2000" b="1" dirty="0">
              <a:solidFill>
                <a:srgbClr val="002060"/>
              </a:solidFill>
              <a:latin typeface="Microsoft JhengHei"/>
              <a:ea typeface="Microsoft JhengHei"/>
              <a:cs typeface="Microsoft JhengHei"/>
              <a:sym typeface="Microsoft JhengHei"/>
            </a:endParaRPr>
          </a:p>
          <a:p>
            <a:pPr>
              <a:spcAft>
                <a:spcPts val="600"/>
              </a:spcAft>
              <a:buSzPts val="2000"/>
            </a:pPr>
            <a:r>
              <a:rPr lang="en-US" altLang="zh-TW" sz="2000" b="1" dirty="0">
                <a:solidFill>
                  <a:srgbClr val="002060"/>
                </a:solidFill>
                <a:latin typeface="Microsoft JhengHei"/>
                <a:ea typeface="Microsoft JhengHei"/>
                <a:cs typeface="Microsoft JhengHei"/>
                <a:sym typeface="Microsoft JhengHei"/>
              </a:rPr>
              <a:t>77</a:t>
            </a:r>
            <a:r>
              <a:rPr lang="zh-TW" altLang="en-US" sz="2000" b="1" dirty="0">
                <a:solidFill>
                  <a:srgbClr val="002060"/>
                </a:solidFill>
                <a:latin typeface="Microsoft JhengHei"/>
                <a:ea typeface="Microsoft JhengHei"/>
                <a:cs typeface="Microsoft JhengHei"/>
                <a:sym typeface="Microsoft JhengHei"/>
              </a:rPr>
              <a:t>個月前曾舞弊者，</a:t>
            </a:r>
            <a:r>
              <a:rPr lang="zh-TW" altLang="zh-TW" sz="2000" b="1" dirty="0">
                <a:solidFill>
                  <a:srgbClr val="002060"/>
                </a:solidFill>
                <a:latin typeface="Microsoft JhengHei"/>
                <a:ea typeface="Microsoft JhengHei"/>
                <a:cs typeface="Microsoft JhengHei"/>
                <a:sym typeface="Microsoft JhengHei"/>
              </a:rPr>
              <a:t>保單</a:t>
            </a:r>
            <a:r>
              <a:rPr lang="zh-TW" altLang="en-US" sz="2000" b="1" dirty="0">
                <a:solidFill>
                  <a:srgbClr val="002060"/>
                </a:solidFill>
                <a:latin typeface="Microsoft JhengHei"/>
                <a:ea typeface="Microsoft JhengHei"/>
                <a:cs typeface="Microsoft JhengHei"/>
                <a:sym typeface="Microsoft JhengHei"/>
              </a:rPr>
              <a:t>解約比例高</a:t>
            </a:r>
            <a:r>
              <a:rPr lang="zh-TW" altLang="zh-TW" sz="2000" b="1" dirty="0">
                <a:solidFill>
                  <a:srgbClr val="002060"/>
                </a:solidFill>
                <a:latin typeface="Microsoft JhengHei"/>
                <a:ea typeface="Microsoft JhengHei"/>
                <a:cs typeface="Microsoft JhengHei"/>
                <a:sym typeface="Microsoft JhengHei"/>
              </a:rPr>
              <a:t>，</a:t>
            </a:r>
            <a:r>
              <a:rPr lang="zh-TW" altLang="en-US" sz="2000" b="1" dirty="0">
                <a:solidFill>
                  <a:srgbClr val="002060"/>
                </a:solidFill>
                <a:latin typeface="Microsoft JhengHei"/>
                <a:ea typeface="Microsoft JhengHei"/>
                <a:cs typeface="Microsoft JhengHei"/>
                <a:sym typeface="Microsoft JhengHei"/>
              </a:rPr>
              <a:t>較可能出現舞弊</a:t>
            </a:r>
            <a:endParaRPr lang="en-US" altLang="zh-TW" sz="2000" b="1" dirty="0">
              <a:solidFill>
                <a:srgbClr val="002060"/>
              </a:solidFill>
              <a:latin typeface="Microsoft JhengHei"/>
              <a:ea typeface="Microsoft JhengHei"/>
              <a:cs typeface="Microsoft JhengHei"/>
              <a:sym typeface="Microsoft JhengHei"/>
            </a:endParaRPr>
          </a:p>
          <a:p>
            <a:pPr>
              <a:buSzPts val="2000"/>
            </a:pPr>
            <a:r>
              <a:rPr lang="zh-TW" altLang="en-US" sz="1800" dirty="0">
                <a:solidFill>
                  <a:schemeClr val="tx1"/>
                </a:solidFill>
                <a:latin typeface="Microsoft JhengHei"/>
                <a:ea typeface="Microsoft JhengHei"/>
                <a:cs typeface="Microsoft JhengHei"/>
                <a:sym typeface="Microsoft JhengHei"/>
              </a:rPr>
              <a:t>保單解約比例高，可能為短線保單或未具備足夠專業，亦可能為</a:t>
            </a:r>
            <a:r>
              <a:rPr lang="zh-TW" altLang="en-US" sz="1800" dirty="0">
                <a:latin typeface="Microsoft JhengHei"/>
                <a:ea typeface="Microsoft JhengHei"/>
                <a:cs typeface="Microsoft JhengHei"/>
                <a:sym typeface="Microsoft JhengHei"/>
              </a:rPr>
              <a:t>客戶單方面發現舞弊行為而解約</a:t>
            </a:r>
            <a:r>
              <a:rPr lang="zh-TW" altLang="en-US" sz="1800" dirty="0">
                <a:solidFill>
                  <a:schemeClr val="tx1"/>
                </a:solidFill>
                <a:latin typeface="Microsoft JhengHei"/>
                <a:ea typeface="Microsoft JhengHei"/>
                <a:cs typeface="Microsoft JhengHei"/>
                <a:sym typeface="Microsoft JhengHei"/>
              </a:rPr>
              <a:t>。</a:t>
            </a:r>
            <a:endParaRPr lang="en-US" altLang="zh-TW" sz="1800" dirty="0">
              <a:solidFill>
                <a:schemeClr val="tx1"/>
              </a:solidFill>
              <a:latin typeface="Microsoft JhengHei"/>
              <a:ea typeface="Microsoft JhengHei"/>
              <a:cs typeface="Microsoft JhengHei"/>
              <a:sym typeface="Microsoft JhengHei"/>
            </a:endParaRPr>
          </a:p>
          <a:p>
            <a:pPr>
              <a:spcAft>
                <a:spcPts val="600"/>
              </a:spcAft>
              <a:buSzPts val="2000"/>
            </a:pPr>
            <a:endParaRPr lang="en-US" altLang="zh-TW" sz="1800" dirty="0">
              <a:latin typeface="Microsoft JhengHei"/>
              <a:ea typeface="Microsoft JhengHei"/>
              <a:cs typeface="Microsoft JhengHei"/>
              <a:sym typeface="Microsoft JhengHei"/>
            </a:endParaRPr>
          </a:p>
          <a:p>
            <a:pPr>
              <a:spcAft>
                <a:spcPts val="600"/>
              </a:spcAft>
              <a:buSzPts val="2000"/>
            </a:pPr>
            <a:endParaRPr lang="en-US" altLang="zh-TW" sz="1800" dirty="0">
              <a:latin typeface="Microsoft JhengHei"/>
              <a:ea typeface="Microsoft JhengHei"/>
              <a:cs typeface="Microsoft JhengHei"/>
              <a:sym typeface="Microsoft JhengHei"/>
            </a:endParaRPr>
          </a:p>
          <a:p>
            <a:pPr>
              <a:spcAft>
                <a:spcPts val="600"/>
              </a:spcAft>
              <a:buSzPts val="2000"/>
            </a:pPr>
            <a:endParaRPr lang="zh-TW" altLang="en-US" sz="1800" dirty="0">
              <a:latin typeface="Microsoft JhengHei"/>
              <a:ea typeface="Microsoft JhengHei"/>
              <a:cs typeface="Microsoft JhengHei"/>
              <a:sym typeface="Microsoft JhengHei"/>
            </a:endParaRPr>
          </a:p>
        </p:txBody>
      </p:sp>
      <p:sp>
        <p:nvSpPr>
          <p:cNvPr id="13" name="文字方塊 12"/>
          <p:cNvSpPr txBox="1"/>
          <p:nvPr/>
        </p:nvSpPr>
        <p:spPr>
          <a:xfrm>
            <a:off x="6297434" y="5864240"/>
            <a:ext cx="1109429" cy="307777"/>
          </a:xfrm>
          <a:prstGeom prst="rect">
            <a:avLst/>
          </a:prstGeom>
          <a:noFill/>
        </p:spPr>
        <p:txBody>
          <a:bodyPr wrap="square" rtlCol="0">
            <a:spAutoFit/>
          </a:bodyPr>
          <a:lstStyle/>
          <a:p>
            <a:pPr algn="ctr"/>
            <a:r>
              <a:rPr lang="zh-TW" altLang="en-US" dirty="0">
                <a:latin typeface="微軟正黑體" panose="020B0604030504040204" pitchFamily="34" charset="-120"/>
                <a:ea typeface="微軟正黑體" panose="020B0604030504040204" pitchFamily="34" charset="-120"/>
              </a:rPr>
              <a:t>圖八</a:t>
            </a:r>
          </a:p>
        </p:txBody>
      </p:sp>
      <p:graphicFrame>
        <p:nvGraphicFramePr>
          <p:cNvPr id="14" name="Google Shape;275;gded498c5cf_0_0"/>
          <p:cNvGraphicFramePr/>
          <p:nvPr>
            <p:extLst>
              <p:ext uri="{D42A27DB-BD31-4B8C-83A1-F6EECF244321}">
                <p14:modId xmlns:p14="http://schemas.microsoft.com/office/powerpoint/2010/main" val="1819319084"/>
              </p:ext>
            </p:extLst>
          </p:nvPr>
        </p:nvGraphicFramePr>
        <p:xfrm>
          <a:off x="298393" y="6487160"/>
          <a:ext cx="11096375" cy="371930"/>
        </p:xfrm>
        <a:graphic>
          <a:graphicData uri="http://schemas.openxmlformats.org/drawingml/2006/table">
            <a:tbl>
              <a:tblPr firstRow="1" bandRow="1">
                <a:noFill/>
                <a:tableStyleId>{72FCF9FF-86DD-4F90-83C7-D16C962093AE}</a:tableStyleId>
              </a:tblPr>
              <a:tblGrid>
                <a:gridCol w="11096375">
                  <a:extLst>
                    <a:ext uri="{9D8B030D-6E8A-4147-A177-3AD203B41FA5}">
                      <a16:colId xmlns:a16="http://schemas.microsoft.com/office/drawing/2014/main" val="20000"/>
                    </a:ext>
                  </a:extLst>
                </a:gridCol>
              </a:tblGrid>
              <a:tr h="370850">
                <a:tc>
                  <a:txBody>
                    <a:bodyPr/>
                    <a:lstStyle/>
                    <a:p>
                      <a:pPr marL="0" marR="0" lvl="0" indent="0" algn="ctr" rtl="0">
                        <a:lnSpc>
                          <a:spcPct val="150000"/>
                        </a:lnSpc>
                        <a:spcBef>
                          <a:spcPts val="0"/>
                        </a:spcBef>
                        <a:spcAft>
                          <a:spcPts val="0"/>
                        </a:spcAft>
                        <a:buClr>
                          <a:srgbClr val="BFBFBF"/>
                        </a:buClr>
                        <a:buSzPts val="700"/>
                        <a:buFont typeface="Malgun Gothic"/>
                        <a:buNone/>
                      </a:pPr>
                      <a:r>
                        <a:rPr lang="en-US" altLang="zh-TW" sz="1400" b="0" i="0" u="none" strike="noStrike" cap="none" dirty="0">
                          <a:solidFill>
                            <a:schemeClr val="bg1"/>
                          </a:solidFill>
                          <a:latin typeface="Cambria Math" panose="02040503050406030204" pitchFamily="18" charset="0"/>
                          <a:ea typeface="Cambria Math" panose="02040503050406030204" pitchFamily="18" charset="0"/>
                          <a:cs typeface="Malgun Gothic"/>
                          <a:sym typeface="Malgun Gothic"/>
                        </a:rPr>
                        <a:t>22</a:t>
                      </a:r>
                      <a:endParaRPr sz="1400" b="0" i="0" u="none" strike="noStrike" cap="none" dirty="0">
                        <a:solidFill>
                          <a:schemeClr val="bg1"/>
                        </a:solidFill>
                        <a:latin typeface="Cambria Math" panose="02040503050406030204" pitchFamily="18" charset="0"/>
                        <a:ea typeface="Cambria Math" panose="02040503050406030204" pitchFamily="18" charset="0"/>
                        <a:cs typeface="Malgun Gothic"/>
                        <a:sym typeface="Malgun Gothic"/>
                      </a:endParaRPr>
                    </a:p>
                  </a:txBody>
                  <a:tcPr marL="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5" name="圖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07655" y="1034839"/>
            <a:ext cx="4026153" cy="2626872"/>
          </a:xfrm>
          <a:prstGeom prst="rect">
            <a:avLst/>
          </a:prstGeom>
        </p:spPr>
      </p:pic>
      <p:pic>
        <p:nvPicPr>
          <p:cNvPr id="15" name="圖片 14">
            <a:extLst>
              <a:ext uri="{FF2B5EF4-FFF2-40B4-BE49-F238E27FC236}">
                <a16:creationId xmlns:a16="http://schemas.microsoft.com/office/drawing/2014/main" id="{6B2A5B9F-D6D4-44F7-A8AB-C3087EA42EB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07655" y="3638988"/>
            <a:ext cx="4034553" cy="2546327"/>
          </a:xfrm>
          <a:prstGeom prst="rect">
            <a:avLst/>
          </a:prstGeom>
        </p:spPr>
      </p:pic>
    </p:spTree>
    <p:extLst>
      <p:ext uri="{BB962C8B-B14F-4D97-AF65-F5344CB8AC3E}">
        <p14:creationId xmlns:p14="http://schemas.microsoft.com/office/powerpoint/2010/main" val="25190245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gd9279c01cd_0_26"/>
          <p:cNvSpPr/>
          <p:nvPr/>
        </p:nvSpPr>
        <p:spPr>
          <a:xfrm>
            <a:off x="1848142" y="329912"/>
            <a:ext cx="3194100" cy="387300"/>
          </a:xfrm>
          <a:prstGeom prst="parallelogram">
            <a:avLst>
              <a:gd name="adj" fmla="val 69898"/>
            </a:avLst>
          </a:prstGeom>
          <a:solidFill>
            <a:srgbClr val="21BFCA"/>
          </a:solidFill>
          <a:ln w="161925" cap="sq" cmpd="sng">
            <a:solidFill>
              <a:srgbClr val="1E868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297" name="Google Shape;297;gd9279c01cd_0_26"/>
          <p:cNvSpPr/>
          <p:nvPr/>
        </p:nvSpPr>
        <p:spPr>
          <a:xfrm>
            <a:off x="1833992" y="329256"/>
            <a:ext cx="3194100" cy="387300"/>
          </a:xfrm>
          <a:prstGeom prst="parallelogram">
            <a:avLst>
              <a:gd name="adj" fmla="val 69898"/>
            </a:avLst>
          </a:prstGeom>
          <a:solidFill>
            <a:srgbClr val="21BFCA"/>
          </a:solidFill>
          <a:ln w="161925" cap="sq" cmpd="sng">
            <a:solidFill>
              <a:srgbClr val="21BFC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298" name="Google Shape;298;gd9279c01cd_0_26"/>
          <p:cNvSpPr/>
          <p:nvPr/>
        </p:nvSpPr>
        <p:spPr>
          <a:xfrm>
            <a:off x="4581237" y="329912"/>
            <a:ext cx="7524900" cy="387300"/>
          </a:xfrm>
          <a:prstGeom prst="parallelogram">
            <a:avLst>
              <a:gd name="adj" fmla="val 0"/>
            </a:avLst>
          </a:prstGeom>
          <a:solidFill>
            <a:srgbClr val="21BFCA"/>
          </a:solidFill>
          <a:ln w="161925" cap="sq" cmpd="sng">
            <a:solidFill>
              <a:srgbClr val="21BFC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299" name="Google Shape;299;gd9279c01cd_0_26"/>
          <p:cNvSpPr/>
          <p:nvPr/>
        </p:nvSpPr>
        <p:spPr>
          <a:xfrm>
            <a:off x="2066647" y="271786"/>
            <a:ext cx="6678600" cy="523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zh-TW" sz="2800" b="0" i="0" u="none" strike="noStrike" cap="none">
                <a:solidFill>
                  <a:srgbClr val="FFFFFF"/>
                </a:solidFill>
                <a:latin typeface="Microsoft JhengHei"/>
                <a:ea typeface="Microsoft JhengHei"/>
                <a:cs typeface="Microsoft JhengHei"/>
                <a:sym typeface="Microsoft JhengHei"/>
              </a:rPr>
              <a:t>Tree Model 實務觀點</a:t>
            </a:r>
            <a:endParaRPr sz="2800" b="0" i="0" u="none" strike="noStrike" cap="none">
              <a:solidFill>
                <a:srgbClr val="FFFFFF"/>
              </a:solidFill>
              <a:latin typeface="Microsoft JhengHei"/>
              <a:ea typeface="Microsoft JhengHei"/>
              <a:cs typeface="Microsoft JhengHei"/>
              <a:sym typeface="Microsoft JhengHei"/>
            </a:endParaRPr>
          </a:p>
        </p:txBody>
      </p:sp>
      <p:cxnSp>
        <p:nvCxnSpPr>
          <p:cNvPr id="300" name="Google Shape;300;gd9279c01cd_0_26"/>
          <p:cNvCxnSpPr/>
          <p:nvPr/>
        </p:nvCxnSpPr>
        <p:spPr>
          <a:xfrm>
            <a:off x="157389" y="1269734"/>
            <a:ext cx="1224000" cy="0"/>
          </a:xfrm>
          <a:prstGeom prst="straightConnector1">
            <a:avLst/>
          </a:prstGeom>
          <a:noFill/>
          <a:ln w="15875" cap="rnd" cmpd="sng">
            <a:solidFill>
              <a:srgbClr val="21BFCA"/>
            </a:solidFill>
            <a:prstDash val="solid"/>
            <a:round/>
            <a:headEnd type="none" w="sm" len="sm"/>
            <a:tailEnd type="none" w="sm" len="sm"/>
          </a:ln>
        </p:spPr>
      </p:cxnSp>
      <p:graphicFrame>
        <p:nvGraphicFramePr>
          <p:cNvPr id="301" name="Google Shape;301;gd9279c01cd_0_26"/>
          <p:cNvGraphicFramePr/>
          <p:nvPr/>
        </p:nvGraphicFramePr>
        <p:xfrm>
          <a:off x="298393" y="6487160"/>
          <a:ext cx="11096375" cy="370850"/>
        </p:xfrm>
        <a:graphic>
          <a:graphicData uri="http://schemas.openxmlformats.org/drawingml/2006/table">
            <a:tbl>
              <a:tblPr firstRow="1" bandRow="1">
                <a:noFill/>
                <a:tableStyleId>{72FCF9FF-86DD-4F90-83C7-D16C962093AE}</a:tableStyleId>
              </a:tblPr>
              <a:tblGrid>
                <a:gridCol w="11096375">
                  <a:extLst>
                    <a:ext uri="{9D8B030D-6E8A-4147-A177-3AD203B41FA5}">
                      <a16:colId xmlns:a16="http://schemas.microsoft.com/office/drawing/2014/main" val="20000"/>
                    </a:ext>
                  </a:extLst>
                </a:gridCol>
              </a:tblGrid>
              <a:tr h="370850">
                <a:tc>
                  <a:txBody>
                    <a:bodyPr/>
                    <a:lstStyle/>
                    <a:p>
                      <a:pPr marL="0" marR="0" lvl="0" indent="0" algn="ctr" rtl="0">
                        <a:lnSpc>
                          <a:spcPct val="150000"/>
                        </a:lnSpc>
                        <a:spcBef>
                          <a:spcPts val="0"/>
                        </a:spcBef>
                        <a:spcAft>
                          <a:spcPts val="0"/>
                        </a:spcAft>
                        <a:buClr>
                          <a:srgbClr val="BFBFBF"/>
                        </a:buClr>
                        <a:buSzPts val="700"/>
                        <a:buFont typeface="Malgun Gothic"/>
                        <a:buNone/>
                      </a:pPr>
                      <a:r>
                        <a:rPr lang="zh-TW" sz="700" b="0" i="0" u="none" strike="noStrike" cap="none" dirty="0">
                          <a:solidFill>
                            <a:srgbClr val="BFBFBF"/>
                          </a:solidFill>
                          <a:latin typeface="Malgun Gothic"/>
                          <a:ea typeface="Malgun Gothic"/>
                          <a:cs typeface="Malgun Gothic"/>
                          <a:sym typeface="Malgun Gothic"/>
                        </a:rPr>
                        <a:t>Enjoy your stylish business and campus life with BIZCAM</a:t>
                      </a:r>
                      <a:endParaRPr sz="4800" b="0" i="0" u="none" strike="noStrike" cap="none" dirty="0">
                        <a:solidFill>
                          <a:srgbClr val="BFBFBF"/>
                        </a:solidFill>
                        <a:latin typeface="Malgun Gothic"/>
                        <a:ea typeface="Malgun Gothic"/>
                        <a:cs typeface="Malgun Gothic"/>
                        <a:sym typeface="Malgun Gothic"/>
                      </a:endParaRPr>
                    </a:p>
                  </a:txBody>
                  <a:tcPr marL="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02" name="Google Shape;302;gd9279c01cd_0_26"/>
          <p:cNvSpPr/>
          <p:nvPr/>
        </p:nvSpPr>
        <p:spPr>
          <a:xfrm>
            <a:off x="158593" y="808069"/>
            <a:ext cx="540600" cy="461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zh-TW" sz="2400" b="1" i="1" u="none" strike="noStrike" cap="none" dirty="0">
                <a:solidFill>
                  <a:srgbClr val="21BFCA"/>
                </a:solidFill>
                <a:latin typeface="Malgun Gothic"/>
                <a:ea typeface="Malgun Gothic"/>
                <a:cs typeface="Malgun Gothic"/>
                <a:sym typeface="Malgun Gothic"/>
              </a:rPr>
              <a:t>0</a:t>
            </a:r>
            <a:r>
              <a:rPr lang="en-US" altLang="zh-TW" sz="2400" b="1" i="1" u="none" strike="noStrike" cap="none" dirty="0">
                <a:solidFill>
                  <a:srgbClr val="21BFCA"/>
                </a:solidFill>
                <a:latin typeface="Malgun Gothic"/>
                <a:ea typeface="Malgun Gothic"/>
                <a:cs typeface="Malgun Gothic"/>
                <a:sym typeface="Malgun Gothic"/>
              </a:rPr>
              <a:t>4</a:t>
            </a:r>
            <a:endParaRPr sz="2400" b="0" i="0" u="none" strike="noStrike" cap="none" dirty="0">
              <a:solidFill>
                <a:srgbClr val="21BFCA"/>
              </a:solidFill>
              <a:latin typeface="Malgun Gothic"/>
              <a:ea typeface="Malgun Gothic"/>
              <a:cs typeface="Malgun Gothic"/>
              <a:sym typeface="Malgun Gothic"/>
            </a:endParaRPr>
          </a:p>
        </p:txBody>
      </p:sp>
      <p:sp>
        <p:nvSpPr>
          <p:cNvPr id="303" name="Google Shape;303;gd9279c01cd_0_26"/>
          <p:cNvSpPr txBox="1"/>
          <p:nvPr/>
        </p:nvSpPr>
        <p:spPr>
          <a:xfrm>
            <a:off x="157389" y="1512873"/>
            <a:ext cx="6694760" cy="2292905"/>
          </a:xfrm>
          <a:prstGeom prst="rect">
            <a:avLst/>
          </a:prstGeom>
          <a:noFill/>
          <a:ln>
            <a:noFill/>
          </a:ln>
        </p:spPr>
        <p:txBody>
          <a:bodyPr spcFirstLastPara="1" wrap="square" lIns="91425" tIns="91425" rIns="91425" bIns="91425" anchor="t" anchorCtr="0">
            <a:spAutoFit/>
          </a:bodyPr>
          <a:lstStyle/>
          <a:p>
            <a:pPr>
              <a:spcAft>
                <a:spcPts val="600"/>
              </a:spcAft>
              <a:buSzPts val="2000"/>
            </a:pPr>
            <a:r>
              <a:rPr lang="zh-TW" altLang="zh-TW" sz="2000" b="1" dirty="0">
                <a:solidFill>
                  <a:srgbClr val="002060"/>
                </a:solidFill>
                <a:latin typeface="Microsoft JhengHei"/>
                <a:ea typeface="Microsoft JhengHei"/>
                <a:cs typeface="Microsoft JhengHei"/>
                <a:sym typeface="Microsoft JhengHei"/>
              </a:rPr>
              <a:t>觀點</a:t>
            </a:r>
            <a:r>
              <a:rPr lang="zh-TW" altLang="en-US" sz="2000" b="1" dirty="0">
                <a:solidFill>
                  <a:srgbClr val="002060"/>
                </a:solidFill>
                <a:latin typeface="Microsoft JhengHei"/>
                <a:ea typeface="Microsoft JhengHei"/>
                <a:cs typeface="Microsoft JhengHei"/>
                <a:sym typeface="Microsoft JhengHei"/>
              </a:rPr>
              <a:t>九：</a:t>
            </a:r>
            <a:endParaRPr lang="en-US" altLang="zh-TW" sz="2000" b="1" dirty="0">
              <a:solidFill>
                <a:srgbClr val="002060"/>
              </a:solidFill>
              <a:latin typeface="Microsoft JhengHei"/>
              <a:ea typeface="Microsoft JhengHei"/>
              <a:cs typeface="Microsoft JhengHei"/>
              <a:sym typeface="Microsoft JhengHei"/>
            </a:endParaRPr>
          </a:p>
          <a:p>
            <a:pPr>
              <a:spcAft>
                <a:spcPts val="600"/>
              </a:spcAft>
              <a:buSzPts val="2000"/>
            </a:pPr>
            <a:r>
              <a:rPr lang="en-US" altLang="zh-TW" sz="2000" b="1" dirty="0">
                <a:solidFill>
                  <a:srgbClr val="002060"/>
                </a:solidFill>
                <a:latin typeface="Microsoft JhengHei"/>
                <a:ea typeface="Microsoft JhengHei"/>
                <a:cs typeface="Microsoft JhengHei"/>
                <a:sym typeface="Microsoft JhengHei"/>
              </a:rPr>
              <a:t>77</a:t>
            </a:r>
            <a:r>
              <a:rPr lang="zh-TW" altLang="en-US" sz="2000" b="1" dirty="0">
                <a:solidFill>
                  <a:srgbClr val="002060"/>
                </a:solidFill>
                <a:latin typeface="Microsoft JhengHei"/>
                <a:ea typeface="Microsoft JhengHei"/>
                <a:cs typeface="Microsoft JhengHei"/>
                <a:sym typeface="Microsoft JhengHei"/>
              </a:rPr>
              <a:t>個月內曾舞弊者，近期發生過舞弊，可能再犯率高</a:t>
            </a:r>
            <a:endParaRPr lang="en-US" altLang="zh-TW" sz="2000" b="1" dirty="0">
              <a:solidFill>
                <a:srgbClr val="002060"/>
              </a:solidFill>
              <a:latin typeface="Microsoft JhengHei"/>
              <a:ea typeface="Microsoft JhengHei"/>
              <a:cs typeface="Microsoft JhengHei"/>
              <a:sym typeface="Microsoft JhengHei"/>
            </a:endParaRPr>
          </a:p>
          <a:p>
            <a:pPr>
              <a:spcAft>
                <a:spcPts val="600"/>
              </a:spcAft>
              <a:buSzPts val="2000"/>
            </a:pPr>
            <a:r>
              <a:rPr lang="zh-TW" altLang="en-US" sz="1800" dirty="0">
                <a:solidFill>
                  <a:schemeClr val="tx1"/>
                </a:solidFill>
                <a:latin typeface="Microsoft JhengHei"/>
                <a:ea typeface="Microsoft JhengHei"/>
                <a:cs typeface="Microsoft JhengHei"/>
                <a:sym typeface="Microsoft JhengHei"/>
              </a:rPr>
              <a:t>若近期內發生過舞弊，其</a:t>
            </a:r>
            <a:r>
              <a:rPr lang="zh-TW" altLang="en-US" sz="1800" b="1" dirty="0">
                <a:solidFill>
                  <a:schemeClr val="tx1"/>
                </a:solidFill>
                <a:latin typeface="Microsoft JhengHei"/>
                <a:ea typeface="Microsoft JhengHei"/>
                <a:cs typeface="Microsoft JhengHei"/>
                <a:sym typeface="Microsoft JhengHei"/>
              </a:rPr>
              <a:t>舞弊機率明顯較高</a:t>
            </a:r>
            <a:r>
              <a:rPr lang="zh-TW" altLang="en-US" sz="1800" dirty="0">
                <a:solidFill>
                  <a:schemeClr val="tx1"/>
                </a:solidFill>
                <a:latin typeface="Microsoft JhengHei"/>
                <a:ea typeface="Microsoft JhengHei"/>
                <a:cs typeface="Microsoft JhengHei"/>
                <a:sym typeface="Microsoft JhengHei"/>
              </a:rPr>
              <a:t>，可能是因為業務員的經濟狀況不佳，導致需要一再舞弊以獲取不當利益。</a:t>
            </a:r>
            <a:endParaRPr lang="en-US" altLang="zh-TW" sz="1800" dirty="0">
              <a:solidFill>
                <a:schemeClr val="tx1"/>
              </a:solidFill>
              <a:latin typeface="Microsoft JhengHei"/>
              <a:ea typeface="Microsoft JhengHei"/>
              <a:cs typeface="Microsoft JhengHei"/>
              <a:sym typeface="Microsoft JhengHei"/>
            </a:endParaRPr>
          </a:p>
          <a:p>
            <a:pPr>
              <a:spcAft>
                <a:spcPts val="600"/>
              </a:spcAft>
              <a:buSzPts val="2000"/>
            </a:pPr>
            <a:endParaRPr lang="en-US" altLang="zh-TW" sz="1800" dirty="0">
              <a:solidFill>
                <a:schemeClr val="tx1"/>
              </a:solidFill>
              <a:latin typeface="Microsoft JhengHei"/>
              <a:ea typeface="Microsoft JhengHei"/>
              <a:cs typeface="Microsoft JhengHei"/>
              <a:sym typeface="Microsoft JhengHei"/>
            </a:endParaRPr>
          </a:p>
          <a:p>
            <a:pPr>
              <a:spcAft>
                <a:spcPts val="600"/>
              </a:spcAft>
              <a:buSzPts val="2000"/>
            </a:pPr>
            <a:endParaRPr lang="zh-TW" altLang="en-US" sz="1800" dirty="0">
              <a:latin typeface="Microsoft JhengHei"/>
              <a:ea typeface="Microsoft JhengHei"/>
              <a:cs typeface="Microsoft JhengHei"/>
              <a:sym typeface="Microsoft JhengHei"/>
            </a:endParaRPr>
          </a:p>
        </p:txBody>
      </p:sp>
      <p:sp>
        <p:nvSpPr>
          <p:cNvPr id="13" name="文字方塊 12"/>
          <p:cNvSpPr txBox="1"/>
          <p:nvPr/>
        </p:nvSpPr>
        <p:spPr>
          <a:xfrm>
            <a:off x="6297434" y="5864240"/>
            <a:ext cx="1109429" cy="307777"/>
          </a:xfrm>
          <a:prstGeom prst="rect">
            <a:avLst/>
          </a:prstGeom>
          <a:noFill/>
        </p:spPr>
        <p:txBody>
          <a:bodyPr wrap="square" rtlCol="0">
            <a:spAutoFit/>
          </a:bodyPr>
          <a:lstStyle/>
          <a:p>
            <a:pPr algn="ctr"/>
            <a:r>
              <a:rPr lang="zh-TW" altLang="en-US" dirty="0">
                <a:latin typeface="微軟正黑體" panose="020B0604030504040204" pitchFamily="34" charset="-120"/>
                <a:ea typeface="微軟正黑體" panose="020B0604030504040204" pitchFamily="34" charset="-120"/>
              </a:rPr>
              <a:t>圖十</a:t>
            </a:r>
          </a:p>
        </p:txBody>
      </p:sp>
      <p:graphicFrame>
        <p:nvGraphicFramePr>
          <p:cNvPr id="14" name="Google Shape;275;gded498c5cf_0_0"/>
          <p:cNvGraphicFramePr/>
          <p:nvPr>
            <p:extLst>
              <p:ext uri="{D42A27DB-BD31-4B8C-83A1-F6EECF244321}">
                <p14:modId xmlns:p14="http://schemas.microsoft.com/office/powerpoint/2010/main" val="3681997215"/>
              </p:ext>
            </p:extLst>
          </p:nvPr>
        </p:nvGraphicFramePr>
        <p:xfrm>
          <a:off x="298393" y="6487160"/>
          <a:ext cx="11096375" cy="371930"/>
        </p:xfrm>
        <a:graphic>
          <a:graphicData uri="http://schemas.openxmlformats.org/drawingml/2006/table">
            <a:tbl>
              <a:tblPr firstRow="1" bandRow="1">
                <a:noFill/>
                <a:tableStyleId>{72FCF9FF-86DD-4F90-83C7-D16C962093AE}</a:tableStyleId>
              </a:tblPr>
              <a:tblGrid>
                <a:gridCol w="11096375">
                  <a:extLst>
                    <a:ext uri="{9D8B030D-6E8A-4147-A177-3AD203B41FA5}">
                      <a16:colId xmlns:a16="http://schemas.microsoft.com/office/drawing/2014/main" val="20000"/>
                    </a:ext>
                  </a:extLst>
                </a:gridCol>
              </a:tblGrid>
              <a:tr h="370850">
                <a:tc>
                  <a:txBody>
                    <a:bodyPr/>
                    <a:lstStyle/>
                    <a:p>
                      <a:pPr marL="0" marR="0" lvl="0" indent="0" algn="ctr" rtl="0">
                        <a:lnSpc>
                          <a:spcPct val="150000"/>
                        </a:lnSpc>
                        <a:spcBef>
                          <a:spcPts val="0"/>
                        </a:spcBef>
                        <a:spcAft>
                          <a:spcPts val="0"/>
                        </a:spcAft>
                        <a:buClr>
                          <a:srgbClr val="BFBFBF"/>
                        </a:buClr>
                        <a:buSzPts val="700"/>
                        <a:buFont typeface="Malgun Gothic"/>
                        <a:buNone/>
                      </a:pPr>
                      <a:r>
                        <a:rPr lang="en-US" altLang="zh-TW" sz="1400" b="0" i="0" u="none" strike="noStrike" cap="none" dirty="0">
                          <a:solidFill>
                            <a:schemeClr val="bg1"/>
                          </a:solidFill>
                          <a:latin typeface="Cambria Math" panose="02040503050406030204" pitchFamily="18" charset="0"/>
                          <a:ea typeface="Cambria Math" panose="02040503050406030204" pitchFamily="18" charset="0"/>
                          <a:cs typeface="Malgun Gothic"/>
                          <a:sym typeface="Malgun Gothic"/>
                        </a:rPr>
                        <a:t>23</a:t>
                      </a:r>
                      <a:endParaRPr sz="1400" b="0" i="0" u="none" strike="noStrike" cap="none" dirty="0">
                        <a:solidFill>
                          <a:schemeClr val="bg1"/>
                        </a:solidFill>
                        <a:latin typeface="Cambria Math" panose="02040503050406030204" pitchFamily="18" charset="0"/>
                        <a:ea typeface="Cambria Math" panose="02040503050406030204" pitchFamily="18" charset="0"/>
                        <a:cs typeface="Malgun Gothic"/>
                        <a:sym typeface="Malgun Gothic"/>
                      </a:endParaRPr>
                    </a:p>
                  </a:txBody>
                  <a:tcPr marL="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5" name="圖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69710" y="3176957"/>
            <a:ext cx="4057632" cy="2531392"/>
          </a:xfrm>
          <a:prstGeom prst="rect">
            <a:avLst/>
          </a:prstGeom>
        </p:spPr>
      </p:pic>
    </p:spTree>
    <p:extLst>
      <p:ext uri="{BB962C8B-B14F-4D97-AF65-F5344CB8AC3E}">
        <p14:creationId xmlns:p14="http://schemas.microsoft.com/office/powerpoint/2010/main" val="13459598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pic>
        <p:nvPicPr>
          <p:cNvPr id="15" name="圖片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92348" y="2014025"/>
            <a:ext cx="7352692" cy="4429079"/>
          </a:xfrm>
          <a:prstGeom prst="rect">
            <a:avLst/>
          </a:prstGeom>
        </p:spPr>
      </p:pic>
      <p:sp>
        <p:nvSpPr>
          <p:cNvPr id="2" name="文字方塊 1"/>
          <p:cNvSpPr txBox="1"/>
          <p:nvPr/>
        </p:nvSpPr>
        <p:spPr>
          <a:xfrm>
            <a:off x="1381389" y="1269734"/>
            <a:ext cx="9172311" cy="5170646"/>
          </a:xfrm>
          <a:prstGeom prst="rect">
            <a:avLst/>
          </a:prstGeom>
          <a:noFill/>
        </p:spPr>
        <p:txBody>
          <a:bodyPr wrap="square" rtlCol="0">
            <a:spAutoFit/>
          </a:bodyPr>
          <a:lstStyle/>
          <a:p>
            <a:pPr>
              <a:spcAft>
                <a:spcPts val="600"/>
              </a:spcAft>
            </a:pPr>
            <a:r>
              <a:rPr lang="zh-TW" altLang="en-US" sz="2400" b="1" dirty="0">
                <a:solidFill>
                  <a:schemeClr val="accent5">
                    <a:lumMod val="50000"/>
                  </a:schemeClr>
                </a:solidFill>
                <a:latin typeface="微軟正黑體" panose="020B0604030504040204" pitchFamily="34" charset="-120"/>
                <a:ea typeface="微軟正黑體" panose="020B0604030504040204" pitchFamily="34" charset="-120"/>
              </a:rPr>
              <a:t>業務表現</a:t>
            </a:r>
            <a:endParaRPr lang="en-US" altLang="zh-TW" sz="2400" b="1" dirty="0">
              <a:solidFill>
                <a:schemeClr val="accent5">
                  <a:lumMod val="50000"/>
                </a:schemeClr>
              </a:solidFill>
              <a:latin typeface="微軟正黑體" panose="020B0604030504040204" pitchFamily="34" charset="-120"/>
              <a:ea typeface="微軟正黑體" panose="020B0604030504040204" pitchFamily="34" charset="-120"/>
            </a:endParaRPr>
          </a:p>
          <a:p>
            <a:pPr marL="342900" indent="-342900">
              <a:spcAft>
                <a:spcPts val="600"/>
              </a:spcAft>
              <a:buFont typeface="Wingdings" panose="05000000000000000000" pitchFamily="2" charset="2"/>
              <a:buChar char="ü"/>
            </a:pPr>
            <a:r>
              <a:rPr lang="zh-TW" altLang="en-US" sz="2000" dirty="0">
                <a:solidFill>
                  <a:schemeClr val="tx1"/>
                </a:solidFill>
                <a:latin typeface="微軟正黑體" panose="020B0604030504040204" pitchFamily="34" charset="-120"/>
                <a:ea typeface="微軟正黑體" panose="020B0604030504040204" pitchFamily="34" charset="-120"/>
              </a:rPr>
              <a:t>近期發生不當行為且發生舞弊行為者，短期保單停效比例皆明顯大於其他分類</a:t>
            </a:r>
            <a:endParaRPr lang="en-US" altLang="zh-TW" sz="2000" dirty="0">
              <a:solidFill>
                <a:schemeClr val="tx1"/>
              </a:solidFill>
              <a:latin typeface="微軟正黑體" panose="020B0604030504040204" pitchFamily="34" charset="-120"/>
              <a:ea typeface="微軟正黑體" panose="020B0604030504040204" pitchFamily="34" charset="-120"/>
            </a:endParaRPr>
          </a:p>
          <a:p>
            <a:pPr marL="457200" indent="-457200">
              <a:buAutoNum type="arabicPeriod"/>
            </a:pPr>
            <a:endParaRPr lang="en-US" altLang="zh-TW" sz="2000" dirty="0">
              <a:solidFill>
                <a:schemeClr val="tx1"/>
              </a:solidFill>
              <a:latin typeface="微軟正黑體" panose="020B0604030504040204" pitchFamily="34" charset="-120"/>
              <a:ea typeface="微軟正黑體" panose="020B0604030504040204" pitchFamily="34" charset="-120"/>
            </a:endParaRPr>
          </a:p>
          <a:p>
            <a:endParaRPr lang="en-US" altLang="zh-TW" sz="2000" dirty="0">
              <a:solidFill>
                <a:schemeClr val="tx1"/>
              </a:solidFill>
              <a:latin typeface="微軟正黑體" panose="020B0604030504040204" pitchFamily="34" charset="-120"/>
              <a:ea typeface="微軟正黑體" panose="020B0604030504040204" pitchFamily="34" charset="-120"/>
            </a:endParaRPr>
          </a:p>
          <a:p>
            <a:pPr marL="457200" indent="-457200">
              <a:buAutoNum type="arabicPeriod"/>
            </a:pPr>
            <a:endParaRPr lang="en-US" altLang="zh-TW" sz="2000" dirty="0">
              <a:solidFill>
                <a:schemeClr val="tx1"/>
              </a:solidFill>
              <a:latin typeface="微軟正黑體" panose="020B0604030504040204" pitchFamily="34" charset="-120"/>
              <a:ea typeface="微軟正黑體" panose="020B0604030504040204" pitchFamily="34" charset="-120"/>
            </a:endParaRPr>
          </a:p>
          <a:p>
            <a:endParaRPr lang="en-US" altLang="zh-TW" sz="2400" b="1" dirty="0">
              <a:solidFill>
                <a:schemeClr val="accent5">
                  <a:lumMod val="50000"/>
                </a:schemeClr>
              </a:solidFill>
              <a:latin typeface="微軟正黑體" panose="020B0604030504040204" pitchFamily="34" charset="-120"/>
              <a:ea typeface="微軟正黑體" panose="020B0604030504040204" pitchFamily="34" charset="-120"/>
            </a:endParaRPr>
          </a:p>
          <a:p>
            <a:endParaRPr lang="en-US" altLang="zh-TW" sz="2400" b="1" dirty="0">
              <a:solidFill>
                <a:schemeClr val="accent5">
                  <a:lumMod val="50000"/>
                </a:schemeClr>
              </a:solidFill>
              <a:latin typeface="微軟正黑體" panose="020B0604030504040204" pitchFamily="34" charset="-120"/>
              <a:ea typeface="微軟正黑體" panose="020B0604030504040204" pitchFamily="34" charset="-120"/>
            </a:endParaRPr>
          </a:p>
          <a:p>
            <a:endParaRPr lang="en-US" altLang="zh-TW" sz="2400" b="1" dirty="0">
              <a:solidFill>
                <a:schemeClr val="accent5">
                  <a:lumMod val="50000"/>
                </a:schemeClr>
              </a:solidFill>
              <a:latin typeface="微軟正黑體" panose="020B0604030504040204" pitchFamily="34" charset="-120"/>
              <a:ea typeface="微軟正黑體" panose="020B0604030504040204" pitchFamily="34" charset="-120"/>
            </a:endParaRPr>
          </a:p>
          <a:p>
            <a:endParaRPr lang="en-US" altLang="zh-TW" sz="2400" b="1" dirty="0">
              <a:solidFill>
                <a:schemeClr val="accent5">
                  <a:lumMod val="50000"/>
                </a:schemeClr>
              </a:solidFill>
              <a:latin typeface="微軟正黑體" panose="020B0604030504040204" pitchFamily="34" charset="-120"/>
              <a:ea typeface="微軟正黑體" panose="020B0604030504040204" pitchFamily="34" charset="-120"/>
            </a:endParaRPr>
          </a:p>
          <a:p>
            <a:endParaRPr lang="en-US" altLang="zh-TW" sz="2400" b="1" dirty="0">
              <a:solidFill>
                <a:schemeClr val="accent5">
                  <a:lumMod val="50000"/>
                </a:schemeClr>
              </a:solidFill>
              <a:latin typeface="微軟正黑體" panose="020B0604030504040204" pitchFamily="34" charset="-120"/>
              <a:ea typeface="微軟正黑體" panose="020B0604030504040204" pitchFamily="34" charset="-120"/>
            </a:endParaRPr>
          </a:p>
          <a:p>
            <a:endParaRPr lang="en-US" altLang="zh-TW" sz="2400" b="1" dirty="0">
              <a:solidFill>
                <a:schemeClr val="accent5">
                  <a:lumMod val="50000"/>
                </a:schemeClr>
              </a:solidFill>
              <a:latin typeface="微軟正黑體" panose="020B0604030504040204" pitchFamily="34" charset="-120"/>
              <a:ea typeface="微軟正黑體" panose="020B0604030504040204" pitchFamily="34" charset="-120"/>
            </a:endParaRPr>
          </a:p>
          <a:p>
            <a:endParaRPr lang="en-US" altLang="zh-TW" sz="2400" b="1" dirty="0">
              <a:solidFill>
                <a:schemeClr val="accent5">
                  <a:lumMod val="50000"/>
                </a:schemeClr>
              </a:solidFill>
              <a:latin typeface="微軟正黑體" panose="020B0604030504040204" pitchFamily="34" charset="-120"/>
              <a:ea typeface="微軟正黑體" panose="020B0604030504040204" pitchFamily="34" charset="-120"/>
            </a:endParaRPr>
          </a:p>
          <a:p>
            <a:endParaRPr lang="en-US" altLang="zh-TW" sz="2400" b="1" dirty="0">
              <a:solidFill>
                <a:schemeClr val="accent5">
                  <a:lumMod val="50000"/>
                </a:schemeClr>
              </a:solidFill>
              <a:latin typeface="微軟正黑體" panose="020B0604030504040204" pitchFamily="34" charset="-120"/>
              <a:ea typeface="微軟正黑體" panose="020B0604030504040204" pitchFamily="34" charset="-120"/>
            </a:endParaRPr>
          </a:p>
          <a:p>
            <a:endParaRPr lang="zh-TW" altLang="en-US" sz="2400" b="1" dirty="0">
              <a:solidFill>
                <a:schemeClr val="accent5">
                  <a:lumMod val="50000"/>
                </a:schemeClr>
              </a:solidFill>
              <a:latin typeface="微軟正黑體" panose="020B0604030504040204" pitchFamily="34" charset="-120"/>
              <a:ea typeface="微軟正黑體" panose="020B0604030504040204" pitchFamily="34" charset="-120"/>
            </a:endParaRPr>
          </a:p>
        </p:txBody>
      </p:sp>
      <p:sp>
        <p:nvSpPr>
          <p:cNvPr id="190" name="Google Shape;190;p9"/>
          <p:cNvSpPr/>
          <p:nvPr/>
        </p:nvSpPr>
        <p:spPr>
          <a:xfrm>
            <a:off x="1848142" y="329912"/>
            <a:ext cx="3194050" cy="387350"/>
          </a:xfrm>
          <a:prstGeom prst="parallelogram">
            <a:avLst>
              <a:gd name="adj" fmla="val 69898"/>
            </a:avLst>
          </a:prstGeom>
          <a:solidFill>
            <a:srgbClr val="21BFCA"/>
          </a:solidFill>
          <a:ln w="161925" cap="sq" cmpd="sng">
            <a:solidFill>
              <a:srgbClr val="1E868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191" name="Google Shape;191;p9"/>
          <p:cNvSpPr/>
          <p:nvPr/>
        </p:nvSpPr>
        <p:spPr>
          <a:xfrm>
            <a:off x="1833992" y="329256"/>
            <a:ext cx="3194050" cy="387350"/>
          </a:xfrm>
          <a:prstGeom prst="parallelogram">
            <a:avLst>
              <a:gd name="adj" fmla="val 69898"/>
            </a:avLst>
          </a:prstGeom>
          <a:solidFill>
            <a:srgbClr val="21BFCA"/>
          </a:solidFill>
          <a:ln w="161925" cap="sq" cmpd="sng">
            <a:solidFill>
              <a:srgbClr val="21BFC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192" name="Google Shape;192;p9"/>
          <p:cNvSpPr/>
          <p:nvPr/>
        </p:nvSpPr>
        <p:spPr>
          <a:xfrm>
            <a:off x="4581237" y="329912"/>
            <a:ext cx="7525038" cy="387350"/>
          </a:xfrm>
          <a:prstGeom prst="parallelogram">
            <a:avLst>
              <a:gd name="adj" fmla="val 0"/>
            </a:avLst>
          </a:prstGeom>
          <a:solidFill>
            <a:srgbClr val="21BFCA"/>
          </a:solidFill>
          <a:ln w="161925" cap="sq" cmpd="sng">
            <a:solidFill>
              <a:srgbClr val="21BFC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193" name="Google Shape;193;p9"/>
          <p:cNvSpPr/>
          <p:nvPr/>
        </p:nvSpPr>
        <p:spPr>
          <a:xfrm>
            <a:off x="2066647" y="271786"/>
            <a:ext cx="6678682"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zh-TW" altLang="en-US" sz="2800" dirty="0">
                <a:solidFill>
                  <a:srgbClr val="FFFFFF"/>
                </a:solidFill>
                <a:latin typeface="Microsoft JhengHei"/>
                <a:ea typeface="Microsoft JhengHei"/>
                <a:cs typeface="Microsoft JhengHei"/>
                <a:sym typeface="Microsoft JhengHei"/>
              </a:rPr>
              <a:t>舞弊人員特性分析 </a:t>
            </a:r>
            <a:r>
              <a:rPr lang="en-US" altLang="zh-TW" sz="2800" dirty="0">
                <a:solidFill>
                  <a:srgbClr val="FFFFFF"/>
                </a:solidFill>
                <a:latin typeface="Microsoft JhengHei"/>
                <a:ea typeface="Microsoft JhengHei"/>
                <a:cs typeface="Microsoft JhengHei"/>
                <a:sym typeface="Microsoft JhengHei"/>
              </a:rPr>
              <a:t>– </a:t>
            </a:r>
            <a:r>
              <a:rPr lang="zh-TW" altLang="en-US" sz="2800" dirty="0">
                <a:solidFill>
                  <a:srgbClr val="FFFFFF"/>
                </a:solidFill>
                <a:latin typeface="Microsoft JhengHei"/>
                <a:ea typeface="Microsoft JhengHei"/>
                <a:cs typeface="Microsoft JhengHei"/>
                <a:sym typeface="Microsoft JhengHei"/>
              </a:rPr>
              <a:t>近期發生不當行為者</a:t>
            </a:r>
            <a:endParaRPr sz="2800" b="0" i="0" u="none" strike="noStrike" cap="none" dirty="0">
              <a:solidFill>
                <a:srgbClr val="FFFFFF"/>
              </a:solidFill>
              <a:latin typeface="Microsoft JhengHei"/>
              <a:ea typeface="Microsoft JhengHei"/>
              <a:cs typeface="Microsoft JhengHei"/>
              <a:sym typeface="Microsoft JhengHei"/>
            </a:endParaRPr>
          </a:p>
        </p:txBody>
      </p:sp>
      <p:cxnSp>
        <p:nvCxnSpPr>
          <p:cNvPr id="194" name="Google Shape;194;p9"/>
          <p:cNvCxnSpPr/>
          <p:nvPr/>
        </p:nvCxnSpPr>
        <p:spPr>
          <a:xfrm>
            <a:off x="157389" y="1269734"/>
            <a:ext cx="1224000" cy="0"/>
          </a:xfrm>
          <a:prstGeom prst="straightConnector1">
            <a:avLst/>
          </a:prstGeom>
          <a:noFill/>
          <a:ln w="15875" cap="rnd" cmpd="sng">
            <a:solidFill>
              <a:srgbClr val="21BFCA"/>
            </a:solidFill>
            <a:prstDash val="solid"/>
            <a:round/>
            <a:headEnd type="none" w="sm" len="sm"/>
            <a:tailEnd type="none" w="sm" len="sm"/>
          </a:ln>
        </p:spPr>
      </p:cxnSp>
      <p:graphicFrame>
        <p:nvGraphicFramePr>
          <p:cNvPr id="195" name="Google Shape;195;p9"/>
          <p:cNvGraphicFramePr/>
          <p:nvPr>
            <p:extLst>
              <p:ext uri="{D42A27DB-BD31-4B8C-83A1-F6EECF244321}">
                <p14:modId xmlns:p14="http://schemas.microsoft.com/office/powerpoint/2010/main" val="2218953078"/>
              </p:ext>
            </p:extLst>
          </p:nvPr>
        </p:nvGraphicFramePr>
        <p:xfrm>
          <a:off x="298393" y="6487160"/>
          <a:ext cx="11096375" cy="371930"/>
        </p:xfrm>
        <a:graphic>
          <a:graphicData uri="http://schemas.openxmlformats.org/drawingml/2006/table">
            <a:tbl>
              <a:tblPr firstRow="1" bandRow="1">
                <a:noFill/>
                <a:tableStyleId>{72FCF9FF-86DD-4F90-83C7-D16C962093AE}</a:tableStyleId>
              </a:tblPr>
              <a:tblGrid>
                <a:gridCol w="11096375">
                  <a:extLst>
                    <a:ext uri="{9D8B030D-6E8A-4147-A177-3AD203B41FA5}">
                      <a16:colId xmlns:a16="http://schemas.microsoft.com/office/drawing/2014/main" val="20000"/>
                    </a:ext>
                  </a:extLst>
                </a:gridCol>
              </a:tblGrid>
              <a:tr h="370850">
                <a:tc>
                  <a:txBody>
                    <a:bodyPr/>
                    <a:lstStyle/>
                    <a:p>
                      <a:pPr marL="0" marR="0" lvl="0" indent="0" algn="ctr" rtl="0">
                        <a:lnSpc>
                          <a:spcPct val="150000"/>
                        </a:lnSpc>
                        <a:spcBef>
                          <a:spcPts val="0"/>
                        </a:spcBef>
                        <a:spcAft>
                          <a:spcPts val="0"/>
                        </a:spcAft>
                        <a:buClr>
                          <a:srgbClr val="BFBFBF"/>
                        </a:buClr>
                        <a:buSzPts val="700"/>
                        <a:buFont typeface="Malgun Gothic"/>
                        <a:buNone/>
                      </a:pPr>
                      <a:r>
                        <a:rPr lang="en-US" altLang="zh-TW" sz="1400" b="0" i="0" u="none" strike="noStrike" cap="none" dirty="0">
                          <a:solidFill>
                            <a:schemeClr val="bg1"/>
                          </a:solidFill>
                          <a:latin typeface="Cambria Math" panose="02040503050406030204" pitchFamily="18" charset="0"/>
                          <a:ea typeface="Cambria Math" panose="02040503050406030204" pitchFamily="18" charset="0"/>
                          <a:cs typeface="Malgun Gothic"/>
                          <a:sym typeface="Malgun Gothic"/>
                        </a:rPr>
                        <a:t>24</a:t>
                      </a:r>
                      <a:endParaRPr sz="1400" b="0" i="0" u="none" strike="noStrike" cap="none" dirty="0">
                        <a:solidFill>
                          <a:schemeClr val="bg1"/>
                        </a:solidFill>
                        <a:latin typeface="Cambria Math" panose="02040503050406030204" pitchFamily="18" charset="0"/>
                        <a:ea typeface="Cambria Math" panose="02040503050406030204" pitchFamily="18" charset="0"/>
                        <a:cs typeface="Malgun Gothic"/>
                        <a:sym typeface="Malgun Gothic"/>
                      </a:endParaRPr>
                    </a:p>
                  </a:txBody>
                  <a:tcPr marL="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196" name="Google Shape;196;p9"/>
          <p:cNvSpPr/>
          <p:nvPr/>
        </p:nvSpPr>
        <p:spPr>
          <a:xfrm>
            <a:off x="158593" y="808069"/>
            <a:ext cx="540533"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zh-TW" sz="2400" b="1" i="1" u="none" strike="noStrike" cap="none" dirty="0">
                <a:solidFill>
                  <a:srgbClr val="21BFCA"/>
                </a:solidFill>
                <a:latin typeface="Malgun Gothic"/>
                <a:ea typeface="Malgun Gothic"/>
                <a:cs typeface="Malgun Gothic"/>
                <a:sym typeface="Malgun Gothic"/>
              </a:rPr>
              <a:t>0</a:t>
            </a:r>
            <a:r>
              <a:rPr lang="en-US" altLang="zh-TW" sz="2400" b="1" i="1" dirty="0">
                <a:solidFill>
                  <a:srgbClr val="21BFCA"/>
                </a:solidFill>
                <a:latin typeface="Malgun Gothic"/>
                <a:ea typeface="Malgun Gothic"/>
                <a:cs typeface="Malgun Gothic"/>
                <a:sym typeface="Malgun Gothic"/>
              </a:rPr>
              <a:t>5</a:t>
            </a:r>
            <a:endParaRPr sz="2400" b="0" i="0" u="none" strike="noStrike" cap="none" dirty="0">
              <a:solidFill>
                <a:srgbClr val="21BFCA"/>
              </a:solidFill>
              <a:latin typeface="Malgun Gothic"/>
              <a:ea typeface="Malgun Gothic"/>
              <a:cs typeface="Malgun Gothic"/>
              <a:sym typeface="Malgun Gothic"/>
            </a:endParaRPr>
          </a:p>
        </p:txBody>
      </p:sp>
    </p:spTree>
    <p:extLst>
      <p:ext uri="{BB962C8B-B14F-4D97-AF65-F5344CB8AC3E}">
        <p14:creationId xmlns:p14="http://schemas.microsoft.com/office/powerpoint/2010/main" val="13859088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9"/>
          <p:cNvSpPr/>
          <p:nvPr/>
        </p:nvSpPr>
        <p:spPr>
          <a:xfrm>
            <a:off x="1848142" y="329912"/>
            <a:ext cx="3194050" cy="387350"/>
          </a:xfrm>
          <a:prstGeom prst="parallelogram">
            <a:avLst>
              <a:gd name="adj" fmla="val 69898"/>
            </a:avLst>
          </a:prstGeom>
          <a:solidFill>
            <a:srgbClr val="21BFCA"/>
          </a:solidFill>
          <a:ln w="161925" cap="sq" cmpd="sng">
            <a:solidFill>
              <a:srgbClr val="1E868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191" name="Google Shape;191;p9"/>
          <p:cNvSpPr/>
          <p:nvPr/>
        </p:nvSpPr>
        <p:spPr>
          <a:xfrm>
            <a:off x="1833992" y="329256"/>
            <a:ext cx="3194050" cy="387350"/>
          </a:xfrm>
          <a:prstGeom prst="parallelogram">
            <a:avLst>
              <a:gd name="adj" fmla="val 69898"/>
            </a:avLst>
          </a:prstGeom>
          <a:solidFill>
            <a:srgbClr val="21BFCA"/>
          </a:solidFill>
          <a:ln w="161925" cap="sq" cmpd="sng">
            <a:solidFill>
              <a:srgbClr val="21BFC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192" name="Google Shape;192;p9"/>
          <p:cNvSpPr/>
          <p:nvPr/>
        </p:nvSpPr>
        <p:spPr>
          <a:xfrm>
            <a:off x="4581237" y="329912"/>
            <a:ext cx="7525038" cy="387350"/>
          </a:xfrm>
          <a:prstGeom prst="parallelogram">
            <a:avLst>
              <a:gd name="adj" fmla="val 0"/>
            </a:avLst>
          </a:prstGeom>
          <a:solidFill>
            <a:srgbClr val="21BFCA"/>
          </a:solidFill>
          <a:ln w="161925" cap="sq" cmpd="sng">
            <a:solidFill>
              <a:srgbClr val="21BFC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193" name="Google Shape;193;p9"/>
          <p:cNvSpPr/>
          <p:nvPr/>
        </p:nvSpPr>
        <p:spPr>
          <a:xfrm>
            <a:off x="2066647" y="271786"/>
            <a:ext cx="6678682" cy="523220"/>
          </a:xfrm>
          <a:prstGeom prst="rect">
            <a:avLst/>
          </a:prstGeom>
          <a:noFill/>
          <a:ln>
            <a:noFill/>
          </a:ln>
        </p:spPr>
        <p:txBody>
          <a:bodyPr spcFirstLastPara="1" wrap="square" lIns="91425" tIns="45700" rIns="91425" bIns="45700" anchor="t" anchorCtr="0">
            <a:spAutoFit/>
          </a:bodyPr>
          <a:lstStyle/>
          <a:p>
            <a:pPr lvl="0">
              <a:buSzPts val="2800"/>
            </a:pPr>
            <a:r>
              <a:rPr lang="zh-TW" altLang="en-US" sz="2800" dirty="0">
                <a:solidFill>
                  <a:srgbClr val="FFFFFF"/>
                </a:solidFill>
                <a:latin typeface="Microsoft JhengHei"/>
                <a:ea typeface="Microsoft JhengHei"/>
                <a:cs typeface="Microsoft JhengHei"/>
                <a:sym typeface="Microsoft JhengHei"/>
              </a:rPr>
              <a:t>舞弊人員特性分析 </a:t>
            </a:r>
            <a:r>
              <a:rPr lang="en-US" altLang="zh-TW" sz="2800" dirty="0">
                <a:solidFill>
                  <a:srgbClr val="FFFFFF"/>
                </a:solidFill>
                <a:latin typeface="Microsoft JhengHei"/>
                <a:ea typeface="Microsoft JhengHei"/>
                <a:cs typeface="Microsoft JhengHei"/>
                <a:sym typeface="Microsoft JhengHei"/>
              </a:rPr>
              <a:t>– </a:t>
            </a:r>
            <a:r>
              <a:rPr lang="zh-TW" altLang="en-US" sz="2800" dirty="0">
                <a:solidFill>
                  <a:srgbClr val="FFFFFF"/>
                </a:solidFill>
                <a:latin typeface="Microsoft JhengHei"/>
                <a:ea typeface="Microsoft JhengHei"/>
                <a:cs typeface="Microsoft JhengHei"/>
                <a:sym typeface="Microsoft JhengHei"/>
              </a:rPr>
              <a:t>近期發生不當行為者</a:t>
            </a:r>
          </a:p>
        </p:txBody>
      </p:sp>
      <p:cxnSp>
        <p:nvCxnSpPr>
          <p:cNvPr id="194" name="Google Shape;194;p9"/>
          <p:cNvCxnSpPr/>
          <p:nvPr/>
        </p:nvCxnSpPr>
        <p:spPr>
          <a:xfrm>
            <a:off x="157389" y="1269734"/>
            <a:ext cx="1224000" cy="0"/>
          </a:xfrm>
          <a:prstGeom prst="straightConnector1">
            <a:avLst/>
          </a:prstGeom>
          <a:noFill/>
          <a:ln w="15875" cap="rnd" cmpd="sng">
            <a:solidFill>
              <a:srgbClr val="21BFCA"/>
            </a:solidFill>
            <a:prstDash val="solid"/>
            <a:round/>
            <a:headEnd type="none" w="sm" len="sm"/>
            <a:tailEnd type="none" w="sm" len="sm"/>
          </a:ln>
        </p:spPr>
      </p:cxnSp>
      <p:graphicFrame>
        <p:nvGraphicFramePr>
          <p:cNvPr id="195" name="Google Shape;195;p9"/>
          <p:cNvGraphicFramePr/>
          <p:nvPr>
            <p:extLst>
              <p:ext uri="{D42A27DB-BD31-4B8C-83A1-F6EECF244321}">
                <p14:modId xmlns:p14="http://schemas.microsoft.com/office/powerpoint/2010/main" val="1763678834"/>
              </p:ext>
            </p:extLst>
          </p:nvPr>
        </p:nvGraphicFramePr>
        <p:xfrm>
          <a:off x="298393" y="6487160"/>
          <a:ext cx="11096375" cy="371930"/>
        </p:xfrm>
        <a:graphic>
          <a:graphicData uri="http://schemas.openxmlformats.org/drawingml/2006/table">
            <a:tbl>
              <a:tblPr firstRow="1" bandRow="1">
                <a:noFill/>
                <a:tableStyleId>{72FCF9FF-86DD-4F90-83C7-D16C962093AE}</a:tableStyleId>
              </a:tblPr>
              <a:tblGrid>
                <a:gridCol w="11096375">
                  <a:extLst>
                    <a:ext uri="{9D8B030D-6E8A-4147-A177-3AD203B41FA5}">
                      <a16:colId xmlns:a16="http://schemas.microsoft.com/office/drawing/2014/main" val="20000"/>
                    </a:ext>
                  </a:extLst>
                </a:gridCol>
              </a:tblGrid>
              <a:tr h="370850">
                <a:tc>
                  <a:txBody>
                    <a:bodyPr/>
                    <a:lstStyle/>
                    <a:p>
                      <a:pPr marL="0" marR="0" lvl="0" indent="0" algn="ctr" rtl="0">
                        <a:lnSpc>
                          <a:spcPct val="150000"/>
                        </a:lnSpc>
                        <a:spcBef>
                          <a:spcPts val="0"/>
                        </a:spcBef>
                        <a:spcAft>
                          <a:spcPts val="0"/>
                        </a:spcAft>
                        <a:buClr>
                          <a:srgbClr val="BFBFBF"/>
                        </a:buClr>
                        <a:buSzPts val="700"/>
                        <a:buFont typeface="Malgun Gothic"/>
                        <a:buNone/>
                      </a:pPr>
                      <a:r>
                        <a:rPr lang="en-US" sz="1400" b="0" i="0" u="none" strike="noStrike" cap="none" dirty="0">
                          <a:solidFill>
                            <a:schemeClr val="bg1"/>
                          </a:solidFill>
                          <a:latin typeface="Cambria Math" panose="02040503050406030204" pitchFamily="18" charset="0"/>
                          <a:ea typeface="Cambria Math" panose="02040503050406030204" pitchFamily="18" charset="0"/>
                          <a:cs typeface="Malgun Gothic"/>
                          <a:sym typeface="Malgun Gothic"/>
                        </a:rPr>
                        <a:t>2</a:t>
                      </a:r>
                      <a:r>
                        <a:rPr lang="en-US" altLang="zh-TW" sz="1400" b="0" i="0" u="none" strike="noStrike" cap="none" dirty="0">
                          <a:solidFill>
                            <a:schemeClr val="bg1"/>
                          </a:solidFill>
                          <a:latin typeface="Cambria Math" panose="02040503050406030204" pitchFamily="18" charset="0"/>
                          <a:ea typeface="Cambria Math" panose="02040503050406030204" pitchFamily="18" charset="0"/>
                          <a:cs typeface="Malgun Gothic"/>
                          <a:sym typeface="Malgun Gothic"/>
                        </a:rPr>
                        <a:t>5</a:t>
                      </a:r>
                      <a:endParaRPr sz="1400" b="0" i="0" u="none" strike="noStrike" cap="none" dirty="0">
                        <a:solidFill>
                          <a:schemeClr val="bg1"/>
                        </a:solidFill>
                        <a:latin typeface="Cambria Math" panose="02040503050406030204" pitchFamily="18" charset="0"/>
                        <a:ea typeface="Cambria Math" panose="02040503050406030204" pitchFamily="18" charset="0"/>
                        <a:cs typeface="Malgun Gothic"/>
                        <a:sym typeface="Malgun Gothic"/>
                      </a:endParaRPr>
                    </a:p>
                  </a:txBody>
                  <a:tcPr marL="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196" name="Google Shape;196;p9"/>
          <p:cNvSpPr/>
          <p:nvPr/>
        </p:nvSpPr>
        <p:spPr>
          <a:xfrm>
            <a:off x="158593" y="808069"/>
            <a:ext cx="540533"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zh-TW" sz="2400" b="1" i="1" u="none" strike="noStrike" cap="none" dirty="0">
                <a:solidFill>
                  <a:srgbClr val="21BFCA"/>
                </a:solidFill>
                <a:latin typeface="Malgun Gothic"/>
                <a:ea typeface="Malgun Gothic"/>
                <a:cs typeface="Malgun Gothic"/>
                <a:sym typeface="Malgun Gothic"/>
              </a:rPr>
              <a:t>0</a:t>
            </a:r>
            <a:r>
              <a:rPr lang="en-US" altLang="zh-TW" sz="2400" b="1" i="1" dirty="0">
                <a:solidFill>
                  <a:srgbClr val="21BFCA"/>
                </a:solidFill>
                <a:latin typeface="Malgun Gothic"/>
                <a:ea typeface="Malgun Gothic"/>
                <a:cs typeface="Malgun Gothic"/>
                <a:sym typeface="Malgun Gothic"/>
              </a:rPr>
              <a:t>5</a:t>
            </a:r>
            <a:endParaRPr sz="2400" b="0" i="0" u="none" strike="noStrike" cap="none" dirty="0">
              <a:solidFill>
                <a:srgbClr val="21BFCA"/>
              </a:solidFill>
              <a:latin typeface="Malgun Gothic"/>
              <a:ea typeface="Malgun Gothic"/>
              <a:cs typeface="Malgun Gothic"/>
              <a:sym typeface="Malgun Gothic"/>
            </a:endParaRPr>
          </a:p>
        </p:txBody>
      </p:sp>
      <p:sp>
        <p:nvSpPr>
          <p:cNvPr id="2" name="文字方塊 1"/>
          <p:cNvSpPr txBox="1"/>
          <p:nvPr/>
        </p:nvSpPr>
        <p:spPr>
          <a:xfrm>
            <a:off x="1381389" y="1247890"/>
            <a:ext cx="9172311" cy="4862870"/>
          </a:xfrm>
          <a:prstGeom prst="rect">
            <a:avLst/>
          </a:prstGeom>
          <a:noFill/>
        </p:spPr>
        <p:txBody>
          <a:bodyPr wrap="square" rtlCol="0">
            <a:spAutoFit/>
          </a:bodyPr>
          <a:lstStyle/>
          <a:p>
            <a:pPr>
              <a:spcAft>
                <a:spcPts val="600"/>
              </a:spcAft>
            </a:pPr>
            <a:r>
              <a:rPr lang="zh-TW" altLang="en-US" sz="2400" b="1" dirty="0">
                <a:solidFill>
                  <a:schemeClr val="accent5">
                    <a:lumMod val="50000"/>
                  </a:schemeClr>
                </a:solidFill>
                <a:latin typeface="微軟正黑體" panose="020B0604030504040204" pitchFamily="34" charset="-120"/>
                <a:ea typeface="微軟正黑體" panose="020B0604030504040204" pitchFamily="34" charset="-120"/>
              </a:rPr>
              <a:t>職級</a:t>
            </a:r>
            <a:endParaRPr lang="en-US" altLang="zh-TW" sz="2400" b="1" dirty="0">
              <a:solidFill>
                <a:schemeClr val="accent5">
                  <a:lumMod val="50000"/>
                </a:schemeClr>
              </a:solidFill>
              <a:latin typeface="微軟正黑體" panose="020B0604030504040204" pitchFamily="34" charset="-120"/>
              <a:ea typeface="微軟正黑體" panose="020B0604030504040204" pitchFamily="34" charset="-120"/>
            </a:endParaRPr>
          </a:p>
          <a:p>
            <a:pPr marL="342900" indent="-342900">
              <a:spcAft>
                <a:spcPts val="600"/>
              </a:spcAft>
              <a:buFont typeface="Wingdings" panose="05000000000000000000" pitchFamily="2" charset="2"/>
              <a:buChar char="ü"/>
            </a:pPr>
            <a:r>
              <a:rPr lang="zh-TW" altLang="en-US" sz="2000" dirty="0">
                <a:solidFill>
                  <a:schemeClr val="tx1"/>
                </a:solidFill>
                <a:latin typeface="微軟正黑體" panose="020B0604030504040204" pitchFamily="34" charset="-120"/>
                <a:ea typeface="微軟正黑體" panose="020B0604030504040204" pitchFamily="34" charset="-120"/>
              </a:rPr>
              <a:t>近期有不當行為且發生舞弊者中，較多業務代表、較少業務主任</a:t>
            </a:r>
            <a:endParaRPr lang="en-US" altLang="zh-TW" sz="2000" dirty="0">
              <a:solidFill>
                <a:schemeClr val="tx1"/>
              </a:solidFill>
              <a:latin typeface="微軟正黑體" panose="020B0604030504040204" pitchFamily="34" charset="-120"/>
              <a:ea typeface="微軟正黑體" panose="020B0604030504040204" pitchFamily="34" charset="-120"/>
            </a:endParaRPr>
          </a:p>
          <a:p>
            <a:endParaRPr lang="en-US" altLang="zh-TW" sz="2000" dirty="0">
              <a:solidFill>
                <a:schemeClr val="tx1"/>
              </a:solidFill>
              <a:latin typeface="微軟正黑體" panose="020B0604030504040204" pitchFamily="34" charset="-120"/>
              <a:ea typeface="微軟正黑體" panose="020B0604030504040204" pitchFamily="34" charset="-120"/>
            </a:endParaRPr>
          </a:p>
          <a:p>
            <a:pPr marL="457200" indent="-457200">
              <a:buAutoNum type="arabicPeriod"/>
            </a:pPr>
            <a:endParaRPr lang="en-US" altLang="zh-TW" sz="2000" dirty="0">
              <a:solidFill>
                <a:schemeClr val="tx1"/>
              </a:solidFill>
              <a:latin typeface="微軟正黑體" panose="020B0604030504040204" pitchFamily="34" charset="-120"/>
              <a:ea typeface="微軟正黑體" panose="020B0604030504040204" pitchFamily="34" charset="-120"/>
            </a:endParaRPr>
          </a:p>
          <a:p>
            <a:endParaRPr lang="en-US" altLang="zh-TW" sz="2400" b="1" dirty="0">
              <a:solidFill>
                <a:schemeClr val="accent5">
                  <a:lumMod val="50000"/>
                </a:schemeClr>
              </a:solidFill>
              <a:latin typeface="微軟正黑體" panose="020B0604030504040204" pitchFamily="34" charset="-120"/>
              <a:ea typeface="微軟正黑體" panose="020B0604030504040204" pitchFamily="34" charset="-120"/>
            </a:endParaRPr>
          </a:p>
          <a:p>
            <a:endParaRPr lang="en-US" altLang="zh-TW" sz="2400" b="1" dirty="0">
              <a:solidFill>
                <a:schemeClr val="accent5">
                  <a:lumMod val="50000"/>
                </a:schemeClr>
              </a:solidFill>
              <a:latin typeface="微軟正黑體" panose="020B0604030504040204" pitchFamily="34" charset="-120"/>
              <a:ea typeface="微軟正黑體" panose="020B0604030504040204" pitchFamily="34" charset="-120"/>
            </a:endParaRPr>
          </a:p>
          <a:p>
            <a:endParaRPr lang="en-US" altLang="zh-TW" sz="2400" b="1" dirty="0">
              <a:solidFill>
                <a:schemeClr val="accent5">
                  <a:lumMod val="50000"/>
                </a:schemeClr>
              </a:solidFill>
              <a:latin typeface="微軟正黑體" panose="020B0604030504040204" pitchFamily="34" charset="-120"/>
              <a:ea typeface="微軟正黑體" panose="020B0604030504040204" pitchFamily="34" charset="-120"/>
            </a:endParaRPr>
          </a:p>
          <a:p>
            <a:endParaRPr lang="en-US" altLang="zh-TW" sz="2400" b="1" dirty="0">
              <a:solidFill>
                <a:schemeClr val="accent5">
                  <a:lumMod val="50000"/>
                </a:schemeClr>
              </a:solidFill>
              <a:latin typeface="微軟正黑體" panose="020B0604030504040204" pitchFamily="34" charset="-120"/>
              <a:ea typeface="微軟正黑體" panose="020B0604030504040204" pitchFamily="34" charset="-120"/>
            </a:endParaRPr>
          </a:p>
          <a:p>
            <a:endParaRPr lang="en-US" altLang="zh-TW" sz="2400" b="1" dirty="0">
              <a:solidFill>
                <a:schemeClr val="accent5">
                  <a:lumMod val="50000"/>
                </a:schemeClr>
              </a:solidFill>
              <a:latin typeface="微軟正黑體" panose="020B0604030504040204" pitchFamily="34" charset="-120"/>
              <a:ea typeface="微軟正黑體" panose="020B0604030504040204" pitchFamily="34" charset="-120"/>
            </a:endParaRPr>
          </a:p>
          <a:p>
            <a:endParaRPr lang="en-US" altLang="zh-TW" sz="2400" b="1" dirty="0">
              <a:solidFill>
                <a:schemeClr val="accent5">
                  <a:lumMod val="50000"/>
                </a:schemeClr>
              </a:solidFill>
              <a:latin typeface="微軟正黑體" panose="020B0604030504040204" pitchFamily="34" charset="-120"/>
              <a:ea typeface="微軟正黑體" panose="020B0604030504040204" pitchFamily="34" charset="-120"/>
            </a:endParaRPr>
          </a:p>
          <a:p>
            <a:endParaRPr lang="en-US" altLang="zh-TW" sz="2400" b="1" dirty="0">
              <a:solidFill>
                <a:schemeClr val="accent5">
                  <a:lumMod val="50000"/>
                </a:schemeClr>
              </a:solidFill>
              <a:latin typeface="微軟正黑體" panose="020B0604030504040204" pitchFamily="34" charset="-120"/>
              <a:ea typeface="微軟正黑體" panose="020B0604030504040204" pitchFamily="34" charset="-120"/>
            </a:endParaRPr>
          </a:p>
          <a:p>
            <a:endParaRPr lang="en-US" altLang="zh-TW" sz="2400" b="1" dirty="0">
              <a:solidFill>
                <a:schemeClr val="accent5">
                  <a:lumMod val="50000"/>
                </a:schemeClr>
              </a:solidFill>
              <a:latin typeface="微軟正黑體" panose="020B0604030504040204" pitchFamily="34" charset="-120"/>
              <a:ea typeface="微軟正黑體" panose="020B0604030504040204" pitchFamily="34" charset="-120"/>
            </a:endParaRPr>
          </a:p>
          <a:p>
            <a:endParaRPr lang="zh-TW" altLang="en-US" sz="2400" b="1" dirty="0">
              <a:solidFill>
                <a:schemeClr val="accent5">
                  <a:lumMod val="50000"/>
                </a:schemeClr>
              </a:solidFill>
              <a:latin typeface="微軟正黑體" panose="020B0604030504040204" pitchFamily="34" charset="-120"/>
              <a:ea typeface="微軟正黑體" panose="020B0604030504040204" pitchFamily="34" charset="-120"/>
            </a:endParaRPr>
          </a:p>
        </p:txBody>
      </p:sp>
      <p:sp>
        <p:nvSpPr>
          <p:cNvPr id="19" name="文字方塊 18"/>
          <p:cNvSpPr txBox="1"/>
          <p:nvPr/>
        </p:nvSpPr>
        <p:spPr>
          <a:xfrm>
            <a:off x="4296559" y="6033816"/>
            <a:ext cx="1109429" cy="307777"/>
          </a:xfrm>
          <a:prstGeom prst="rect">
            <a:avLst/>
          </a:prstGeom>
          <a:noFill/>
        </p:spPr>
        <p:txBody>
          <a:bodyPr wrap="square" rtlCol="0">
            <a:spAutoFit/>
          </a:bodyPr>
          <a:lstStyle/>
          <a:p>
            <a:pPr algn="ctr"/>
            <a:r>
              <a:rPr lang="zh-TW" altLang="en-US" dirty="0">
                <a:latin typeface="微軟正黑體" panose="020B0604030504040204" pitchFamily="34" charset="-120"/>
                <a:ea typeface="微軟正黑體" panose="020B0604030504040204" pitchFamily="34" charset="-120"/>
              </a:rPr>
              <a:t>圖十五</a:t>
            </a:r>
          </a:p>
        </p:txBody>
      </p:sp>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42192" y="1953389"/>
            <a:ext cx="6278822" cy="4533311"/>
          </a:xfrm>
          <a:prstGeom prst="rect">
            <a:avLst/>
          </a:prstGeom>
        </p:spPr>
      </p:pic>
    </p:spTree>
    <p:extLst>
      <p:ext uri="{BB962C8B-B14F-4D97-AF65-F5344CB8AC3E}">
        <p14:creationId xmlns:p14="http://schemas.microsoft.com/office/powerpoint/2010/main" val="19296939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9"/>
          <p:cNvSpPr/>
          <p:nvPr/>
        </p:nvSpPr>
        <p:spPr>
          <a:xfrm>
            <a:off x="1848142" y="329912"/>
            <a:ext cx="3194050" cy="387350"/>
          </a:xfrm>
          <a:prstGeom prst="parallelogram">
            <a:avLst>
              <a:gd name="adj" fmla="val 69898"/>
            </a:avLst>
          </a:prstGeom>
          <a:solidFill>
            <a:srgbClr val="21BFCA"/>
          </a:solidFill>
          <a:ln w="161925" cap="sq" cmpd="sng">
            <a:solidFill>
              <a:srgbClr val="1E868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191" name="Google Shape;191;p9"/>
          <p:cNvSpPr/>
          <p:nvPr/>
        </p:nvSpPr>
        <p:spPr>
          <a:xfrm>
            <a:off x="1833992" y="329256"/>
            <a:ext cx="3194050" cy="387350"/>
          </a:xfrm>
          <a:prstGeom prst="parallelogram">
            <a:avLst>
              <a:gd name="adj" fmla="val 69898"/>
            </a:avLst>
          </a:prstGeom>
          <a:solidFill>
            <a:srgbClr val="21BFCA"/>
          </a:solidFill>
          <a:ln w="161925" cap="sq" cmpd="sng">
            <a:solidFill>
              <a:srgbClr val="21BFC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192" name="Google Shape;192;p9"/>
          <p:cNvSpPr/>
          <p:nvPr/>
        </p:nvSpPr>
        <p:spPr>
          <a:xfrm>
            <a:off x="4581237" y="329912"/>
            <a:ext cx="7525038" cy="387350"/>
          </a:xfrm>
          <a:prstGeom prst="parallelogram">
            <a:avLst>
              <a:gd name="adj" fmla="val 0"/>
            </a:avLst>
          </a:prstGeom>
          <a:solidFill>
            <a:srgbClr val="21BFCA"/>
          </a:solidFill>
          <a:ln w="161925" cap="sq" cmpd="sng">
            <a:solidFill>
              <a:srgbClr val="21BFC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193" name="Google Shape;193;p9"/>
          <p:cNvSpPr/>
          <p:nvPr/>
        </p:nvSpPr>
        <p:spPr>
          <a:xfrm>
            <a:off x="2066647" y="271786"/>
            <a:ext cx="6678682" cy="523220"/>
          </a:xfrm>
          <a:prstGeom prst="rect">
            <a:avLst/>
          </a:prstGeom>
          <a:noFill/>
          <a:ln>
            <a:noFill/>
          </a:ln>
        </p:spPr>
        <p:txBody>
          <a:bodyPr spcFirstLastPara="1" wrap="square" lIns="91425" tIns="45700" rIns="91425" bIns="45700" anchor="t" anchorCtr="0">
            <a:spAutoFit/>
          </a:bodyPr>
          <a:lstStyle/>
          <a:p>
            <a:pPr lvl="0">
              <a:buSzPts val="2800"/>
            </a:pPr>
            <a:r>
              <a:rPr lang="zh-TW" altLang="en-US" sz="2800" dirty="0">
                <a:solidFill>
                  <a:srgbClr val="FFFFFF"/>
                </a:solidFill>
                <a:latin typeface="Microsoft JhengHei"/>
                <a:ea typeface="Microsoft JhengHei"/>
                <a:cs typeface="Microsoft JhengHei"/>
                <a:sym typeface="Microsoft JhengHei"/>
              </a:rPr>
              <a:t>舞弊人員特性分析 </a:t>
            </a:r>
            <a:r>
              <a:rPr lang="en-US" altLang="zh-TW" sz="2800" dirty="0">
                <a:solidFill>
                  <a:srgbClr val="FFFFFF"/>
                </a:solidFill>
                <a:latin typeface="Microsoft JhengHei"/>
                <a:ea typeface="Microsoft JhengHei"/>
                <a:cs typeface="Microsoft JhengHei"/>
                <a:sym typeface="Microsoft JhengHei"/>
              </a:rPr>
              <a:t>– </a:t>
            </a:r>
            <a:r>
              <a:rPr lang="zh-TW" altLang="en-US" sz="2800" dirty="0">
                <a:solidFill>
                  <a:srgbClr val="FFFFFF"/>
                </a:solidFill>
                <a:latin typeface="Microsoft JhengHei"/>
                <a:ea typeface="Microsoft JhengHei"/>
                <a:cs typeface="Microsoft JhengHei"/>
                <a:sym typeface="Microsoft JhengHei"/>
              </a:rPr>
              <a:t>近期發生不當行為者</a:t>
            </a:r>
          </a:p>
        </p:txBody>
      </p:sp>
      <p:cxnSp>
        <p:nvCxnSpPr>
          <p:cNvPr id="194" name="Google Shape;194;p9"/>
          <p:cNvCxnSpPr/>
          <p:nvPr/>
        </p:nvCxnSpPr>
        <p:spPr>
          <a:xfrm>
            <a:off x="157389" y="1269734"/>
            <a:ext cx="1224000" cy="0"/>
          </a:xfrm>
          <a:prstGeom prst="straightConnector1">
            <a:avLst/>
          </a:prstGeom>
          <a:noFill/>
          <a:ln w="15875" cap="rnd" cmpd="sng">
            <a:solidFill>
              <a:srgbClr val="21BFCA"/>
            </a:solidFill>
            <a:prstDash val="solid"/>
            <a:round/>
            <a:headEnd type="none" w="sm" len="sm"/>
            <a:tailEnd type="none" w="sm" len="sm"/>
          </a:ln>
        </p:spPr>
      </p:cxnSp>
      <p:graphicFrame>
        <p:nvGraphicFramePr>
          <p:cNvPr id="195" name="Google Shape;195;p9"/>
          <p:cNvGraphicFramePr/>
          <p:nvPr>
            <p:extLst>
              <p:ext uri="{D42A27DB-BD31-4B8C-83A1-F6EECF244321}">
                <p14:modId xmlns:p14="http://schemas.microsoft.com/office/powerpoint/2010/main" val="2820963841"/>
              </p:ext>
            </p:extLst>
          </p:nvPr>
        </p:nvGraphicFramePr>
        <p:xfrm>
          <a:off x="298393" y="6487160"/>
          <a:ext cx="11096375" cy="371930"/>
        </p:xfrm>
        <a:graphic>
          <a:graphicData uri="http://schemas.openxmlformats.org/drawingml/2006/table">
            <a:tbl>
              <a:tblPr firstRow="1" bandRow="1">
                <a:noFill/>
                <a:tableStyleId>{72FCF9FF-86DD-4F90-83C7-D16C962093AE}</a:tableStyleId>
              </a:tblPr>
              <a:tblGrid>
                <a:gridCol w="11096375">
                  <a:extLst>
                    <a:ext uri="{9D8B030D-6E8A-4147-A177-3AD203B41FA5}">
                      <a16:colId xmlns:a16="http://schemas.microsoft.com/office/drawing/2014/main" val="20000"/>
                    </a:ext>
                  </a:extLst>
                </a:gridCol>
              </a:tblGrid>
              <a:tr h="370850">
                <a:tc>
                  <a:txBody>
                    <a:bodyPr/>
                    <a:lstStyle/>
                    <a:p>
                      <a:pPr marL="0" marR="0" lvl="0" indent="0" algn="ctr" rtl="0">
                        <a:lnSpc>
                          <a:spcPct val="150000"/>
                        </a:lnSpc>
                        <a:spcBef>
                          <a:spcPts val="0"/>
                        </a:spcBef>
                        <a:spcAft>
                          <a:spcPts val="0"/>
                        </a:spcAft>
                        <a:buClr>
                          <a:srgbClr val="BFBFBF"/>
                        </a:buClr>
                        <a:buSzPts val="700"/>
                        <a:buFont typeface="Malgun Gothic"/>
                        <a:buNone/>
                      </a:pPr>
                      <a:r>
                        <a:rPr lang="en-US" altLang="zh-TW" sz="1400" b="0" i="0" u="none" strike="noStrike" cap="none" dirty="0">
                          <a:solidFill>
                            <a:schemeClr val="bg1"/>
                          </a:solidFill>
                          <a:latin typeface="Cambria Math" panose="02040503050406030204" pitchFamily="18" charset="0"/>
                          <a:ea typeface="Cambria Math" panose="02040503050406030204" pitchFamily="18" charset="0"/>
                          <a:cs typeface="Malgun Gothic"/>
                          <a:sym typeface="Malgun Gothic"/>
                        </a:rPr>
                        <a:t>26</a:t>
                      </a:r>
                      <a:endParaRPr sz="1400" b="0" i="0" u="none" strike="noStrike" cap="none" dirty="0">
                        <a:solidFill>
                          <a:schemeClr val="bg1"/>
                        </a:solidFill>
                        <a:latin typeface="Cambria Math" panose="02040503050406030204" pitchFamily="18" charset="0"/>
                        <a:ea typeface="Cambria Math" panose="02040503050406030204" pitchFamily="18" charset="0"/>
                        <a:cs typeface="Malgun Gothic"/>
                        <a:sym typeface="Malgun Gothic"/>
                      </a:endParaRPr>
                    </a:p>
                  </a:txBody>
                  <a:tcPr marL="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196" name="Google Shape;196;p9"/>
          <p:cNvSpPr/>
          <p:nvPr/>
        </p:nvSpPr>
        <p:spPr>
          <a:xfrm>
            <a:off x="158593" y="808069"/>
            <a:ext cx="540533"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zh-TW" sz="2400" b="1" i="1" u="none" strike="noStrike" cap="none" dirty="0">
                <a:solidFill>
                  <a:srgbClr val="21BFCA"/>
                </a:solidFill>
                <a:latin typeface="Malgun Gothic"/>
                <a:ea typeface="Malgun Gothic"/>
                <a:cs typeface="Malgun Gothic"/>
                <a:sym typeface="Malgun Gothic"/>
              </a:rPr>
              <a:t>0</a:t>
            </a:r>
            <a:r>
              <a:rPr lang="en-US" altLang="zh-TW" sz="2400" b="1" i="1" dirty="0">
                <a:solidFill>
                  <a:srgbClr val="21BFCA"/>
                </a:solidFill>
                <a:latin typeface="Malgun Gothic"/>
                <a:ea typeface="Malgun Gothic"/>
                <a:cs typeface="Malgun Gothic"/>
                <a:sym typeface="Malgun Gothic"/>
              </a:rPr>
              <a:t>5</a:t>
            </a:r>
            <a:endParaRPr sz="2400" b="0" i="0" u="none" strike="noStrike" cap="none" dirty="0">
              <a:solidFill>
                <a:srgbClr val="21BFCA"/>
              </a:solidFill>
              <a:latin typeface="Malgun Gothic"/>
              <a:ea typeface="Malgun Gothic"/>
              <a:cs typeface="Malgun Gothic"/>
              <a:sym typeface="Malgun Gothic"/>
            </a:endParaRPr>
          </a:p>
        </p:txBody>
      </p:sp>
      <p:sp>
        <p:nvSpPr>
          <p:cNvPr id="2" name="文字方塊 1"/>
          <p:cNvSpPr txBox="1"/>
          <p:nvPr/>
        </p:nvSpPr>
        <p:spPr>
          <a:xfrm>
            <a:off x="1381389" y="1247890"/>
            <a:ext cx="9172311" cy="4555093"/>
          </a:xfrm>
          <a:prstGeom prst="rect">
            <a:avLst/>
          </a:prstGeom>
          <a:noFill/>
        </p:spPr>
        <p:txBody>
          <a:bodyPr wrap="square" rtlCol="0">
            <a:spAutoFit/>
          </a:bodyPr>
          <a:lstStyle/>
          <a:p>
            <a:pPr>
              <a:spcAft>
                <a:spcPts val="600"/>
              </a:spcAft>
            </a:pPr>
            <a:r>
              <a:rPr lang="en-US" altLang="zh-TW" sz="2400" b="1" dirty="0">
                <a:solidFill>
                  <a:schemeClr val="accent5">
                    <a:lumMod val="50000"/>
                  </a:schemeClr>
                </a:solidFill>
                <a:latin typeface="微軟正黑體" panose="020B0604030504040204" pitchFamily="34" charset="-120"/>
                <a:ea typeface="微軟正黑體" panose="020B0604030504040204" pitchFamily="34" charset="-120"/>
              </a:rPr>
              <a:t>AG</a:t>
            </a:r>
            <a:r>
              <a:rPr lang="zh-TW" altLang="en-US" sz="2400" b="1" dirty="0">
                <a:solidFill>
                  <a:schemeClr val="accent5">
                    <a:lumMod val="50000"/>
                  </a:schemeClr>
                </a:solidFill>
                <a:latin typeface="微軟正黑體" panose="020B0604030504040204" pitchFamily="34" charset="-120"/>
                <a:ea typeface="微軟正黑體" panose="020B0604030504040204" pitchFamily="34" charset="-120"/>
              </a:rPr>
              <a:t> 分群</a:t>
            </a:r>
            <a:endParaRPr lang="en-US" altLang="zh-TW" sz="2400" b="1" dirty="0">
              <a:solidFill>
                <a:schemeClr val="accent5">
                  <a:lumMod val="50000"/>
                </a:schemeClr>
              </a:solidFill>
              <a:latin typeface="微軟正黑體" panose="020B0604030504040204" pitchFamily="34" charset="-120"/>
              <a:ea typeface="微軟正黑體" panose="020B0604030504040204" pitchFamily="34" charset="-120"/>
            </a:endParaRPr>
          </a:p>
          <a:p>
            <a:pPr marL="342900" indent="-342900">
              <a:spcAft>
                <a:spcPts val="600"/>
              </a:spcAft>
              <a:buFont typeface="Wingdings" panose="05000000000000000000" pitchFamily="2" charset="2"/>
              <a:buChar char="ü"/>
            </a:pPr>
            <a:r>
              <a:rPr lang="zh-TW" altLang="en-US" sz="2000" dirty="0">
                <a:solidFill>
                  <a:schemeClr val="tx1"/>
                </a:solidFill>
                <a:latin typeface="微軟正黑體" panose="020B0604030504040204" pitchFamily="34" charset="-120"/>
                <a:ea typeface="微軟正黑體" panose="020B0604030504040204" pitchFamily="34" charset="-120"/>
              </a:rPr>
              <a:t>近期發生不當行為者，銷售奇兵比重特別多</a:t>
            </a:r>
            <a:endParaRPr lang="en-US" altLang="zh-TW" sz="2000" dirty="0">
              <a:solidFill>
                <a:schemeClr val="tx1"/>
              </a:solidFill>
              <a:latin typeface="微軟正黑體" panose="020B0604030504040204" pitchFamily="34" charset="-120"/>
              <a:ea typeface="微軟正黑體" panose="020B0604030504040204" pitchFamily="34" charset="-120"/>
            </a:endParaRPr>
          </a:p>
          <a:p>
            <a:pPr marL="457200" indent="-457200">
              <a:buAutoNum type="arabicPeriod"/>
            </a:pPr>
            <a:endParaRPr lang="en-US" altLang="zh-TW" sz="2000" dirty="0">
              <a:solidFill>
                <a:schemeClr val="tx1"/>
              </a:solidFill>
              <a:latin typeface="微軟正黑體" panose="020B0604030504040204" pitchFamily="34" charset="-120"/>
              <a:ea typeface="微軟正黑體" panose="020B0604030504040204" pitchFamily="34" charset="-120"/>
            </a:endParaRPr>
          </a:p>
          <a:p>
            <a:endParaRPr lang="en-US" altLang="zh-TW" sz="2400" b="1" dirty="0">
              <a:solidFill>
                <a:schemeClr val="accent5">
                  <a:lumMod val="50000"/>
                </a:schemeClr>
              </a:solidFill>
              <a:latin typeface="微軟正黑體" panose="020B0604030504040204" pitchFamily="34" charset="-120"/>
              <a:ea typeface="微軟正黑體" panose="020B0604030504040204" pitchFamily="34" charset="-120"/>
            </a:endParaRPr>
          </a:p>
          <a:p>
            <a:endParaRPr lang="en-US" altLang="zh-TW" sz="2400" b="1" dirty="0">
              <a:solidFill>
                <a:schemeClr val="accent5">
                  <a:lumMod val="50000"/>
                </a:schemeClr>
              </a:solidFill>
              <a:latin typeface="微軟正黑體" panose="020B0604030504040204" pitchFamily="34" charset="-120"/>
              <a:ea typeface="微軟正黑體" panose="020B0604030504040204" pitchFamily="34" charset="-120"/>
            </a:endParaRPr>
          </a:p>
          <a:p>
            <a:endParaRPr lang="en-US" altLang="zh-TW" sz="2400" b="1" dirty="0">
              <a:solidFill>
                <a:schemeClr val="accent5">
                  <a:lumMod val="50000"/>
                </a:schemeClr>
              </a:solidFill>
              <a:latin typeface="微軟正黑體" panose="020B0604030504040204" pitchFamily="34" charset="-120"/>
              <a:ea typeface="微軟正黑體" panose="020B0604030504040204" pitchFamily="34" charset="-120"/>
            </a:endParaRPr>
          </a:p>
          <a:p>
            <a:endParaRPr lang="en-US" altLang="zh-TW" sz="2400" b="1" dirty="0">
              <a:solidFill>
                <a:schemeClr val="accent5">
                  <a:lumMod val="50000"/>
                </a:schemeClr>
              </a:solidFill>
              <a:latin typeface="微軟正黑體" panose="020B0604030504040204" pitchFamily="34" charset="-120"/>
              <a:ea typeface="微軟正黑體" panose="020B0604030504040204" pitchFamily="34" charset="-120"/>
            </a:endParaRPr>
          </a:p>
          <a:p>
            <a:endParaRPr lang="en-US" altLang="zh-TW" sz="2400" b="1" dirty="0">
              <a:solidFill>
                <a:schemeClr val="accent5">
                  <a:lumMod val="50000"/>
                </a:schemeClr>
              </a:solidFill>
              <a:latin typeface="微軟正黑體" panose="020B0604030504040204" pitchFamily="34" charset="-120"/>
              <a:ea typeface="微軟正黑體" panose="020B0604030504040204" pitchFamily="34" charset="-120"/>
            </a:endParaRPr>
          </a:p>
          <a:p>
            <a:endParaRPr lang="en-US" altLang="zh-TW" sz="2400" b="1" dirty="0">
              <a:solidFill>
                <a:schemeClr val="accent5">
                  <a:lumMod val="50000"/>
                </a:schemeClr>
              </a:solidFill>
              <a:latin typeface="微軟正黑體" panose="020B0604030504040204" pitchFamily="34" charset="-120"/>
              <a:ea typeface="微軟正黑體" panose="020B0604030504040204" pitchFamily="34" charset="-120"/>
            </a:endParaRPr>
          </a:p>
          <a:p>
            <a:endParaRPr lang="en-US" altLang="zh-TW" sz="2400" b="1" dirty="0">
              <a:solidFill>
                <a:schemeClr val="accent5">
                  <a:lumMod val="50000"/>
                </a:schemeClr>
              </a:solidFill>
              <a:latin typeface="微軟正黑體" panose="020B0604030504040204" pitchFamily="34" charset="-120"/>
              <a:ea typeface="微軟正黑體" panose="020B0604030504040204" pitchFamily="34" charset="-120"/>
            </a:endParaRPr>
          </a:p>
          <a:p>
            <a:endParaRPr lang="en-US" altLang="zh-TW" sz="2400" b="1" dirty="0">
              <a:solidFill>
                <a:schemeClr val="accent5">
                  <a:lumMod val="50000"/>
                </a:schemeClr>
              </a:solidFill>
              <a:latin typeface="微軟正黑體" panose="020B0604030504040204" pitchFamily="34" charset="-120"/>
              <a:ea typeface="微軟正黑體" panose="020B0604030504040204" pitchFamily="34" charset="-120"/>
            </a:endParaRPr>
          </a:p>
          <a:p>
            <a:endParaRPr lang="zh-TW" altLang="en-US" sz="2400" b="1" dirty="0">
              <a:solidFill>
                <a:schemeClr val="accent5">
                  <a:lumMod val="50000"/>
                </a:schemeClr>
              </a:solidFill>
              <a:latin typeface="微軟正黑體" panose="020B0604030504040204" pitchFamily="34" charset="-120"/>
              <a:ea typeface="微軟正黑體" panose="020B0604030504040204" pitchFamily="34" charset="-120"/>
            </a:endParaRPr>
          </a:p>
        </p:txBody>
      </p:sp>
      <p:sp>
        <p:nvSpPr>
          <p:cNvPr id="19" name="文字方塊 18"/>
          <p:cNvSpPr txBox="1"/>
          <p:nvPr/>
        </p:nvSpPr>
        <p:spPr>
          <a:xfrm>
            <a:off x="4148608" y="5952536"/>
            <a:ext cx="1109429" cy="307777"/>
          </a:xfrm>
          <a:prstGeom prst="rect">
            <a:avLst/>
          </a:prstGeom>
          <a:noFill/>
        </p:spPr>
        <p:txBody>
          <a:bodyPr wrap="square" rtlCol="0">
            <a:spAutoFit/>
          </a:bodyPr>
          <a:lstStyle/>
          <a:p>
            <a:pPr algn="ctr"/>
            <a:r>
              <a:rPr lang="zh-TW" altLang="en-US" dirty="0">
                <a:latin typeface="微軟正黑體" panose="020B0604030504040204" pitchFamily="34" charset="-120"/>
                <a:ea typeface="微軟正黑體" panose="020B0604030504040204" pitchFamily="34" charset="-120"/>
              </a:rPr>
              <a:t>圖十六</a:t>
            </a:r>
          </a:p>
        </p:txBody>
      </p:sp>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57141" y="1846951"/>
            <a:ext cx="6278822" cy="4494642"/>
          </a:xfrm>
          <a:prstGeom prst="rect">
            <a:avLst/>
          </a:prstGeom>
        </p:spPr>
      </p:pic>
    </p:spTree>
    <p:extLst>
      <p:ext uri="{BB962C8B-B14F-4D97-AF65-F5344CB8AC3E}">
        <p14:creationId xmlns:p14="http://schemas.microsoft.com/office/powerpoint/2010/main" val="42212892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9"/>
          <p:cNvSpPr/>
          <p:nvPr/>
        </p:nvSpPr>
        <p:spPr>
          <a:xfrm>
            <a:off x="1848142" y="329912"/>
            <a:ext cx="3194050" cy="387350"/>
          </a:xfrm>
          <a:prstGeom prst="parallelogram">
            <a:avLst>
              <a:gd name="adj" fmla="val 69898"/>
            </a:avLst>
          </a:prstGeom>
          <a:solidFill>
            <a:srgbClr val="21BFCA"/>
          </a:solidFill>
          <a:ln w="161925" cap="sq" cmpd="sng">
            <a:solidFill>
              <a:srgbClr val="1E868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191" name="Google Shape;191;p9"/>
          <p:cNvSpPr/>
          <p:nvPr/>
        </p:nvSpPr>
        <p:spPr>
          <a:xfrm>
            <a:off x="1833992" y="329256"/>
            <a:ext cx="3194050" cy="387350"/>
          </a:xfrm>
          <a:prstGeom prst="parallelogram">
            <a:avLst>
              <a:gd name="adj" fmla="val 69898"/>
            </a:avLst>
          </a:prstGeom>
          <a:solidFill>
            <a:srgbClr val="21BFCA"/>
          </a:solidFill>
          <a:ln w="161925" cap="sq" cmpd="sng">
            <a:solidFill>
              <a:srgbClr val="21BFC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192" name="Google Shape;192;p9"/>
          <p:cNvSpPr/>
          <p:nvPr/>
        </p:nvSpPr>
        <p:spPr>
          <a:xfrm>
            <a:off x="4581237" y="329912"/>
            <a:ext cx="7525038" cy="387350"/>
          </a:xfrm>
          <a:prstGeom prst="parallelogram">
            <a:avLst>
              <a:gd name="adj" fmla="val 0"/>
            </a:avLst>
          </a:prstGeom>
          <a:solidFill>
            <a:srgbClr val="21BFCA"/>
          </a:solidFill>
          <a:ln w="161925" cap="sq" cmpd="sng">
            <a:solidFill>
              <a:srgbClr val="21BFC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193" name="Google Shape;193;p9"/>
          <p:cNvSpPr/>
          <p:nvPr/>
        </p:nvSpPr>
        <p:spPr>
          <a:xfrm>
            <a:off x="2066647" y="271786"/>
            <a:ext cx="6678682" cy="523220"/>
          </a:xfrm>
          <a:prstGeom prst="rect">
            <a:avLst/>
          </a:prstGeom>
          <a:noFill/>
          <a:ln>
            <a:noFill/>
          </a:ln>
        </p:spPr>
        <p:txBody>
          <a:bodyPr spcFirstLastPara="1" wrap="square" lIns="91425" tIns="45700" rIns="91425" bIns="45700" anchor="t" anchorCtr="0">
            <a:spAutoFit/>
          </a:bodyPr>
          <a:lstStyle/>
          <a:p>
            <a:pPr lvl="0">
              <a:buSzPts val="2800"/>
            </a:pPr>
            <a:r>
              <a:rPr lang="zh-TW" altLang="en-US" sz="2800" dirty="0">
                <a:solidFill>
                  <a:srgbClr val="FFFFFF"/>
                </a:solidFill>
                <a:latin typeface="Microsoft JhengHei"/>
                <a:ea typeface="Microsoft JhengHei"/>
                <a:cs typeface="Microsoft JhengHei"/>
                <a:sym typeface="Microsoft JhengHei"/>
              </a:rPr>
              <a:t>舞弊人員特性分析 </a:t>
            </a:r>
            <a:r>
              <a:rPr lang="en-US" altLang="zh-TW" sz="2800" dirty="0">
                <a:solidFill>
                  <a:srgbClr val="FFFFFF"/>
                </a:solidFill>
                <a:latin typeface="Microsoft JhengHei"/>
                <a:ea typeface="Microsoft JhengHei"/>
                <a:cs typeface="Microsoft JhengHei"/>
                <a:sym typeface="Microsoft JhengHei"/>
              </a:rPr>
              <a:t>– </a:t>
            </a:r>
            <a:r>
              <a:rPr lang="zh-TW" altLang="en-US" sz="2800" dirty="0">
                <a:solidFill>
                  <a:srgbClr val="FFFFFF"/>
                </a:solidFill>
                <a:latin typeface="Microsoft JhengHei"/>
                <a:ea typeface="Microsoft JhengHei"/>
                <a:cs typeface="Microsoft JhengHei"/>
                <a:sym typeface="Microsoft JhengHei"/>
              </a:rPr>
              <a:t>近期發生不當行為者</a:t>
            </a:r>
          </a:p>
        </p:txBody>
      </p:sp>
      <p:cxnSp>
        <p:nvCxnSpPr>
          <p:cNvPr id="194" name="Google Shape;194;p9"/>
          <p:cNvCxnSpPr/>
          <p:nvPr/>
        </p:nvCxnSpPr>
        <p:spPr>
          <a:xfrm>
            <a:off x="157389" y="1269734"/>
            <a:ext cx="1224000" cy="0"/>
          </a:xfrm>
          <a:prstGeom prst="straightConnector1">
            <a:avLst/>
          </a:prstGeom>
          <a:noFill/>
          <a:ln w="15875" cap="rnd" cmpd="sng">
            <a:solidFill>
              <a:srgbClr val="21BFCA"/>
            </a:solidFill>
            <a:prstDash val="solid"/>
            <a:round/>
            <a:headEnd type="none" w="sm" len="sm"/>
            <a:tailEnd type="none" w="sm" len="sm"/>
          </a:ln>
        </p:spPr>
      </p:cxnSp>
      <p:graphicFrame>
        <p:nvGraphicFramePr>
          <p:cNvPr id="195" name="Google Shape;195;p9"/>
          <p:cNvGraphicFramePr/>
          <p:nvPr>
            <p:extLst>
              <p:ext uri="{D42A27DB-BD31-4B8C-83A1-F6EECF244321}">
                <p14:modId xmlns:p14="http://schemas.microsoft.com/office/powerpoint/2010/main" val="1765081774"/>
              </p:ext>
            </p:extLst>
          </p:nvPr>
        </p:nvGraphicFramePr>
        <p:xfrm>
          <a:off x="298393" y="6487160"/>
          <a:ext cx="11096375" cy="371930"/>
        </p:xfrm>
        <a:graphic>
          <a:graphicData uri="http://schemas.openxmlformats.org/drawingml/2006/table">
            <a:tbl>
              <a:tblPr firstRow="1" bandRow="1">
                <a:noFill/>
                <a:tableStyleId>{72FCF9FF-86DD-4F90-83C7-D16C962093AE}</a:tableStyleId>
              </a:tblPr>
              <a:tblGrid>
                <a:gridCol w="11096375">
                  <a:extLst>
                    <a:ext uri="{9D8B030D-6E8A-4147-A177-3AD203B41FA5}">
                      <a16:colId xmlns:a16="http://schemas.microsoft.com/office/drawing/2014/main" val="20000"/>
                    </a:ext>
                  </a:extLst>
                </a:gridCol>
              </a:tblGrid>
              <a:tr h="370850">
                <a:tc>
                  <a:txBody>
                    <a:bodyPr/>
                    <a:lstStyle/>
                    <a:p>
                      <a:pPr marL="0" marR="0" lvl="0" indent="0" algn="ctr" rtl="0">
                        <a:lnSpc>
                          <a:spcPct val="150000"/>
                        </a:lnSpc>
                        <a:spcBef>
                          <a:spcPts val="0"/>
                        </a:spcBef>
                        <a:spcAft>
                          <a:spcPts val="0"/>
                        </a:spcAft>
                        <a:buClr>
                          <a:srgbClr val="BFBFBF"/>
                        </a:buClr>
                        <a:buSzPts val="700"/>
                        <a:buFont typeface="Malgun Gothic"/>
                        <a:buNone/>
                      </a:pPr>
                      <a:r>
                        <a:rPr lang="en-US" altLang="zh-TW" sz="1400" b="0" i="0" u="none" strike="noStrike" cap="none" dirty="0">
                          <a:solidFill>
                            <a:schemeClr val="bg1"/>
                          </a:solidFill>
                          <a:latin typeface="Cambria Math" panose="02040503050406030204" pitchFamily="18" charset="0"/>
                          <a:ea typeface="Cambria Math" panose="02040503050406030204" pitchFamily="18" charset="0"/>
                          <a:cs typeface="Malgun Gothic"/>
                          <a:sym typeface="Malgun Gothic"/>
                        </a:rPr>
                        <a:t>27</a:t>
                      </a:r>
                      <a:endParaRPr sz="1400" b="0" i="0" u="none" strike="noStrike" cap="none" dirty="0">
                        <a:solidFill>
                          <a:schemeClr val="bg1"/>
                        </a:solidFill>
                        <a:latin typeface="Cambria Math" panose="02040503050406030204" pitchFamily="18" charset="0"/>
                        <a:ea typeface="Cambria Math" panose="02040503050406030204" pitchFamily="18" charset="0"/>
                        <a:cs typeface="Malgun Gothic"/>
                        <a:sym typeface="Malgun Gothic"/>
                      </a:endParaRPr>
                    </a:p>
                  </a:txBody>
                  <a:tcPr marL="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196" name="Google Shape;196;p9"/>
          <p:cNvSpPr/>
          <p:nvPr/>
        </p:nvSpPr>
        <p:spPr>
          <a:xfrm>
            <a:off x="158593" y="808069"/>
            <a:ext cx="540533"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zh-TW" sz="2400" b="1" i="1" u="none" strike="noStrike" cap="none" dirty="0">
                <a:solidFill>
                  <a:srgbClr val="21BFCA"/>
                </a:solidFill>
                <a:latin typeface="Malgun Gothic"/>
                <a:ea typeface="Malgun Gothic"/>
                <a:cs typeface="Malgun Gothic"/>
                <a:sym typeface="Malgun Gothic"/>
              </a:rPr>
              <a:t>0</a:t>
            </a:r>
            <a:r>
              <a:rPr lang="en-US" altLang="zh-TW" sz="2400" b="1" i="1" dirty="0">
                <a:solidFill>
                  <a:srgbClr val="21BFCA"/>
                </a:solidFill>
                <a:latin typeface="Malgun Gothic"/>
                <a:ea typeface="Malgun Gothic"/>
                <a:cs typeface="Malgun Gothic"/>
                <a:sym typeface="Malgun Gothic"/>
              </a:rPr>
              <a:t>5</a:t>
            </a:r>
            <a:endParaRPr sz="2400" b="0" i="0" u="none" strike="noStrike" cap="none" dirty="0">
              <a:solidFill>
                <a:srgbClr val="21BFCA"/>
              </a:solidFill>
              <a:latin typeface="Malgun Gothic"/>
              <a:ea typeface="Malgun Gothic"/>
              <a:cs typeface="Malgun Gothic"/>
              <a:sym typeface="Malgun Gothic"/>
            </a:endParaRPr>
          </a:p>
        </p:txBody>
      </p:sp>
      <p:sp>
        <p:nvSpPr>
          <p:cNvPr id="2" name="文字方塊 1"/>
          <p:cNvSpPr txBox="1"/>
          <p:nvPr/>
        </p:nvSpPr>
        <p:spPr>
          <a:xfrm>
            <a:off x="1381389" y="1247890"/>
            <a:ext cx="9172311" cy="2816156"/>
          </a:xfrm>
          <a:prstGeom prst="rect">
            <a:avLst/>
          </a:prstGeom>
          <a:noFill/>
        </p:spPr>
        <p:txBody>
          <a:bodyPr wrap="square" rtlCol="0">
            <a:spAutoFit/>
          </a:bodyPr>
          <a:lstStyle/>
          <a:p>
            <a:pPr>
              <a:spcAft>
                <a:spcPts val="600"/>
              </a:spcAft>
            </a:pPr>
            <a:r>
              <a:rPr lang="zh-TW" altLang="en-US" sz="2400" b="1" dirty="0">
                <a:solidFill>
                  <a:schemeClr val="accent5">
                    <a:lumMod val="50000"/>
                  </a:schemeClr>
                </a:solidFill>
                <a:latin typeface="微軟正黑體" panose="020B0604030504040204" pitchFamily="34" charset="-120"/>
                <a:ea typeface="微軟正黑體" panose="020B0604030504040204" pitchFamily="34" charset="-120"/>
              </a:rPr>
              <a:t>通訊處所在縣市</a:t>
            </a:r>
            <a:endParaRPr lang="en-US" altLang="zh-TW" sz="2400" b="1" dirty="0">
              <a:solidFill>
                <a:schemeClr val="accent5">
                  <a:lumMod val="50000"/>
                </a:schemeClr>
              </a:solidFill>
              <a:latin typeface="微軟正黑體" panose="020B0604030504040204" pitchFamily="34" charset="-120"/>
              <a:ea typeface="微軟正黑體" panose="020B0604030504040204" pitchFamily="34" charset="-120"/>
            </a:endParaRPr>
          </a:p>
          <a:p>
            <a:pPr marL="342900" indent="-342900">
              <a:spcAft>
                <a:spcPts val="600"/>
              </a:spcAft>
              <a:buFont typeface="Wingdings" panose="05000000000000000000" pitchFamily="2" charset="2"/>
              <a:buChar char="ü"/>
            </a:pPr>
            <a:r>
              <a:rPr lang="zh-TW" altLang="en-US" sz="2000" dirty="0">
                <a:solidFill>
                  <a:schemeClr val="tx1"/>
                </a:solidFill>
                <a:latin typeface="微軟正黑體" panose="020B0604030504040204" pitchFamily="34" charset="-120"/>
                <a:ea typeface="微軟正黑體" panose="020B0604030504040204" pitchFamily="34" charset="-120"/>
              </a:rPr>
              <a:t>近期發生不當行為且舞弊者，</a:t>
            </a:r>
            <a:endParaRPr lang="en-US" altLang="zh-TW" sz="2000" dirty="0">
              <a:solidFill>
                <a:schemeClr val="tx1"/>
              </a:solidFill>
              <a:latin typeface="微軟正黑體" panose="020B0604030504040204" pitchFamily="34" charset="-120"/>
              <a:ea typeface="微軟正黑體" panose="020B0604030504040204" pitchFamily="34" charset="-120"/>
            </a:endParaRPr>
          </a:p>
          <a:p>
            <a:pPr lvl="1">
              <a:spcAft>
                <a:spcPts val="600"/>
              </a:spcAft>
            </a:pPr>
            <a:r>
              <a:rPr lang="en-US" altLang="zh-TW" sz="2000" dirty="0">
                <a:solidFill>
                  <a:schemeClr val="tx1"/>
                </a:solidFill>
                <a:latin typeface="微軟正黑體" panose="020B0604030504040204" pitchFamily="34" charset="-120"/>
                <a:ea typeface="微軟正黑體" panose="020B0604030504040204" pitchFamily="34" charset="-120"/>
              </a:rPr>
              <a:t>		</a:t>
            </a:r>
            <a:r>
              <a:rPr lang="zh-TW" altLang="en-US" sz="2000" dirty="0">
                <a:solidFill>
                  <a:schemeClr val="tx1"/>
                </a:solidFill>
                <a:latin typeface="微軟正黑體" panose="020B0604030504040204" pitchFamily="34" charset="-120"/>
                <a:ea typeface="微軟正黑體" panose="020B0604030504040204" pitchFamily="34" charset="-120"/>
              </a:rPr>
              <a:t>以台北市為大宗</a:t>
            </a:r>
            <a:endParaRPr lang="en-US" altLang="zh-TW" sz="2000" dirty="0">
              <a:solidFill>
                <a:schemeClr val="tx1"/>
              </a:solidFill>
              <a:latin typeface="微軟正黑體" panose="020B0604030504040204" pitchFamily="34" charset="-120"/>
              <a:ea typeface="微軟正黑體" panose="020B0604030504040204" pitchFamily="34" charset="-120"/>
            </a:endParaRPr>
          </a:p>
          <a:p>
            <a:pPr marL="342900" indent="-342900">
              <a:spcAft>
                <a:spcPts val="600"/>
              </a:spcAft>
              <a:buFont typeface="Wingdings" panose="05000000000000000000" pitchFamily="2" charset="2"/>
              <a:buChar char="ü"/>
            </a:pPr>
            <a:r>
              <a:rPr lang="zh-TW" altLang="en-US" sz="2000" dirty="0">
                <a:solidFill>
                  <a:schemeClr val="tx1"/>
                </a:solidFill>
                <a:latin typeface="微軟正黑體" panose="020B0604030504040204" pitchFamily="34" charset="-120"/>
                <a:ea typeface="微軟正黑體" panose="020B0604030504040204" pitchFamily="34" charset="-120"/>
              </a:rPr>
              <a:t>近期</a:t>
            </a:r>
            <a:r>
              <a:rPr lang="zh-TW" altLang="en-US" sz="2000" b="1" dirty="0">
                <a:solidFill>
                  <a:srgbClr val="FF0000"/>
                </a:solidFill>
                <a:latin typeface="微軟正黑體" panose="020B0604030504040204" pitchFamily="34" charset="-120"/>
                <a:ea typeface="微軟正黑體" panose="020B0604030504040204" pitchFamily="34" charset="-120"/>
              </a:rPr>
              <a:t>未</a:t>
            </a:r>
            <a:r>
              <a:rPr lang="zh-TW" altLang="en-US" sz="2000" dirty="0">
                <a:solidFill>
                  <a:schemeClr val="tx1"/>
                </a:solidFill>
                <a:latin typeface="微軟正黑體" panose="020B0604030504040204" pitchFamily="34" charset="-120"/>
                <a:ea typeface="微軟正黑體" panose="020B0604030504040204" pitchFamily="34" charset="-120"/>
              </a:rPr>
              <a:t>發生不當行為且舞弊者，</a:t>
            </a:r>
            <a:endParaRPr lang="en-US" altLang="zh-TW" sz="2000" dirty="0">
              <a:solidFill>
                <a:schemeClr val="tx1"/>
              </a:solidFill>
              <a:latin typeface="微軟正黑體" panose="020B0604030504040204" pitchFamily="34" charset="-120"/>
              <a:ea typeface="微軟正黑體" panose="020B0604030504040204" pitchFamily="34" charset="-120"/>
            </a:endParaRPr>
          </a:p>
          <a:p>
            <a:pPr>
              <a:spcAft>
                <a:spcPts val="600"/>
              </a:spcAft>
            </a:pPr>
            <a:r>
              <a:rPr lang="en-US" altLang="zh-TW" sz="2000" dirty="0">
                <a:solidFill>
                  <a:schemeClr val="tx1"/>
                </a:solidFill>
                <a:latin typeface="微軟正黑體" panose="020B0604030504040204" pitchFamily="34" charset="-120"/>
                <a:ea typeface="微軟正黑體" panose="020B0604030504040204" pitchFamily="34" charset="-120"/>
              </a:rPr>
              <a:t>		</a:t>
            </a:r>
            <a:r>
              <a:rPr lang="zh-TW" altLang="en-US" sz="2000" dirty="0">
                <a:solidFill>
                  <a:schemeClr val="tx1"/>
                </a:solidFill>
                <a:latin typeface="微軟正黑體" panose="020B0604030504040204" pitchFamily="34" charset="-120"/>
                <a:ea typeface="微軟正黑體" panose="020B0604030504040204" pitchFamily="34" charset="-120"/>
              </a:rPr>
              <a:t>台中市比例大幅上升</a:t>
            </a:r>
            <a:endParaRPr lang="en-US" altLang="zh-TW" sz="2400" b="1" dirty="0">
              <a:solidFill>
                <a:schemeClr val="accent5">
                  <a:lumMod val="50000"/>
                </a:schemeClr>
              </a:solidFill>
              <a:latin typeface="微軟正黑體" panose="020B0604030504040204" pitchFamily="34" charset="-120"/>
              <a:ea typeface="微軟正黑體" panose="020B0604030504040204" pitchFamily="34" charset="-120"/>
            </a:endParaRPr>
          </a:p>
          <a:p>
            <a:endParaRPr lang="en-US" altLang="zh-TW" sz="2400" b="1" dirty="0">
              <a:solidFill>
                <a:schemeClr val="accent5">
                  <a:lumMod val="50000"/>
                </a:schemeClr>
              </a:solidFill>
              <a:latin typeface="微軟正黑體" panose="020B0604030504040204" pitchFamily="34" charset="-120"/>
              <a:ea typeface="微軟正黑體" panose="020B0604030504040204" pitchFamily="34" charset="-120"/>
            </a:endParaRPr>
          </a:p>
          <a:p>
            <a:endParaRPr lang="zh-TW" altLang="en-US" sz="2400" b="1" dirty="0">
              <a:solidFill>
                <a:schemeClr val="accent5">
                  <a:lumMod val="50000"/>
                </a:schemeClr>
              </a:solidFill>
              <a:latin typeface="微軟正黑體" panose="020B0604030504040204" pitchFamily="34" charset="-120"/>
              <a:ea typeface="微軟正黑體" panose="020B0604030504040204" pitchFamily="34" charset="-120"/>
            </a:endParaRPr>
          </a:p>
        </p:txBody>
      </p:sp>
      <p:sp>
        <p:nvSpPr>
          <p:cNvPr id="19" name="文字方塊 18"/>
          <p:cNvSpPr txBox="1"/>
          <p:nvPr/>
        </p:nvSpPr>
        <p:spPr>
          <a:xfrm>
            <a:off x="4581237" y="5830616"/>
            <a:ext cx="1109429" cy="307777"/>
          </a:xfrm>
          <a:prstGeom prst="rect">
            <a:avLst/>
          </a:prstGeom>
          <a:noFill/>
        </p:spPr>
        <p:txBody>
          <a:bodyPr wrap="square" rtlCol="0">
            <a:spAutoFit/>
          </a:bodyPr>
          <a:lstStyle/>
          <a:p>
            <a:pPr algn="ctr"/>
            <a:r>
              <a:rPr lang="zh-TW" altLang="en-US" dirty="0">
                <a:latin typeface="微軟正黑體" panose="020B0604030504040204" pitchFamily="34" charset="-120"/>
                <a:ea typeface="微軟正黑體" panose="020B0604030504040204" pitchFamily="34" charset="-120"/>
              </a:rPr>
              <a:t>圖十七</a:t>
            </a:r>
          </a:p>
        </p:txBody>
      </p:sp>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17635" y="1430390"/>
            <a:ext cx="5644722" cy="4494642"/>
          </a:xfrm>
          <a:prstGeom prst="rect">
            <a:avLst/>
          </a:prstGeom>
        </p:spPr>
      </p:pic>
    </p:spTree>
    <p:extLst>
      <p:ext uri="{BB962C8B-B14F-4D97-AF65-F5344CB8AC3E}">
        <p14:creationId xmlns:p14="http://schemas.microsoft.com/office/powerpoint/2010/main" val="26742633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9"/>
          <p:cNvSpPr/>
          <p:nvPr/>
        </p:nvSpPr>
        <p:spPr>
          <a:xfrm>
            <a:off x="1848142" y="329912"/>
            <a:ext cx="3194050" cy="387350"/>
          </a:xfrm>
          <a:prstGeom prst="parallelogram">
            <a:avLst>
              <a:gd name="adj" fmla="val 69898"/>
            </a:avLst>
          </a:prstGeom>
          <a:solidFill>
            <a:srgbClr val="21BFCA"/>
          </a:solidFill>
          <a:ln w="161925" cap="sq" cmpd="sng">
            <a:solidFill>
              <a:srgbClr val="1E868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191" name="Google Shape;191;p9"/>
          <p:cNvSpPr/>
          <p:nvPr/>
        </p:nvSpPr>
        <p:spPr>
          <a:xfrm>
            <a:off x="1833992" y="329256"/>
            <a:ext cx="3194050" cy="387350"/>
          </a:xfrm>
          <a:prstGeom prst="parallelogram">
            <a:avLst>
              <a:gd name="adj" fmla="val 69898"/>
            </a:avLst>
          </a:prstGeom>
          <a:solidFill>
            <a:srgbClr val="21BFCA"/>
          </a:solidFill>
          <a:ln w="161925" cap="sq" cmpd="sng">
            <a:solidFill>
              <a:srgbClr val="21BFC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192" name="Google Shape;192;p9"/>
          <p:cNvSpPr/>
          <p:nvPr/>
        </p:nvSpPr>
        <p:spPr>
          <a:xfrm>
            <a:off x="4581237" y="329912"/>
            <a:ext cx="7525038" cy="387350"/>
          </a:xfrm>
          <a:prstGeom prst="parallelogram">
            <a:avLst>
              <a:gd name="adj" fmla="val 0"/>
            </a:avLst>
          </a:prstGeom>
          <a:solidFill>
            <a:srgbClr val="21BFCA"/>
          </a:solidFill>
          <a:ln w="161925" cap="sq" cmpd="sng">
            <a:solidFill>
              <a:srgbClr val="21BFC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193" name="Google Shape;193;p9"/>
          <p:cNvSpPr/>
          <p:nvPr/>
        </p:nvSpPr>
        <p:spPr>
          <a:xfrm>
            <a:off x="2066647" y="271786"/>
            <a:ext cx="6678682" cy="523220"/>
          </a:xfrm>
          <a:prstGeom prst="rect">
            <a:avLst/>
          </a:prstGeom>
          <a:noFill/>
          <a:ln>
            <a:noFill/>
          </a:ln>
        </p:spPr>
        <p:txBody>
          <a:bodyPr spcFirstLastPara="1" wrap="square" lIns="91425" tIns="45700" rIns="91425" bIns="45700" anchor="t" anchorCtr="0">
            <a:spAutoFit/>
          </a:bodyPr>
          <a:lstStyle/>
          <a:p>
            <a:pPr lvl="0">
              <a:buSzPts val="2800"/>
            </a:pPr>
            <a:r>
              <a:rPr lang="zh-TW" altLang="en-US" sz="2800" dirty="0">
                <a:solidFill>
                  <a:srgbClr val="FFFFFF"/>
                </a:solidFill>
                <a:latin typeface="Microsoft JhengHei"/>
                <a:ea typeface="Microsoft JhengHei"/>
                <a:cs typeface="Microsoft JhengHei"/>
                <a:sym typeface="Microsoft JhengHei"/>
              </a:rPr>
              <a:t>舞弊人員特性分析 </a:t>
            </a:r>
            <a:r>
              <a:rPr lang="en-US" altLang="zh-TW" sz="2800" dirty="0">
                <a:solidFill>
                  <a:srgbClr val="FFFFFF"/>
                </a:solidFill>
                <a:latin typeface="Microsoft JhengHei"/>
                <a:ea typeface="Microsoft JhengHei"/>
                <a:cs typeface="Microsoft JhengHei"/>
                <a:sym typeface="Microsoft JhengHei"/>
              </a:rPr>
              <a:t>– </a:t>
            </a:r>
            <a:r>
              <a:rPr lang="zh-TW" altLang="en-US" sz="2800" dirty="0">
                <a:solidFill>
                  <a:srgbClr val="FFFFFF"/>
                </a:solidFill>
                <a:latin typeface="Microsoft JhengHei"/>
                <a:ea typeface="Microsoft JhengHei"/>
                <a:cs typeface="Microsoft JhengHei"/>
                <a:sym typeface="Microsoft JhengHei"/>
              </a:rPr>
              <a:t>近期發生不當行為者</a:t>
            </a:r>
          </a:p>
        </p:txBody>
      </p:sp>
      <p:cxnSp>
        <p:nvCxnSpPr>
          <p:cNvPr id="194" name="Google Shape;194;p9"/>
          <p:cNvCxnSpPr/>
          <p:nvPr/>
        </p:nvCxnSpPr>
        <p:spPr>
          <a:xfrm>
            <a:off x="157389" y="1269734"/>
            <a:ext cx="1224000" cy="0"/>
          </a:xfrm>
          <a:prstGeom prst="straightConnector1">
            <a:avLst/>
          </a:prstGeom>
          <a:noFill/>
          <a:ln w="15875" cap="rnd" cmpd="sng">
            <a:solidFill>
              <a:srgbClr val="21BFCA"/>
            </a:solidFill>
            <a:prstDash val="solid"/>
            <a:round/>
            <a:headEnd type="none" w="sm" len="sm"/>
            <a:tailEnd type="none" w="sm" len="sm"/>
          </a:ln>
        </p:spPr>
      </p:cxnSp>
      <p:graphicFrame>
        <p:nvGraphicFramePr>
          <p:cNvPr id="195" name="Google Shape;195;p9"/>
          <p:cNvGraphicFramePr/>
          <p:nvPr>
            <p:extLst>
              <p:ext uri="{D42A27DB-BD31-4B8C-83A1-F6EECF244321}">
                <p14:modId xmlns:p14="http://schemas.microsoft.com/office/powerpoint/2010/main" val="2947197055"/>
              </p:ext>
            </p:extLst>
          </p:nvPr>
        </p:nvGraphicFramePr>
        <p:xfrm>
          <a:off x="298393" y="6487160"/>
          <a:ext cx="11096375" cy="371930"/>
        </p:xfrm>
        <a:graphic>
          <a:graphicData uri="http://schemas.openxmlformats.org/drawingml/2006/table">
            <a:tbl>
              <a:tblPr firstRow="1" bandRow="1">
                <a:noFill/>
                <a:tableStyleId>{72FCF9FF-86DD-4F90-83C7-D16C962093AE}</a:tableStyleId>
              </a:tblPr>
              <a:tblGrid>
                <a:gridCol w="11096375">
                  <a:extLst>
                    <a:ext uri="{9D8B030D-6E8A-4147-A177-3AD203B41FA5}">
                      <a16:colId xmlns:a16="http://schemas.microsoft.com/office/drawing/2014/main" val="20000"/>
                    </a:ext>
                  </a:extLst>
                </a:gridCol>
              </a:tblGrid>
              <a:tr h="370850">
                <a:tc>
                  <a:txBody>
                    <a:bodyPr/>
                    <a:lstStyle/>
                    <a:p>
                      <a:pPr marL="0" marR="0" lvl="0" indent="0" algn="ctr" rtl="0">
                        <a:lnSpc>
                          <a:spcPct val="150000"/>
                        </a:lnSpc>
                        <a:spcBef>
                          <a:spcPts val="0"/>
                        </a:spcBef>
                        <a:spcAft>
                          <a:spcPts val="0"/>
                        </a:spcAft>
                        <a:buClr>
                          <a:srgbClr val="BFBFBF"/>
                        </a:buClr>
                        <a:buSzPts val="700"/>
                        <a:buFont typeface="Malgun Gothic"/>
                        <a:buNone/>
                      </a:pPr>
                      <a:r>
                        <a:rPr lang="en-US" altLang="zh-TW" sz="1400" b="0" i="0" u="none" strike="noStrike" cap="none" dirty="0">
                          <a:solidFill>
                            <a:schemeClr val="bg1"/>
                          </a:solidFill>
                          <a:latin typeface="Cambria Math" panose="02040503050406030204" pitchFamily="18" charset="0"/>
                          <a:ea typeface="Cambria Math" panose="02040503050406030204" pitchFamily="18" charset="0"/>
                          <a:cs typeface="Malgun Gothic"/>
                          <a:sym typeface="Malgun Gothic"/>
                        </a:rPr>
                        <a:t>28</a:t>
                      </a:r>
                      <a:endParaRPr sz="1400" b="0" i="0" u="none" strike="noStrike" cap="none" dirty="0">
                        <a:solidFill>
                          <a:schemeClr val="bg1"/>
                        </a:solidFill>
                        <a:latin typeface="Cambria Math" panose="02040503050406030204" pitchFamily="18" charset="0"/>
                        <a:ea typeface="Cambria Math" panose="02040503050406030204" pitchFamily="18" charset="0"/>
                        <a:cs typeface="Malgun Gothic"/>
                        <a:sym typeface="Malgun Gothic"/>
                      </a:endParaRPr>
                    </a:p>
                  </a:txBody>
                  <a:tcPr marL="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196" name="Google Shape;196;p9"/>
          <p:cNvSpPr/>
          <p:nvPr/>
        </p:nvSpPr>
        <p:spPr>
          <a:xfrm>
            <a:off x="158593" y="808069"/>
            <a:ext cx="540533"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zh-TW" sz="2400" b="1" i="1" u="none" strike="noStrike" cap="none" dirty="0">
                <a:solidFill>
                  <a:srgbClr val="21BFCA"/>
                </a:solidFill>
                <a:latin typeface="Malgun Gothic"/>
                <a:ea typeface="Malgun Gothic"/>
                <a:cs typeface="Malgun Gothic"/>
                <a:sym typeface="Malgun Gothic"/>
              </a:rPr>
              <a:t>0</a:t>
            </a:r>
            <a:r>
              <a:rPr lang="en-US" altLang="zh-TW" sz="2400" b="1" i="1" dirty="0">
                <a:solidFill>
                  <a:srgbClr val="21BFCA"/>
                </a:solidFill>
                <a:latin typeface="Malgun Gothic"/>
                <a:ea typeface="Malgun Gothic"/>
                <a:cs typeface="Malgun Gothic"/>
                <a:sym typeface="Malgun Gothic"/>
              </a:rPr>
              <a:t>5</a:t>
            </a:r>
            <a:endParaRPr sz="2400" b="0" i="0" u="none" strike="noStrike" cap="none" dirty="0">
              <a:solidFill>
                <a:srgbClr val="21BFCA"/>
              </a:solidFill>
              <a:latin typeface="Malgun Gothic"/>
              <a:ea typeface="Malgun Gothic"/>
              <a:cs typeface="Malgun Gothic"/>
              <a:sym typeface="Malgun Gothic"/>
            </a:endParaRPr>
          </a:p>
        </p:txBody>
      </p:sp>
      <p:sp>
        <p:nvSpPr>
          <p:cNvPr id="2" name="文字方塊 1"/>
          <p:cNvSpPr txBox="1"/>
          <p:nvPr/>
        </p:nvSpPr>
        <p:spPr>
          <a:xfrm>
            <a:off x="1381389" y="1247890"/>
            <a:ext cx="9172311" cy="4478149"/>
          </a:xfrm>
          <a:prstGeom prst="rect">
            <a:avLst/>
          </a:prstGeom>
          <a:noFill/>
        </p:spPr>
        <p:txBody>
          <a:bodyPr wrap="square" rtlCol="0">
            <a:spAutoFit/>
          </a:bodyPr>
          <a:lstStyle/>
          <a:p>
            <a:pPr>
              <a:spcAft>
                <a:spcPts val="600"/>
              </a:spcAft>
            </a:pPr>
            <a:r>
              <a:rPr lang="zh-TW" altLang="en-US" sz="2400" b="1" dirty="0">
                <a:solidFill>
                  <a:schemeClr val="accent5">
                    <a:lumMod val="50000"/>
                  </a:schemeClr>
                </a:solidFill>
                <a:latin typeface="微軟正黑體" panose="020B0604030504040204" pitchFamily="34" charset="-120"/>
                <a:ea typeface="微軟正黑體" panose="020B0604030504040204" pitchFamily="34" charset="-120"/>
              </a:rPr>
              <a:t>生理性別</a:t>
            </a:r>
            <a:endParaRPr lang="en-US" altLang="zh-TW" sz="2400" b="1" dirty="0">
              <a:solidFill>
                <a:schemeClr val="accent5">
                  <a:lumMod val="50000"/>
                </a:schemeClr>
              </a:solidFill>
              <a:latin typeface="微軟正黑體" panose="020B0604030504040204" pitchFamily="34" charset="-120"/>
              <a:ea typeface="微軟正黑體" panose="020B0604030504040204" pitchFamily="34" charset="-120"/>
            </a:endParaRPr>
          </a:p>
          <a:p>
            <a:pPr marL="342900" indent="-342900">
              <a:buFont typeface="Wingdings" panose="05000000000000000000" pitchFamily="2" charset="2"/>
              <a:buChar char="ü"/>
            </a:pPr>
            <a:r>
              <a:rPr lang="zh-TW" altLang="en-US" sz="2000" dirty="0">
                <a:solidFill>
                  <a:schemeClr val="tx1"/>
                </a:solidFill>
                <a:latin typeface="微軟正黑體" panose="020B0604030504040204" pitchFamily="34" charset="-120"/>
                <a:ea typeface="微軟正黑體" panose="020B0604030504040204" pitchFamily="34" charset="-120"/>
              </a:rPr>
              <a:t>近期有不當行為時，發生舞弊業務員男性佔比增加</a:t>
            </a:r>
            <a:endParaRPr lang="en-US" altLang="zh-TW" sz="2000" dirty="0">
              <a:solidFill>
                <a:schemeClr val="tx1"/>
              </a:solidFill>
              <a:latin typeface="微軟正黑體" panose="020B0604030504040204" pitchFamily="34" charset="-120"/>
              <a:ea typeface="微軟正黑體" panose="020B0604030504040204" pitchFamily="34" charset="-120"/>
            </a:endParaRPr>
          </a:p>
          <a:p>
            <a:pPr marL="457200" indent="-457200">
              <a:buAutoNum type="arabicPeriod"/>
            </a:pPr>
            <a:endParaRPr lang="en-US" altLang="zh-TW" sz="2000" dirty="0">
              <a:solidFill>
                <a:schemeClr val="tx1"/>
              </a:solidFill>
              <a:latin typeface="微軟正黑體" panose="020B0604030504040204" pitchFamily="34" charset="-120"/>
              <a:ea typeface="微軟正黑體" panose="020B0604030504040204" pitchFamily="34" charset="-120"/>
            </a:endParaRPr>
          </a:p>
          <a:p>
            <a:endParaRPr lang="en-US" altLang="zh-TW" sz="2400" b="1" dirty="0">
              <a:solidFill>
                <a:schemeClr val="accent5">
                  <a:lumMod val="50000"/>
                </a:schemeClr>
              </a:solidFill>
              <a:latin typeface="微軟正黑體" panose="020B0604030504040204" pitchFamily="34" charset="-120"/>
              <a:ea typeface="微軟正黑體" panose="020B0604030504040204" pitchFamily="34" charset="-120"/>
            </a:endParaRPr>
          </a:p>
          <a:p>
            <a:endParaRPr lang="en-US" altLang="zh-TW" sz="2400" b="1" dirty="0">
              <a:solidFill>
                <a:schemeClr val="accent5">
                  <a:lumMod val="50000"/>
                </a:schemeClr>
              </a:solidFill>
              <a:latin typeface="微軟正黑體" panose="020B0604030504040204" pitchFamily="34" charset="-120"/>
              <a:ea typeface="微軟正黑體" panose="020B0604030504040204" pitchFamily="34" charset="-120"/>
            </a:endParaRPr>
          </a:p>
          <a:p>
            <a:endParaRPr lang="en-US" altLang="zh-TW" sz="2400" b="1" dirty="0">
              <a:solidFill>
                <a:schemeClr val="accent5">
                  <a:lumMod val="50000"/>
                </a:schemeClr>
              </a:solidFill>
              <a:latin typeface="微軟正黑體" panose="020B0604030504040204" pitchFamily="34" charset="-120"/>
              <a:ea typeface="微軟正黑體" panose="020B0604030504040204" pitchFamily="34" charset="-120"/>
            </a:endParaRPr>
          </a:p>
          <a:p>
            <a:endParaRPr lang="en-US" altLang="zh-TW" sz="2400" b="1" dirty="0">
              <a:solidFill>
                <a:schemeClr val="accent5">
                  <a:lumMod val="50000"/>
                </a:schemeClr>
              </a:solidFill>
              <a:latin typeface="微軟正黑體" panose="020B0604030504040204" pitchFamily="34" charset="-120"/>
              <a:ea typeface="微軟正黑體" panose="020B0604030504040204" pitchFamily="34" charset="-120"/>
            </a:endParaRPr>
          </a:p>
          <a:p>
            <a:endParaRPr lang="en-US" altLang="zh-TW" sz="2400" b="1" dirty="0">
              <a:solidFill>
                <a:schemeClr val="accent5">
                  <a:lumMod val="50000"/>
                </a:schemeClr>
              </a:solidFill>
              <a:latin typeface="微軟正黑體" panose="020B0604030504040204" pitchFamily="34" charset="-120"/>
              <a:ea typeface="微軟正黑體" panose="020B0604030504040204" pitchFamily="34" charset="-120"/>
            </a:endParaRPr>
          </a:p>
          <a:p>
            <a:endParaRPr lang="en-US" altLang="zh-TW" sz="2400" b="1" dirty="0">
              <a:solidFill>
                <a:schemeClr val="accent5">
                  <a:lumMod val="50000"/>
                </a:schemeClr>
              </a:solidFill>
              <a:latin typeface="微軟正黑體" panose="020B0604030504040204" pitchFamily="34" charset="-120"/>
              <a:ea typeface="微軟正黑體" panose="020B0604030504040204" pitchFamily="34" charset="-120"/>
            </a:endParaRPr>
          </a:p>
          <a:p>
            <a:endParaRPr lang="en-US" altLang="zh-TW" sz="2400" b="1" dirty="0">
              <a:solidFill>
                <a:schemeClr val="accent5">
                  <a:lumMod val="50000"/>
                </a:schemeClr>
              </a:solidFill>
              <a:latin typeface="微軟正黑體" panose="020B0604030504040204" pitchFamily="34" charset="-120"/>
              <a:ea typeface="微軟正黑體" panose="020B0604030504040204" pitchFamily="34" charset="-120"/>
            </a:endParaRPr>
          </a:p>
          <a:p>
            <a:endParaRPr lang="en-US" altLang="zh-TW" sz="2400" b="1" dirty="0">
              <a:solidFill>
                <a:schemeClr val="accent5">
                  <a:lumMod val="50000"/>
                </a:schemeClr>
              </a:solidFill>
              <a:latin typeface="微軟正黑體" panose="020B0604030504040204" pitchFamily="34" charset="-120"/>
              <a:ea typeface="微軟正黑體" panose="020B0604030504040204" pitchFamily="34" charset="-120"/>
            </a:endParaRPr>
          </a:p>
          <a:p>
            <a:endParaRPr lang="zh-TW" altLang="en-US" sz="2400" b="1" dirty="0">
              <a:solidFill>
                <a:schemeClr val="accent5">
                  <a:lumMod val="50000"/>
                </a:schemeClr>
              </a:solidFill>
              <a:latin typeface="微軟正黑體" panose="020B0604030504040204" pitchFamily="34" charset="-120"/>
              <a:ea typeface="微軟正黑體" panose="020B0604030504040204" pitchFamily="34" charset="-120"/>
            </a:endParaRPr>
          </a:p>
        </p:txBody>
      </p:sp>
      <p:sp>
        <p:nvSpPr>
          <p:cNvPr id="19" name="文字方塊 18"/>
          <p:cNvSpPr txBox="1"/>
          <p:nvPr/>
        </p:nvSpPr>
        <p:spPr>
          <a:xfrm>
            <a:off x="5028042" y="5948890"/>
            <a:ext cx="1109429" cy="307777"/>
          </a:xfrm>
          <a:prstGeom prst="rect">
            <a:avLst/>
          </a:prstGeom>
          <a:noFill/>
        </p:spPr>
        <p:txBody>
          <a:bodyPr wrap="square" rtlCol="0">
            <a:spAutoFit/>
          </a:bodyPr>
          <a:lstStyle/>
          <a:p>
            <a:pPr algn="ctr"/>
            <a:r>
              <a:rPr lang="zh-TW" altLang="en-US" dirty="0">
                <a:latin typeface="微軟正黑體" panose="020B0604030504040204" pitchFamily="34" charset="-120"/>
                <a:ea typeface="微軟正黑體" panose="020B0604030504040204" pitchFamily="34" charset="-120"/>
              </a:rPr>
              <a:t>圖十八</a:t>
            </a:r>
          </a:p>
        </p:txBody>
      </p:sp>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67544" y="1984300"/>
            <a:ext cx="5104716" cy="4494642"/>
          </a:xfrm>
          <a:prstGeom prst="rect">
            <a:avLst/>
          </a:prstGeom>
        </p:spPr>
      </p:pic>
    </p:spTree>
    <p:extLst>
      <p:ext uri="{BB962C8B-B14F-4D97-AF65-F5344CB8AC3E}">
        <p14:creationId xmlns:p14="http://schemas.microsoft.com/office/powerpoint/2010/main" val="1363817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9"/>
          <p:cNvSpPr/>
          <p:nvPr/>
        </p:nvSpPr>
        <p:spPr>
          <a:xfrm>
            <a:off x="1848142" y="329912"/>
            <a:ext cx="3194050" cy="387350"/>
          </a:xfrm>
          <a:prstGeom prst="parallelogram">
            <a:avLst>
              <a:gd name="adj" fmla="val 69898"/>
            </a:avLst>
          </a:prstGeom>
          <a:solidFill>
            <a:srgbClr val="21BFCA"/>
          </a:solidFill>
          <a:ln w="161925" cap="sq" cmpd="sng">
            <a:solidFill>
              <a:srgbClr val="1E868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191" name="Google Shape;191;p9"/>
          <p:cNvSpPr/>
          <p:nvPr/>
        </p:nvSpPr>
        <p:spPr>
          <a:xfrm>
            <a:off x="1833992" y="329256"/>
            <a:ext cx="3194050" cy="387350"/>
          </a:xfrm>
          <a:prstGeom prst="parallelogram">
            <a:avLst>
              <a:gd name="adj" fmla="val 69898"/>
            </a:avLst>
          </a:prstGeom>
          <a:solidFill>
            <a:srgbClr val="21BFCA"/>
          </a:solidFill>
          <a:ln w="161925" cap="sq" cmpd="sng">
            <a:solidFill>
              <a:srgbClr val="21BFC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192" name="Google Shape;192;p9"/>
          <p:cNvSpPr/>
          <p:nvPr/>
        </p:nvSpPr>
        <p:spPr>
          <a:xfrm>
            <a:off x="4581237" y="329912"/>
            <a:ext cx="7525038" cy="387350"/>
          </a:xfrm>
          <a:prstGeom prst="parallelogram">
            <a:avLst>
              <a:gd name="adj" fmla="val 0"/>
            </a:avLst>
          </a:prstGeom>
          <a:solidFill>
            <a:srgbClr val="21BFCA"/>
          </a:solidFill>
          <a:ln w="161925" cap="sq" cmpd="sng">
            <a:solidFill>
              <a:srgbClr val="21BFC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193" name="Google Shape;193;p9"/>
          <p:cNvSpPr/>
          <p:nvPr/>
        </p:nvSpPr>
        <p:spPr>
          <a:xfrm>
            <a:off x="2066647" y="271786"/>
            <a:ext cx="6678682"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zh-TW" altLang="en-US" sz="2800" dirty="0">
                <a:solidFill>
                  <a:srgbClr val="FFFFFF"/>
                </a:solidFill>
                <a:latin typeface="Microsoft JhengHei"/>
                <a:ea typeface="Microsoft JhengHei"/>
                <a:cs typeface="Microsoft JhengHei"/>
                <a:sym typeface="Microsoft JhengHei"/>
              </a:rPr>
              <a:t>總結</a:t>
            </a:r>
            <a:endParaRPr sz="2800" b="0" i="0" u="none" strike="noStrike" cap="none" dirty="0">
              <a:solidFill>
                <a:srgbClr val="FFFFFF"/>
              </a:solidFill>
              <a:latin typeface="Microsoft JhengHei"/>
              <a:ea typeface="Microsoft JhengHei"/>
              <a:cs typeface="Microsoft JhengHei"/>
              <a:sym typeface="Microsoft JhengHei"/>
            </a:endParaRPr>
          </a:p>
        </p:txBody>
      </p:sp>
      <p:cxnSp>
        <p:nvCxnSpPr>
          <p:cNvPr id="194" name="Google Shape;194;p9"/>
          <p:cNvCxnSpPr/>
          <p:nvPr/>
        </p:nvCxnSpPr>
        <p:spPr>
          <a:xfrm>
            <a:off x="157389" y="1269734"/>
            <a:ext cx="1224000" cy="0"/>
          </a:xfrm>
          <a:prstGeom prst="straightConnector1">
            <a:avLst/>
          </a:prstGeom>
          <a:noFill/>
          <a:ln w="15875" cap="rnd" cmpd="sng">
            <a:solidFill>
              <a:srgbClr val="21BFCA"/>
            </a:solidFill>
            <a:prstDash val="solid"/>
            <a:round/>
            <a:headEnd type="none" w="sm" len="sm"/>
            <a:tailEnd type="none" w="sm" len="sm"/>
          </a:ln>
        </p:spPr>
      </p:cxnSp>
      <p:graphicFrame>
        <p:nvGraphicFramePr>
          <p:cNvPr id="195" name="Google Shape;195;p9"/>
          <p:cNvGraphicFramePr/>
          <p:nvPr>
            <p:extLst>
              <p:ext uri="{D42A27DB-BD31-4B8C-83A1-F6EECF244321}">
                <p14:modId xmlns:p14="http://schemas.microsoft.com/office/powerpoint/2010/main" val="2597121692"/>
              </p:ext>
            </p:extLst>
          </p:nvPr>
        </p:nvGraphicFramePr>
        <p:xfrm>
          <a:off x="298393" y="6487160"/>
          <a:ext cx="11096375" cy="371930"/>
        </p:xfrm>
        <a:graphic>
          <a:graphicData uri="http://schemas.openxmlformats.org/drawingml/2006/table">
            <a:tbl>
              <a:tblPr firstRow="1" bandRow="1">
                <a:noFill/>
                <a:tableStyleId>{72FCF9FF-86DD-4F90-83C7-D16C962093AE}</a:tableStyleId>
              </a:tblPr>
              <a:tblGrid>
                <a:gridCol w="11096375">
                  <a:extLst>
                    <a:ext uri="{9D8B030D-6E8A-4147-A177-3AD203B41FA5}">
                      <a16:colId xmlns:a16="http://schemas.microsoft.com/office/drawing/2014/main" val="20000"/>
                    </a:ext>
                  </a:extLst>
                </a:gridCol>
              </a:tblGrid>
              <a:tr h="370850">
                <a:tc>
                  <a:txBody>
                    <a:bodyPr/>
                    <a:lstStyle/>
                    <a:p>
                      <a:pPr marL="0" marR="0" lvl="0" indent="0" algn="ctr" rtl="0">
                        <a:lnSpc>
                          <a:spcPct val="150000"/>
                        </a:lnSpc>
                        <a:spcBef>
                          <a:spcPts val="0"/>
                        </a:spcBef>
                        <a:spcAft>
                          <a:spcPts val="0"/>
                        </a:spcAft>
                        <a:buClr>
                          <a:srgbClr val="BFBFBF"/>
                        </a:buClr>
                        <a:buSzPts val="700"/>
                        <a:buFont typeface="Malgun Gothic"/>
                        <a:buNone/>
                      </a:pPr>
                      <a:r>
                        <a:rPr lang="en-US" altLang="zh-TW" sz="1400" b="0" i="0" u="none" strike="noStrike" cap="none" dirty="0">
                          <a:solidFill>
                            <a:schemeClr val="bg1"/>
                          </a:solidFill>
                          <a:latin typeface="Cambria Math" panose="02040503050406030204" pitchFamily="18" charset="0"/>
                          <a:ea typeface="Cambria Math" panose="02040503050406030204" pitchFamily="18" charset="0"/>
                          <a:cs typeface="Malgun Gothic"/>
                          <a:sym typeface="Malgun Gothic"/>
                        </a:rPr>
                        <a:t>29</a:t>
                      </a:r>
                      <a:endParaRPr sz="1400" b="0" i="0" u="none" strike="noStrike" cap="none" dirty="0">
                        <a:solidFill>
                          <a:schemeClr val="bg1"/>
                        </a:solidFill>
                        <a:latin typeface="Cambria Math" panose="02040503050406030204" pitchFamily="18" charset="0"/>
                        <a:ea typeface="Cambria Math" panose="02040503050406030204" pitchFamily="18" charset="0"/>
                        <a:cs typeface="Malgun Gothic"/>
                        <a:sym typeface="Malgun Gothic"/>
                      </a:endParaRPr>
                    </a:p>
                  </a:txBody>
                  <a:tcPr marL="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196" name="Google Shape;196;p9"/>
          <p:cNvSpPr/>
          <p:nvPr/>
        </p:nvSpPr>
        <p:spPr>
          <a:xfrm>
            <a:off x="158593" y="808069"/>
            <a:ext cx="540533"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zh-TW" sz="2400" b="1" i="1" u="none" strike="noStrike" cap="none" dirty="0">
                <a:solidFill>
                  <a:srgbClr val="21BFCA"/>
                </a:solidFill>
                <a:latin typeface="Malgun Gothic"/>
                <a:ea typeface="Malgun Gothic"/>
                <a:cs typeface="Malgun Gothic"/>
                <a:sym typeface="Malgun Gothic"/>
              </a:rPr>
              <a:t>0</a:t>
            </a:r>
            <a:r>
              <a:rPr lang="en-US" altLang="zh-TW" sz="2400" b="1" i="1" dirty="0">
                <a:solidFill>
                  <a:srgbClr val="21BFCA"/>
                </a:solidFill>
                <a:latin typeface="Malgun Gothic"/>
                <a:ea typeface="Malgun Gothic"/>
                <a:cs typeface="Malgun Gothic"/>
                <a:sym typeface="Malgun Gothic"/>
              </a:rPr>
              <a:t>6</a:t>
            </a:r>
            <a:endParaRPr sz="2400" b="0" i="0" u="none" strike="noStrike" cap="none" dirty="0">
              <a:solidFill>
                <a:srgbClr val="21BFCA"/>
              </a:solidFill>
              <a:latin typeface="Malgun Gothic"/>
              <a:ea typeface="Malgun Gothic"/>
              <a:cs typeface="Malgun Gothic"/>
              <a:sym typeface="Malgun Gothic"/>
            </a:endParaRPr>
          </a:p>
        </p:txBody>
      </p:sp>
      <p:sp>
        <p:nvSpPr>
          <p:cNvPr id="2" name="文字方塊 1"/>
          <p:cNvSpPr txBox="1"/>
          <p:nvPr/>
        </p:nvSpPr>
        <p:spPr>
          <a:xfrm>
            <a:off x="1381389" y="1247890"/>
            <a:ext cx="9172311" cy="4185761"/>
          </a:xfrm>
          <a:prstGeom prst="rect">
            <a:avLst/>
          </a:prstGeom>
          <a:noFill/>
        </p:spPr>
        <p:txBody>
          <a:bodyPr wrap="square" rtlCol="0">
            <a:spAutoFit/>
          </a:bodyPr>
          <a:lstStyle/>
          <a:p>
            <a:pPr marL="342900" indent="-342900">
              <a:spcAft>
                <a:spcPts val="1200"/>
              </a:spcAft>
              <a:buFont typeface="Wingdings" panose="05000000000000000000" pitchFamily="2" charset="2"/>
              <a:buChar char="Ø"/>
            </a:pPr>
            <a:r>
              <a:rPr lang="zh-TW" altLang="en-US" sz="2400" dirty="0">
                <a:solidFill>
                  <a:schemeClr val="tx1"/>
                </a:solidFill>
                <a:latin typeface="微軟正黑體" panose="020B0604030504040204" pitchFamily="34" charset="-120"/>
                <a:ea typeface="微軟正黑體" panose="020B0604030504040204" pitchFamily="34" charset="-120"/>
              </a:rPr>
              <a:t>使用</a:t>
            </a:r>
            <a:r>
              <a:rPr lang="en-US" altLang="zh-TW" sz="2400" dirty="0">
                <a:solidFill>
                  <a:schemeClr val="tx1"/>
                </a:solidFill>
                <a:latin typeface="微軟正黑體" panose="020B0604030504040204" pitchFamily="34" charset="-120"/>
                <a:ea typeface="微軟正黑體" panose="020B0604030504040204" pitchFamily="34" charset="-120"/>
              </a:rPr>
              <a:t>Decision Tree </a:t>
            </a:r>
            <a:r>
              <a:rPr lang="zh-TW" altLang="en-US" sz="2400" dirty="0">
                <a:solidFill>
                  <a:schemeClr val="tx1"/>
                </a:solidFill>
                <a:latin typeface="微軟正黑體" panose="020B0604030504040204" pitchFamily="34" charset="-120"/>
                <a:ea typeface="微軟正黑體" panose="020B0604030504040204" pitchFamily="34" charset="-120"/>
              </a:rPr>
              <a:t>建立舞弊風險評估模型所抓出的變數大致上都有實務上經驗可解釋之處</a:t>
            </a:r>
            <a:endParaRPr lang="en-US" altLang="zh-TW" sz="2400" dirty="0">
              <a:solidFill>
                <a:schemeClr val="tx1"/>
              </a:solidFill>
              <a:latin typeface="微軟正黑體" panose="020B0604030504040204" pitchFamily="34" charset="-120"/>
              <a:ea typeface="微軟正黑體" panose="020B0604030504040204" pitchFamily="34" charset="-120"/>
            </a:endParaRPr>
          </a:p>
          <a:p>
            <a:pPr marL="342900" indent="-342900">
              <a:spcAft>
                <a:spcPts val="1200"/>
              </a:spcAft>
              <a:buFont typeface="Wingdings" panose="05000000000000000000" pitchFamily="2" charset="2"/>
              <a:buChar char="Ø"/>
            </a:pPr>
            <a:r>
              <a:rPr lang="zh-TW" altLang="en-US" sz="2400" dirty="0">
                <a:solidFill>
                  <a:schemeClr val="tx1"/>
                </a:solidFill>
                <a:latin typeface="微軟正黑體" panose="020B0604030504040204" pitchFamily="34" charset="-120"/>
                <a:ea typeface="微軟正黑體" panose="020B0604030504040204" pitchFamily="34" charset="-120"/>
              </a:rPr>
              <a:t>近期不當行為發生時間與之後是否舞弊有很密切的關聯</a:t>
            </a:r>
            <a:endParaRPr lang="en-US" altLang="zh-TW" sz="2400" dirty="0">
              <a:solidFill>
                <a:schemeClr val="tx1"/>
              </a:solidFill>
              <a:latin typeface="微軟正黑體" panose="020B0604030504040204" pitchFamily="34" charset="-120"/>
              <a:ea typeface="微軟正黑體" panose="020B0604030504040204" pitchFamily="34" charset="-120"/>
            </a:endParaRPr>
          </a:p>
          <a:p>
            <a:pPr marL="342900" indent="-342900">
              <a:spcAft>
                <a:spcPts val="1200"/>
              </a:spcAft>
              <a:buFont typeface="Wingdings" panose="05000000000000000000" pitchFamily="2" charset="2"/>
              <a:buChar char="Ø"/>
            </a:pPr>
            <a:r>
              <a:rPr lang="zh-TW" altLang="en-US" sz="2400" dirty="0">
                <a:solidFill>
                  <a:schemeClr val="tx1"/>
                </a:solidFill>
                <a:latin typeface="微軟正黑體" panose="020B0604030504040204" pitchFamily="34" charset="-120"/>
                <a:ea typeface="微軟正黑體" panose="020B0604030504040204" pitchFamily="34" charset="-120"/>
              </a:rPr>
              <a:t>保單的失效、停效比例增加，都是偵測業務員風險的警訊</a:t>
            </a:r>
            <a:endParaRPr lang="en-US" altLang="zh-TW" sz="2400" dirty="0">
              <a:solidFill>
                <a:schemeClr val="tx1"/>
              </a:solidFill>
              <a:latin typeface="微軟正黑體" panose="020B0604030504040204" pitchFamily="34" charset="-120"/>
              <a:ea typeface="微軟正黑體" panose="020B0604030504040204" pitchFamily="34" charset="-120"/>
            </a:endParaRPr>
          </a:p>
          <a:p>
            <a:pPr marL="342900" indent="-342900">
              <a:spcAft>
                <a:spcPts val="1200"/>
              </a:spcAft>
              <a:buFont typeface="Wingdings" panose="05000000000000000000" pitchFamily="2" charset="2"/>
              <a:buChar char="Ø"/>
            </a:pPr>
            <a:r>
              <a:rPr lang="zh-TW" altLang="en-US" sz="2400" dirty="0">
                <a:solidFill>
                  <a:schemeClr val="tx1"/>
                </a:solidFill>
                <a:latin typeface="微軟正黑體" panose="020B0604030504040204" pitchFamily="34" charset="-120"/>
                <a:ea typeface="微軟正黑體" panose="020B0604030504040204" pitchFamily="34" charset="-120"/>
              </a:rPr>
              <a:t>業務員的近期業務表現不佳可能成為業務員舞弊的誘因</a:t>
            </a:r>
            <a:endParaRPr lang="en-US" altLang="zh-TW" sz="2400" dirty="0">
              <a:solidFill>
                <a:schemeClr val="tx1"/>
              </a:solidFill>
              <a:latin typeface="微軟正黑體" panose="020B0604030504040204" pitchFamily="34" charset="-120"/>
              <a:ea typeface="微軟正黑體" panose="020B0604030504040204" pitchFamily="34" charset="-120"/>
            </a:endParaRPr>
          </a:p>
          <a:p>
            <a:pPr marL="342900" indent="-342900">
              <a:spcAft>
                <a:spcPts val="1200"/>
              </a:spcAft>
              <a:buFont typeface="Wingdings" panose="05000000000000000000" pitchFamily="2" charset="2"/>
              <a:buChar char="Ø"/>
            </a:pPr>
            <a:r>
              <a:rPr lang="zh-TW" altLang="en-US" sz="2400" dirty="0">
                <a:solidFill>
                  <a:schemeClr val="tx1"/>
                </a:solidFill>
                <a:latin typeface="微軟正黑體" panose="020B0604030504040204" pitchFamily="34" charset="-120"/>
                <a:ea typeface="微軟正黑體" panose="020B0604030504040204" pitchFamily="34" charset="-120"/>
              </a:rPr>
              <a:t>業務員進行的業務類型可能為判斷舞弊風險的變數之一</a:t>
            </a:r>
            <a:endParaRPr lang="en-US" altLang="zh-TW" sz="2400" dirty="0">
              <a:solidFill>
                <a:schemeClr val="tx1"/>
              </a:solidFill>
              <a:latin typeface="微軟正黑體" panose="020B0604030504040204" pitchFamily="34" charset="-120"/>
              <a:ea typeface="微軟正黑體" panose="020B0604030504040204" pitchFamily="34" charset="-120"/>
            </a:endParaRPr>
          </a:p>
          <a:p>
            <a:endParaRPr lang="en-US" altLang="zh-TW" sz="2400" b="1" dirty="0">
              <a:solidFill>
                <a:schemeClr val="accent5">
                  <a:lumMod val="50000"/>
                </a:schemeClr>
              </a:solidFill>
              <a:latin typeface="微軟正黑體" panose="020B0604030504040204" pitchFamily="34" charset="-120"/>
              <a:ea typeface="微軟正黑體" panose="020B0604030504040204" pitchFamily="34" charset="-120"/>
            </a:endParaRPr>
          </a:p>
          <a:p>
            <a:endParaRPr lang="en-US" altLang="zh-TW" sz="2400" b="1" dirty="0">
              <a:solidFill>
                <a:schemeClr val="accent5">
                  <a:lumMod val="50000"/>
                </a:schemeClr>
              </a:solidFill>
              <a:latin typeface="微軟正黑體" panose="020B0604030504040204" pitchFamily="34" charset="-120"/>
              <a:ea typeface="微軟正黑體" panose="020B0604030504040204" pitchFamily="34" charset="-120"/>
            </a:endParaRPr>
          </a:p>
          <a:p>
            <a:endParaRPr lang="en-US" altLang="zh-TW" sz="2400" b="1" dirty="0">
              <a:solidFill>
                <a:schemeClr val="accent5">
                  <a:lumMod val="50000"/>
                </a:schemeClr>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22766463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9"/>
          <p:cNvSpPr/>
          <p:nvPr/>
        </p:nvSpPr>
        <p:spPr>
          <a:xfrm>
            <a:off x="1848142" y="329912"/>
            <a:ext cx="3194050" cy="387350"/>
          </a:xfrm>
          <a:prstGeom prst="parallelogram">
            <a:avLst>
              <a:gd name="adj" fmla="val 69898"/>
            </a:avLst>
          </a:prstGeom>
          <a:solidFill>
            <a:srgbClr val="21BFCA"/>
          </a:solidFill>
          <a:ln w="161925" cap="sq" cmpd="sng">
            <a:solidFill>
              <a:srgbClr val="1E868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191" name="Google Shape;191;p9"/>
          <p:cNvSpPr/>
          <p:nvPr/>
        </p:nvSpPr>
        <p:spPr>
          <a:xfrm>
            <a:off x="1833992" y="329256"/>
            <a:ext cx="3194050" cy="387350"/>
          </a:xfrm>
          <a:prstGeom prst="parallelogram">
            <a:avLst>
              <a:gd name="adj" fmla="val 69898"/>
            </a:avLst>
          </a:prstGeom>
          <a:solidFill>
            <a:srgbClr val="21BFCA"/>
          </a:solidFill>
          <a:ln w="161925" cap="sq" cmpd="sng">
            <a:solidFill>
              <a:srgbClr val="21BFC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sp>
        <p:nvSpPr>
          <p:cNvPr id="192" name="Google Shape;192;p9"/>
          <p:cNvSpPr/>
          <p:nvPr/>
        </p:nvSpPr>
        <p:spPr>
          <a:xfrm>
            <a:off x="4581237" y="329912"/>
            <a:ext cx="7525038" cy="387350"/>
          </a:xfrm>
          <a:prstGeom prst="parallelogram">
            <a:avLst>
              <a:gd name="adj" fmla="val 0"/>
            </a:avLst>
          </a:prstGeom>
          <a:solidFill>
            <a:srgbClr val="21BFCA"/>
          </a:solidFill>
          <a:ln w="161925" cap="sq" cmpd="sng">
            <a:solidFill>
              <a:srgbClr val="21BFC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Malgun Gothic"/>
              <a:ea typeface="Malgun Gothic"/>
              <a:cs typeface="Malgun Gothic"/>
              <a:sym typeface="Malgun Gothic"/>
            </a:endParaRPr>
          </a:p>
        </p:txBody>
      </p:sp>
      <p:graphicFrame>
        <p:nvGraphicFramePr>
          <p:cNvPr id="195" name="Google Shape;195;p9"/>
          <p:cNvGraphicFramePr/>
          <p:nvPr>
            <p:extLst>
              <p:ext uri="{D42A27DB-BD31-4B8C-83A1-F6EECF244321}">
                <p14:modId xmlns:p14="http://schemas.microsoft.com/office/powerpoint/2010/main" val="582951790"/>
              </p:ext>
            </p:extLst>
          </p:nvPr>
        </p:nvGraphicFramePr>
        <p:xfrm>
          <a:off x="298393" y="6487160"/>
          <a:ext cx="11096375" cy="371930"/>
        </p:xfrm>
        <a:graphic>
          <a:graphicData uri="http://schemas.openxmlformats.org/drawingml/2006/table">
            <a:tbl>
              <a:tblPr firstRow="1" bandRow="1">
                <a:noFill/>
                <a:tableStyleId>{72FCF9FF-86DD-4F90-83C7-D16C962093AE}</a:tableStyleId>
              </a:tblPr>
              <a:tblGrid>
                <a:gridCol w="11096375">
                  <a:extLst>
                    <a:ext uri="{9D8B030D-6E8A-4147-A177-3AD203B41FA5}">
                      <a16:colId xmlns:a16="http://schemas.microsoft.com/office/drawing/2014/main" val="20000"/>
                    </a:ext>
                  </a:extLst>
                </a:gridCol>
              </a:tblGrid>
              <a:tr h="370850">
                <a:tc>
                  <a:txBody>
                    <a:bodyPr/>
                    <a:lstStyle/>
                    <a:p>
                      <a:pPr marL="0" marR="0" lvl="0" indent="0" algn="ctr" rtl="0">
                        <a:lnSpc>
                          <a:spcPct val="150000"/>
                        </a:lnSpc>
                        <a:spcBef>
                          <a:spcPts val="0"/>
                        </a:spcBef>
                        <a:spcAft>
                          <a:spcPts val="0"/>
                        </a:spcAft>
                        <a:buClr>
                          <a:srgbClr val="BFBFBF"/>
                        </a:buClr>
                        <a:buSzPts val="700"/>
                        <a:buFont typeface="Malgun Gothic"/>
                        <a:buNone/>
                      </a:pPr>
                      <a:r>
                        <a:rPr lang="en-US" altLang="zh-TW" sz="1400" b="0" i="0" u="none" strike="noStrike" cap="none" dirty="0">
                          <a:solidFill>
                            <a:schemeClr val="bg1"/>
                          </a:solidFill>
                          <a:latin typeface="Cambria Math" panose="02040503050406030204" pitchFamily="18" charset="0"/>
                          <a:ea typeface="Cambria Math" panose="02040503050406030204" pitchFamily="18" charset="0"/>
                          <a:cs typeface="Malgun Gothic"/>
                          <a:sym typeface="Malgun Gothic"/>
                        </a:rPr>
                        <a:t>30</a:t>
                      </a:r>
                      <a:endParaRPr sz="1400" b="0" i="0" u="none" strike="noStrike" cap="none" dirty="0">
                        <a:solidFill>
                          <a:schemeClr val="bg1"/>
                        </a:solidFill>
                        <a:latin typeface="Cambria Math" panose="02040503050406030204" pitchFamily="18" charset="0"/>
                        <a:ea typeface="Cambria Math" panose="02040503050406030204" pitchFamily="18" charset="0"/>
                        <a:cs typeface="Malgun Gothic"/>
                        <a:sym typeface="Malgun Gothic"/>
                      </a:endParaRPr>
                    </a:p>
                  </a:txBody>
                  <a:tcPr marL="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 name="文字方塊 1"/>
          <p:cNvSpPr txBox="1"/>
          <p:nvPr/>
        </p:nvSpPr>
        <p:spPr>
          <a:xfrm>
            <a:off x="1635389" y="2223250"/>
            <a:ext cx="9172311" cy="1938992"/>
          </a:xfrm>
          <a:prstGeom prst="rect">
            <a:avLst/>
          </a:prstGeom>
          <a:noFill/>
        </p:spPr>
        <p:txBody>
          <a:bodyPr wrap="square" rtlCol="0">
            <a:spAutoFit/>
          </a:bodyPr>
          <a:lstStyle/>
          <a:p>
            <a:endParaRPr lang="en-US" altLang="zh-TW" sz="6000" b="1" dirty="0">
              <a:solidFill>
                <a:schemeClr val="accent5">
                  <a:lumMod val="50000"/>
                </a:schemeClr>
              </a:solidFill>
              <a:latin typeface="微軟正黑體" panose="020B0604030504040204" pitchFamily="34" charset="-120"/>
              <a:ea typeface="微軟正黑體" panose="020B0604030504040204" pitchFamily="34" charset="-120"/>
            </a:endParaRPr>
          </a:p>
          <a:p>
            <a:r>
              <a:rPr lang="zh-TW" altLang="en-US" sz="6000" b="1" dirty="0">
                <a:solidFill>
                  <a:schemeClr val="accent5">
                    <a:lumMod val="50000"/>
                  </a:schemeClr>
                </a:solidFill>
                <a:latin typeface="微軟正黑體" panose="020B0604030504040204" pitchFamily="34" charset="-120"/>
                <a:ea typeface="微軟正黑體" panose="020B0604030504040204" pitchFamily="34" charset="-120"/>
              </a:rPr>
              <a:t>感謝聆聽</a:t>
            </a:r>
          </a:p>
        </p:txBody>
      </p:sp>
    </p:spTree>
    <p:extLst>
      <p:ext uri="{BB962C8B-B14F-4D97-AF65-F5344CB8AC3E}">
        <p14:creationId xmlns:p14="http://schemas.microsoft.com/office/powerpoint/2010/main" val="13656291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2"/>
          <p:cNvSpPr/>
          <p:nvPr/>
        </p:nvSpPr>
        <p:spPr>
          <a:xfrm>
            <a:off x="1848142" y="329912"/>
            <a:ext cx="3194050" cy="387350"/>
          </a:xfrm>
          <a:prstGeom prst="parallelogram">
            <a:avLst>
              <a:gd name="adj" fmla="val 69898"/>
            </a:avLst>
          </a:prstGeom>
          <a:solidFill>
            <a:srgbClr val="21BFCA"/>
          </a:solidFill>
          <a:ln w="161925" cap="sq" cmpd="sng">
            <a:solidFill>
              <a:srgbClr val="1E868E"/>
            </a:solidFill>
            <a:prstDash val="solid"/>
            <a:round/>
            <a:headEnd type="none" w="sm" len="sm"/>
            <a:tailEnd type="none" w="sm" len="sm"/>
          </a:ln>
        </p:spPr>
        <p:txBody>
          <a:bodyPr spcFirstLastPara="1" wrap="square" lIns="91425" tIns="45700" rIns="91425" bIns="45700" anchor="ctr" anchorCtr="0">
            <a:noAutofit/>
          </a:bodyPr>
          <a:lstStyle/>
          <a:p>
            <a:pPr algn="ctr">
              <a:buClr>
                <a:srgbClr val="000000"/>
              </a:buClr>
              <a:buFont typeface="Arial"/>
              <a:buNone/>
            </a:pPr>
            <a:endParaRPr kern="0">
              <a:solidFill>
                <a:srgbClr val="FFFFFF"/>
              </a:solidFill>
              <a:latin typeface="Malgun Gothic"/>
              <a:ea typeface="Malgun Gothic"/>
              <a:cs typeface="Malgun Gothic"/>
              <a:sym typeface="Malgun Gothic"/>
            </a:endParaRPr>
          </a:p>
        </p:txBody>
      </p:sp>
      <p:sp>
        <p:nvSpPr>
          <p:cNvPr id="96" name="Google Shape;96;p2"/>
          <p:cNvSpPr/>
          <p:nvPr/>
        </p:nvSpPr>
        <p:spPr>
          <a:xfrm>
            <a:off x="1833992" y="329256"/>
            <a:ext cx="3194050" cy="387350"/>
          </a:xfrm>
          <a:prstGeom prst="parallelogram">
            <a:avLst>
              <a:gd name="adj" fmla="val 69898"/>
            </a:avLst>
          </a:prstGeom>
          <a:solidFill>
            <a:srgbClr val="21BFCA"/>
          </a:solidFill>
          <a:ln w="161925" cap="sq" cmpd="sng">
            <a:solidFill>
              <a:srgbClr val="21BFCA"/>
            </a:solidFill>
            <a:prstDash val="solid"/>
            <a:round/>
            <a:headEnd type="none" w="sm" len="sm"/>
            <a:tailEnd type="none" w="sm" len="sm"/>
          </a:ln>
        </p:spPr>
        <p:txBody>
          <a:bodyPr spcFirstLastPara="1" wrap="square" lIns="91425" tIns="45700" rIns="91425" bIns="45700" anchor="ctr" anchorCtr="0">
            <a:noAutofit/>
          </a:bodyPr>
          <a:lstStyle/>
          <a:p>
            <a:pPr algn="ctr">
              <a:buClr>
                <a:srgbClr val="000000"/>
              </a:buClr>
              <a:buFont typeface="Arial"/>
              <a:buNone/>
            </a:pPr>
            <a:endParaRPr kern="0">
              <a:solidFill>
                <a:srgbClr val="FFFFFF"/>
              </a:solidFill>
              <a:latin typeface="Malgun Gothic"/>
              <a:ea typeface="Malgun Gothic"/>
              <a:cs typeface="Malgun Gothic"/>
              <a:sym typeface="Malgun Gothic"/>
            </a:endParaRPr>
          </a:p>
        </p:txBody>
      </p:sp>
      <p:sp>
        <p:nvSpPr>
          <p:cNvPr id="97" name="Google Shape;97;p2"/>
          <p:cNvSpPr/>
          <p:nvPr/>
        </p:nvSpPr>
        <p:spPr>
          <a:xfrm>
            <a:off x="4581237" y="329912"/>
            <a:ext cx="7525038" cy="387350"/>
          </a:xfrm>
          <a:prstGeom prst="parallelogram">
            <a:avLst>
              <a:gd name="adj" fmla="val 0"/>
            </a:avLst>
          </a:prstGeom>
          <a:solidFill>
            <a:srgbClr val="21BFCA"/>
          </a:solidFill>
          <a:ln w="161925" cap="sq" cmpd="sng">
            <a:solidFill>
              <a:srgbClr val="21BFCA"/>
            </a:solidFill>
            <a:prstDash val="solid"/>
            <a:miter lim="800000"/>
            <a:headEnd type="none" w="sm" len="sm"/>
            <a:tailEnd type="none" w="sm" len="sm"/>
          </a:ln>
        </p:spPr>
        <p:txBody>
          <a:bodyPr spcFirstLastPara="1" wrap="square" lIns="91425" tIns="45700" rIns="91425" bIns="45700" anchor="ctr" anchorCtr="0">
            <a:noAutofit/>
          </a:bodyPr>
          <a:lstStyle/>
          <a:p>
            <a:pPr algn="ctr">
              <a:buClr>
                <a:srgbClr val="000000"/>
              </a:buClr>
              <a:buFont typeface="Arial"/>
              <a:buNone/>
            </a:pPr>
            <a:endParaRPr kern="0">
              <a:solidFill>
                <a:srgbClr val="FFFFFF"/>
              </a:solidFill>
              <a:latin typeface="Malgun Gothic"/>
              <a:ea typeface="Malgun Gothic"/>
              <a:cs typeface="Malgun Gothic"/>
              <a:sym typeface="Malgun Gothic"/>
            </a:endParaRPr>
          </a:p>
        </p:txBody>
      </p:sp>
      <p:graphicFrame>
        <p:nvGraphicFramePr>
          <p:cNvPr id="100" name="Google Shape;100;p2"/>
          <p:cNvGraphicFramePr/>
          <p:nvPr>
            <p:extLst/>
          </p:nvPr>
        </p:nvGraphicFramePr>
        <p:xfrm>
          <a:off x="298393" y="6487160"/>
          <a:ext cx="11096375" cy="370850"/>
        </p:xfrm>
        <a:graphic>
          <a:graphicData uri="http://schemas.openxmlformats.org/drawingml/2006/table">
            <a:tbl>
              <a:tblPr firstRow="1" bandRow="1">
                <a:noFill/>
              </a:tblPr>
              <a:tblGrid>
                <a:gridCol w="11096375">
                  <a:extLst>
                    <a:ext uri="{9D8B030D-6E8A-4147-A177-3AD203B41FA5}">
                      <a16:colId xmlns:a16="http://schemas.microsoft.com/office/drawing/2014/main" val="20000"/>
                    </a:ext>
                  </a:extLst>
                </a:gridCol>
              </a:tblGrid>
              <a:tr h="370850">
                <a:tc>
                  <a:txBody>
                    <a:bodyPr/>
                    <a:lstStyle/>
                    <a:p>
                      <a:pPr marL="0" marR="0" lvl="0" indent="0" algn="ctr" rtl="0">
                        <a:lnSpc>
                          <a:spcPct val="150000"/>
                        </a:lnSpc>
                        <a:spcBef>
                          <a:spcPts val="0"/>
                        </a:spcBef>
                        <a:spcAft>
                          <a:spcPts val="0"/>
                        </a:spcAft>
                        <a:buClr>
                          <a:srgbClr val="BFBFBF"/>
                        </a:buClr>
                        <a:buSzPts val="700"/>
                        <a:buFont typeface="Malgun Gothic"/>
                        <a:buNone/>
                      </a:pPr>
                      <a:r>
                        <a:rPr lang="zh-TW" sz="700" b="0" i="0" u="none" strike="noStrike" cap="none" dirty="0">
                          <a:solidFill>
                            <a:schemeClr val="accent1">
                              <a:lumMod val="75000"/>
                            </a:schemeClr>
                          </a:solidFill>
                          <a:latin typeface="Malgun Gothic"/>
                          <a:ea typeface="Malgun Gothic"/>
                          <a:cs typeface="Malgun Gothic"/>
                          <a:sym typeface="Malgun Gothic"/>
                        </a:rPr>
                        <a:t>Enjoy your stylish business and campus life with BIZCAM</a:t>
                      </a:r>
                      <a:endParaRPr sz="4800" b="0" i="0" u="none" strike="noStrike" cap="none" dirty="0">
                        <a:solidFill>
                          <a:schemeClr val="accent1">
                            <a:lumMod val="75000"/>
                          </a:schemeClr>
                        </a:solidFill>
                        <a:latin typeface="Malgun Gothic"/>
                        <a:ea typeface="Malgun Gothic"/>
                        <a:cs typeface="Malgun Gothic"/>
                        <a:sym typeface="Malgun Gothic"/>
                      </a:endParaRPr>
                    </a:p>
                  </a:txBody>
                  <a:tcPr marL="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75000"/>
                      </a:schemeClr>
                    </a:solidFill>
                  </a:tcPr>
                </a:tc>
                <a:extLst>
                  <a:ext uri="{0D108BD9-81ED-4DB2-BD59-A6C34878D82A}">
                    <a16:rowId xmlns:a16="http://schemas.microsoft.com/office/drawing/2014/main" val="10000"/>
                  </a:ext>
                </a:extLst>
              </a:tr>
            </a:tbl>
          </a:graphicData>
        </a:graphic>
      </p:graphicFrame>
      <p:sp>
        <p:nvSpPr>
          <p:cNvPr id="2" name="文字方塊 1"/>
          <p:cNvSpPr txBox="1"/>
          <p:nvPr/>
        </p:nvSpPr>
        <p:spPr>
          <a:xfrm>
            <a:off x="682748" y="1156447"/>
            <a:ext cx="10056970" cy="5339923"/>
          </a:xfrm>
          <a:prstGeom prst="rect">
            <a:avLst/>
          </a:prstGeom>
          <a:noFill/>
        </p:spPr>
        <p:txBody>
          <a:bodyPr wrap="square" rtlCol="0">
            <a:spAutoFit/>
          </a:bodyPr>
          <a:lstStyle/>
          <a:p>
            <a:pPr>
              <a:spcAft>
                <a:spcPts val="600"/>
              </a:spcAft>
            </a:pPr>
            <a:r>
              <a:rPr lang="zh-TW" altLang="en-US" sz="2800" b="1" dirty="0">
                <a:solidFill>
                  <a:schemeClr val="accent1">
                    <a:lumMod val="75000"/>
                  </a:schemeClr>
                </a:solidFill>
                <a:latin typeface="微軟正黑體" panose="020B0604030504040204" pitchFamily="34" charset="-120"/>
                <a:ea typeface="微軟正黑體" panose="020B0604030504040204" pitchFamily="34" charset="-120"/>
              </a:rPr>
              <a:t>小組分工</a:t>
            </a:r>
            <a:endParaRPr lang="en-US" altLang="zh-TW" sz="2800" b="1" dirty="0">
              <a:solidFill>
                <a:schemeClr val="accent1">
                  <a:lumMod val="75000"/>
                </a:schemeClr>
              </a:solidFill>
              <a:latin typeface="微軟正黑體" panose="020B0604030504040204" pitchFamily="34" charset="-120"/>
              <a:ea typeface="微軟正黑體" panose="020B0604030504040204" pitchFamily="34" charset="-120"/>
            </a:endParaRPr>
          </a:p>
          <a:p>
            <a:pPr>
              <a:spcAft>
                <a:spcPts val="600"/>
              </a:spcAft>
            </a:pPr>
            <a:r>
              <a:rPr lang="zh-TW" altLang="en-US" sz="2400" dirty="0">
                <a:latin typeface="微軟正黑體" panose="020B0604030504040204" pitchFamily="34" charset="-120"/>
                <a:ea typeface="微軟正黑體" panose="020B0604030504040204" pitchFamily="34" charset="-120"/>
              </a:rPr>
              <a:t>許哲榮：資料處理、建立及訓練模型、各變數圖表繪製</a:t>
            </a:r>
            <a:endParaRPr lang="en-US" altLang="zh-TW" sz="2400" dirty="0">
              <a:latin typeface="微軟正黑體" panose="020B0604030504040204" pitchFamily="34" charset="-120"/>
              <a:ea typeface="微軟正黑體" panose="020B0604030504040204" pitchFamily="34" charset="-120"/>
            </a:endParaRPr>
          </a:p>
          <a:p>
            <a:pPr>
              <a:spcAft>
                <a:spcPts val="600"/>
              </a:spcAft>
            </a:pPr>
            <a:r>
              <a:rPr lang="zh-TW" altLang="en-US" sz="2400" dirty="0">
                <a:latin typeface="微軟正黑體" panose="020B0604030504040204" pitchFamily="34" charset="-120"/>
                <a:ea typeface="微軟正黑體" panose="020B0604030504040204" pitchFamily="34" charset="-120"/>
              </a:rPr>
              <a:t>李宸帆：資料統整、舞弊變數分析、簡報製作</a:t>
            </a:r>
            <a:endParaRPr lang="en-US" altLang="zh-TW" sz="2400" dirty="0">
              <a:latin typeface="微軟正黑體" panose="020B0604030504040204" pitchFamily="34" charset="-120"/>
              <a:ea typeface="微軟正黑體" panose="020B0604030504040204" pitchFamily="34" charset="-120"/>
            </a:endParaRPr>
          </a:p>
          <a:p>
            <a:pPr>
              <a:spcAft>
                <a:spcPts val="600"/>
              </a:spcAft>
            </a:pPr>
            <a:r>
              <a:rPr lang="zh-TW" altLang="en-US" sz="2400" dirty="0">
                <a:latin typeface="微軟正黑體" panose="020B0604030504040204" pitchFamily="34" charset="-120"/>
                <a:ea typeface="微軟正黑體" panose="020B0604030504040204" pitchFamily="34" charset="-120"/>
              </a:rPr>
              <a:t>陸珮甄、楊永浚：繪製數值資料圖表</a:t>
            </a:r>
            <a:endParaRPr lang="en-US" altLang="zh-TW" sz="2400" dirty="0">
              <a:latin typeface="微軟正黑體" panose="020B0604030504040204" pitchFamily="34" charset="-120"/>
              <a:ea typeface="微軟正黑體" panose="020B0604030504040204" pitchFamily="34" charset="-120"/>
            </a:endParaRPr>
          </a:p>
          <a:p>
            <a:pPr>
              <a:spcAft>
                <a:spcPts val="600"/>
              </a:spcAft>
            </a:pPr>
            <a:r>
              <a:rPr lang="zh-TW" altLang="en-US" sz="2400" dirty="0">
                <a:latin typeface="微軟正黑體" panose="020B0604030504040204" pitchFamily="34" charset="-120"/>
                <a:ea typeface="微軟正黑體" panose="020B0604030504040204" pitchFamily="34" charset="-120"/>
              </a:rPr>
              <a:t>溫偉成：類別資料分析</a:t>
            </a:r>
          </a:p>
          <a:p>
            <a:endParaRPr lang="en-US" altLang="zh-TW" sz="2400" dirty="0">
              <a:latin typeface="微軟正黑體" panose="020B0604030504040204" pitchFamily="34" charset="-120"/>
              <a:ea typeface="微軟正黑體" panose="020B0604030504040204" pitchFamily="34" charset="-120"/>
            </a:endParaRPr>
          </a:p>
          <a:p>
            <a:endParaRPr lang="en-US" altLang="zh-TW" sz="2400" dirty="0">
              <a:latin typeface="微軟正黑體" panose="020B0604030504040204" pitchFamily="34" charset="-120"/>
              <a:ea typeface="微軟正黑體" panose="020B0604030504040204" pitchFamily="34" charset="-120"/>
            </a:endParaRPr>
          </a:p>
          <a:p>
            <a:endParaRPr lang="en-US" altLang="zh-TW" sz="2400" dirty="0">
              <a:latin typeface="微軟正黑體" panose="020B0604030504040204" pitchFamily="34" charset="-120"/>
              <a:ea typeface="微軟正黑體" panose="020B0604030504040204" pitchFamily="34" charset="-120"/>
            </a:endParaRPr>
          </a:p>
          <a:p>
            <a:endParaRPr lang="en-US" altLang="zh-TW" sz="2400" dirty="0">
              <a:latin typeface="微軟正黑體" panose="020B0604030504040204" pitchFamily="34" charset="-120"/>
              <a:ea typeface="微軟正黑體" panose="020B0604030504040204" pitchFamily="34" charset="-120"/>
            </a:endParaRPr>
          </a:p>
          <a:p>
            <a:endParaRPr lang="en-US" altLang="zh-TW" sz="2400" dirty="0">
              <a:latin typeface="微軟正黑體" panose="020B0604030504040204" pitchFamily="34" charset="-120"/>
              <a:ea typeface="微軟正黑體" panose="020B0604030504040204" pitchFamily="34" charset="-120"/>
            </a:endParaRPr>
          </a:p>
          <a:p>
            <a:endParaRPr lang="en-US" altLang="zh-TW" sz="2400" dirty="0">
              <a:latin typeface="微軟正黑體" panose="020B0604030504040204" pitchFamily="34" charset="-120"/>
              <a:ea typeface="微軟正黑體" panose="020B0604030504040204" pitchFamily="34" charset="-120"/>
            </a:endParaRPr>
          </a:p>
          <a:p>
            <a:endParaRPr lang="en-US" altLang="zh-TW" sz="2400" dirty="0">
              <a:latin typeface="微軟正黑體" panose="020B0604030504040204" pitchFamily="34" charset="-120"/>
              <a:ea typeface="微軟正黑體" panose="020B0604030504040204" pitchFamily="34" charset="-120"/>
            </a:endParaRPr>
          </a:p>
          <a:p>
            <a:endParaRPr lang="zh-TW" altLang="en-US" sz="2400"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2396474586"/>
      </p:ext>
    </p:extLst>
  </p:cSld>
  <p:clrMapOvr>
    <a:masterClrMapping/>
  </p:clrMapOvr>
</p:sld>
</file>

<file path=ppt/theme/theme1.xml><?xml version="1.0" encoding="utf-8"?>
<a:theme xmlns:a="http://schemas.openxmlformats.org/drawingml/2006/main" name="18_Office 테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1147</TotalTime>
  <Words>2580</Words>
  <Application>Microsoft Office PowerPoint</Application>
  <PresentationFormat>寬螢幕</PresentationFormat>
  <Paragraphs>499</Paragraphs>
  <Slides>32</Slides>
  <Notes>32</Notes>
  <HiddenSlides>0</HiddenSlides>
  <MMClips>0</MMClips>
  <ScaleCrop>false</ScaleCrop>
  <HeadingPairs>
    <vt:vector size="6" baseType="variant">
      <vt:variant>
        <vt:lpstr>使用字型</vt:lpstr>
      </vt:variant>
      <vt:variant>
        <vt:i4>8</vt:i4>
      </vt:variant>
      <vt:variant>
        <vt:lpstr>佈景主題</vt:lpstr>
      </vt:variant>
      <vt:variant>
        <vt:i4>1</vt:i4>
      </vt:variant>
      <vt:variant>
        <vt:lpstr>投影片標題</vt:lpstr>
      </vt:variant>
      <vt:variant>
        <vt:i4>32</vt:i4>
      </vt:variant>
    </vt:vector>
  </HeadingPairs>
  <TitlesOfParts>
    <vt:vector size="41" baseType="lpstr">
      <vt:lpstr>Malgun Gothic</vt:lpstr>
      <vt:lpstr>Microsoft JhengHei</vt:lpstr>
      <vt:lpstr>Microsoft JhengHei</vt:lpstr>
      <vt:lpstr>新細明體</vt:lpstr>
      <vt:lpstr>Arial</vt:lpstr>
      <vt:lpstr>Cambria Math</vt:lpstr>
      <vt:lpstr>Times New Roman</vt:lpstr>
      <vt:lpstr>Wingdings</vt:lpstr>
      <vt:lpstr>18_Office 테마</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조현석</dc:creator>
  <cp:lastModifiedBy>哲 許</cp:lastModifiedBy>
  <cp:revision>107</cp:revision>
  <dcterms:created xsi:type="dcterms:W3CDTF">2021-04-10T04:04:18Z</dcterms:created>
  <dcterms:modified xsi:type="dcterms:W3CDTF">2021-06-21T14:09:24Z</dcterms:modified>
</cp:coreProperties>
</file>